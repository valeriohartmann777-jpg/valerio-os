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Zielbild: QuantLab wird als persönlicher, KI-gestützter Research-Arbeitsplatz innerhalb von JARVIS entworfen. Es ist kein automatischer Gelddrucker und kein garantierter Edge-Finder. Wir optimieren auf wissenschaftlich glaubwürdige Entscheidungshilfe und niedrige Bedienkomplexität.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Gegenstand ist nicht eine Backtest-UI, sondern ein Workflow für echte Forschung. Technischer Erfolg ist kein Beleg für Trading-Erfolg. JARVIS muss die Menge falscher positiver Befunde reduzieren und Ideen reproduzierbar vergleichen.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Ausgangsproblem: Friktion bei Datenbeschaffung, Spezifikation, Backtest-Framework, validem Split und Interpretation. Differenzierung: radikale Vereinfachung des Frontends bei expliziten Quality Gates im Backend. Es gibt keine objektive Garantie, dass QuantLab profitable Strategien hervorbringt.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Flow: Eingabe per Text oder Sprache; JARVIS erstellt Entwurf einer maschinenlesbaren Strategy Spec, präsentiert ausschließlich entscheidungsrelevante offene Felder; Datenerfassung und Lizenz-/Coverage-Check; deterministic baseline execution; test plan and asynchronous progress; decision report with trade-level drilldown. Die 90 Sekunden beziehen sich auf den Einstieg, nicht die Ausführung eines umfangreichen Tickdaten-Experiments.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Dashboard-Gestaltung: links Navigation; in der Mitte primäres Experiment mit Performance + Fallstricken; rechts die kritische Interpretation von JARVIS; darunter natürliche Sprache für What-if-Folgeexperimente. Keine irreführende grüne Gesamtampel ohne valide OOS-Daten. Labels und Beispieldaten sind simuliert/illustrativ.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 aus Intraday-Futures: Interpretation von Breakout, Orderzeitpunkt, Stop, Positionsgröße und Instrument ist nicht eindeutig. Solange Regeln unklar sind, muss JARVIS einzelne entscheidende Rückfragen stellen, nicht eigenmächtig günstige Regeln hinzudichten. Strategy Spec wird versioniert, validiert und deterministisch ausgeführt.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StrategySpec muss datentypisiert sein. Definition mindestens: Symbol/Contract Mapping, Kalender inklusive DST, historische Kennzeichnung, Signal- und Ausführungszeit, Ordertypen, Kommissionsmodell, Spread/Slippage, Position Management, Risikolimits, Split-Regeln, Benchmark, Seeds, Softwareversion. Execution engine darf StrategySpec nicht mutieren.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Matrix ist eine Daumenregel, keine absolute Mindestdefinition. Swing mit intraday Stops braucht eventuell auch Intraday-Daten. Bei OHLC Bars, in denen Stop und Target im selben Bar liegen, lässt sich die Reihenfolge nicht beweisen. Konservative Bounding Runs oder tiefer granulare Daten sind nötig. Quote-basierte Evaluation benötigt bid/ask und ggf. book depth. Futures Contract Mapping inklusive Roll und Anpassung; adjusted continuous price series nicht als direkte Ausführungspreise benutzen.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DataPassport-Logik: Schema validation, timezone, DST, sessions, halts, market holidays, duplicate/out-of-order records, missing ranges, impossible bars (high &lt; low, negative volume), currency, tick size, futures contract definitions, dataset license. Store content hash, timestamps and source mapping. Fail vs warn policy explicitly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Aggregatbars ist die high/low Reihenfolge unbekannt, wenn beide in derselben Periode vorkommen. Regel: Intrabar execution nicht optimistisch aus OHLC ableiten; pessimistische Annahme und upper/lower bound ggf. als Sensitivität, andernfalls granularere Daten. Separat decision time vs order time vs fill time. Kosten in Instrumentwährung und point value, min tick, tick size, Futures commissions, exchange fees und Slippage.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VectorBT ist ein geeigneter Kandidat für signalbasierte Simulation, parameter sweeps und fee/slippage assumptions. Unabhängige eventbasierte Verifikation später: LEAN oder eigene schlanke event driven Referenzengine. Kritisch: auf identischer StrategySpec muss in vergleichbaren Annahmen die Fill/Accounting-Logik auditierbar sein. Nicht mehrere Engines zu Beginn parallel aufbauen.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alle Tests sind automatisch gültig. Profit Factor, Sharpe, PBO etc. zeigen ohne ausreichend Trades oder Zeitabdeckung keine belastbare Evidenz. Der Validator muss Zweck, Voraussetzungen, Konfidenz und Grenzen pro Test speichern. Baseline mit Kosten; OOS chronological split; walk forward; block bootstrap statt naive trade reordering wenn zeitliche Abhängigkeiten bestehen; stress modeling; Deflated Sharpe / PBO bei vorhandener Trial-History, geeigneter Struktur und korrekter Methodik.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Dev/Train dürfen für Ideenentwicklung und Parameterwahl genutzt werden. Validation für Auswahl und Verbesserung; jeder Sichtkontakt mit Holdout kompromittiert seine Rolle als unberührter Test. Holdout erst nach dem Research Freeze einmalig öffnen, Ergebnis archivieren; bei neuer Optimierung einen neuen zukünftigen Holdout / Forward Zeitraum nutzen. Purged/embargoed splits ggf. bei überlappenden Label-/Tradehorizonten.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Illustration zeigt den Gedanken rolling optimization windows. Exakter Walk-Forward hängt von Datenmenge und Trade-Horizont ab. Konfigurierbare rolling/expanding windows, feste Auswahlkriterien im Training, unveränderliche Out-of-sample Blöcke, aggregation of returns/trades across folds. Overlap/leakage and transaction costs must be addressed.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Visualize net-of-cost risk-adjusted metrics across plausible parameter ranges. Robust topography means a contiguous region of adequate performance. Danger: optimizing threshold to gorgeous heatmap can also overfit. Different parameter families should be locked after research stage and formal multiple-testing considerations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Immutable experiment manifest includes spec SHA, dataset checksum, code/dependency version, all attempts including failures, parameter search space (pre/post), deterministic random seed, user edits, hypotheses, status, split IDs, cost assumptions, artifact paths, timestamps. Helps selection bias. Do not claim DSR if effective number of independent trials is unknown; record defensible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metrics include net return, annualized figures only where statistically and time-wise appropriate, max DD, DD duration, expectancy, trade count, win/loss distributions, tail loss, exposure, turnover, FX/currency. In sample vs out-of-sample explicitly differentiated. This is a UI illustration, fictional sample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trade explorer must permit drilldown including basis of signal, available observations at timestamp, route order event, cancel/reject events, estimated fill and realized price, fees, spread, slippage, stop/target triggers, price input data and ambiguous fill flags. Replay on chart with audit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assists interpretation but does not modify ground truth. It consumes immutable structured result objects and manifests. Before recommending refinement, distinguish valid hypothesis modification from holdout leakage. Any suggested changes create a new experiment ID and count toward multiple-testing adjustment. Explain confidence and dataset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Criteria are strategy-category specific, explicitly configured and reviewed, and should never be hardcoded universal thresholds e.g. Sharpe&gt;1.5 as pseudo science. Gates: validity first, sample adequacy, final OOS, realistic costs, parameter stability, risk tolerances, then research status. Human must approve any transition to paper/live.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Ideen können aus Chat, einem Flow-Guided Wizard, oder code-first spec entstehen. Need natural language to executable DSL with review gate. If user supplies code, run sandboxed with resource constraints and no secrets or network. Output canonical spec and versioned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agents do not need separate paid models in MVP. Conceptual roles implemented first as services and clearly delineated checks; only escalate to multi-agent as necessary. AI-generated trading strategies and untrusted datasets must not get network/OS privileges; Sentinel review is programmatic policy, not solely another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stack not strict dependency list. QuantLab package inside JARVIS monorepo with boundary packages: quantlab/domain, adapters/data, simulation, validation, experiments, api, ui. No frontend logic in Python research library. DuckDB Parquet data queries and SQLite for metadata; scalable to Postgres. Engine plugin boundary enables future event driven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True directional flow snake rather than vertical alignment: intent -&gt; spec -&gt; dataset -&gt; simulation -&gt; validation -&gt; report; arrows at two rows conceptual. Persist artifacts at every boundary. Every stage idempotent where possible and emits events. Use per-run DAG in future rather than complex distributed queue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selection rubric: coverage by instrument/venue/year; tick vs OHLCV, quote/trade; replay rights; pricing and licensing including redistribution; reproducibility historical corrections; corporate action handling; futures roll mapping; documentation. Do not claim one vendor serves all markets. Synthetic demo fixtures for numeric test validation only, never strategy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live trading execution in MVP, disabled features must be demonstrably absent. Generated code runs in sandbox with CPU/memory/time limits, filesystem allowlists, default-deny network, no access to env secrets. File imports may contain sensitive/confidential content and must be authorized. Audit logs redact secrets. Legal/regulatory roles depend on actual jurisdictions and distribution; start personal research tool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acceptance: R0 working main nav and typed StrategySpec data/import. R1 deterministic backtest with independent test fixture and cost model. R2 chronological OOS and 3+ robust checks for one asset class. R3 AI research assistant only after trusted quantitative core. R4 paper only; no real money. Relative schedule deliberately not fixed; performance depends on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Numerical reference fixtures independently calculated, test no lookahead, timezones, fees, fixed point value, cash accounting. MVP strategy intentionally simple to validate engine, not to claim trading edge. For first user trading strategy select market/timeframe after engine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opening range breakout investigation needs instrument and venue resolution, session calendar for NY open, expected no trades on holidays/halts, edge definition, exact signal trigger on close vs breakout tick, risk per trade, stop setting, daily max trades, what to do in pre-market, open gap, overnight. For NQ futures use actual contracts for fills, not interpolated continuous prices; verify cost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risk is building impressive dashboard before correct simulation. Select instrument/asset first. MVP should use readable import and known dataset. One canonical engine, one asset class, simple strategy, real costs and OOS; then sophistication. Multi-model debate is not evidence unless quantitative backend trust is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commit to single independently verifiable full slice before more ideation. Confirmation of target instrument/timeframe is needed to choose commercial dataset and realistic execution model; generic foundation can start already. Accept that backtesting cannot predict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verified in October 2026. The sources support specific library capabilities and financial research risk principles, not a guarantee that the proposed architecture is implemented or the strategy valid. Product design, specifications, roadmaps and illustrative KPIs are the JARVIS QuantLab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release if any numerical accounting or lookahead tests fail. Include pathologic tests: zero trades, duplicate timestamps, negative prices where unsupported, missing fills, session gap, corporate actions, on-bar signal timing. Unit tests, integration tests, deterministic golden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relational schema with FK constraints and immutability for completed experiments. StrategyVersion refers to canonical DSL JSON, DatasetSnapshot derived from canonical provider schema, Experiment records full execution configuration, RunArtifact stores hash and object storage refs, ValidationResult stores prerequisites, metrics, performance and uncertainty, ResearchDecision references evaluation and explicitly records limitation and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 API in existing FastAPI services. WebSocket events should stream progress, not raw sensitive data. API response typed, validated, return artifact refs. No export/import giant raw trade ledger over WebSocket. Separate task cancellation and idempotency token; future job queue only after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vectorbt.dev/api/portfolio/base/" TargetMode="External"/><Relationship Id="rId2" Type="http://schemas.openxmlformats.org/officeDocument/2006/relationships/hyperlink" Target="https://www.databento.tech/docs/schemas-and-data-formats/whats-a-schema" TargetMode="External"/><Relationship Id="rId3" Type="http://schemas.openxmlformats.org/officeDocument/2006/relationships/hyperlink" Target="https://www.databento.tech/docs/standards-and-conventions/symbology" TargetMode="External"/><Relationship Id="rId4" Type="http://schemas.openxmlformats.org/officeDocument/2006/relationships/hyperlink" Target="https://www.quantconnect.com/docs/v1/key-concepts/understanding-time" TargetMode="External"/><Relationship Id="rId5" Type="http://schemas.openxmlformats.org/officeDocument/2006/relationships/hyperlink" Target="https://duckdb.org/docs/current/data/parquet/overview" TargetMode="External"/><Relationship Id="rId6" Type="http://schemas.openxmlformats.org/officeDocument/2006/relationships/hyperlink" Target="https://papers.ssrn.com/sol3/papers.cfm?abstract_id=2326253" TargetMode="External"/><Relationship Id="rId7" Type="http://schemas.openxmlformats.org/officeDocument/2006/relationships/hyperlink" Target="https://doi.org/10.2139/ssrn.2460551" TargetMode="External"/><Relationship Id="rId8" Type="http://schemas.openxmlformats.org/officeDocument/2006/relationships/slideLayout" Target="../slideLayouts/slideLayout1.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0" y="777240"/>
            <a:ext cx="12191695" cy="0"/>
          </a:xfrm>
          <a:prstGeom prst="line">
            <a:avLst/>
          </a:prstGeom>
          <a:noFill/>
          <a:ln w="6350">
            <a:solidFill>
              <a:srgbClr val="14202A"/>
            </a:solidFill>
            <a:prstDash val="solid"/>
          </a:ln>
        </p:spPr>
      </p:sp>
      <p:sp>
        <p:nvSpPr>
          <p:cNvPr id="3" name="Shape 1"/>
          <p:cNvSpPr/>
          <p:nvPr/>
        </p:nvSpPr>
        <p:spPr>
          <a:xfrm>
            <a:off x="0" y="1536192"/>
            <a:ext cx="12191695" cy="0"/>
          </a:xfrm>
          <a:prstGeom prst="line">
            <a:avLst/>
          </a:prstGeom>
          <a:noFill/>
          <a:ln w="6350">
            <a:solidFill>
              <a:srgbClr val="14202A"/>
            </a:solidFill>
            <a:prstDash val="solid"/>
          </a:ln>
        </p:spPr>
      </p:sp>
      <p:sp>
        <p:nvSpPr>
          <p:cNvPr id="4" name="Shape 2"/>
          <p:cNvSpPr/>
          <p:nvPr/>
        </p:nvSpPr>
        <p:spPr>
          <a:xfrm>
            <a:off x="0" y="2295144"/>
            <a:ext cx="12191695" cy="0"/>
          </a:xfrm>
          <a:prstGeom prst="line">
            <a:avLst/>
          </a:prstGeom>
          <a:noFill/>
          <a:ln w="6350">
            <a:solidFill>
              <a:srgbClr val="14202A"/>
            </a:solidFill>
            <a:prstDash val="solid"/>
          </a:ln>
        </p:spPr>
      </p:sp>
      <p:sp>
        <p:nvSpPr>
          <p:cNvPr id="5" name="Shape 3"/>
          <p:cNvSpPr/>
          <p:nvPr/>
        </p:nvSpPr>
        <p:spPr>
          <a:xfrm>
            <a:off x="0" y="3054096"/>
            <a:ext cx="12191695" cy="0"/>
          </a:xfrm>
          <a:prstGeom prst="line">
            <a:avLst/>
          </a:prstGeom>
          <a:noFill/>
          <a:ln w="6350">
            <a:solidFill>
              <a:srgbClr val="14202A"/>
            </a:solidFill>
            <a:prstDash val="solid"/>
          </a:ln>
        </p:spPr>
      </p:sp>
      <p:sp>
        <p:nvSpPr>
          <p:cNvPr id="6" name="Shape 4"/>
          <p:cNvSpPr/>
          <p:nvPr/>
        </p:nvSpPr>
        <p:spPr>
          <a:xfrm>
            <a:off x="0" y="3813048"/>
            <a:ext cx="12191695" cy="0"/>
          </a:xfrm>
          <a:prstGeom prst="line">
            <a:avLst/>
          </a:prstGeom>
          <a:noFill/>
          <a:ln w="6350">
            <a:solidFill>
              <a:srgbClr val="14202A"/>
            </a:solidFill>
            <a:prstDash val="solid"/>
          </a:ln>
        </p:spPr>
      </p:sp>
      <p:sp>
        <p:nvSpPr>
          <p:cNvPr id="7" name="Shape 5"/>
          <p:cNvSpPr/>
          <p:nvPr/>
        </p:nvSpPr>
        <p:spPr>
          <a:xfrm>
            <a:off x="0" y="4572000"/>
            <a:ext cx="12191695" cy="0"/>
          </a:xfrm>
          <a:prstGeom prst="line">
            <a:avLst/>
          </a:prstGeom>
          <a:noFill/>
          <a:ln w="6350">
            <a:solidFill>
              <a:srgbClr val="14202A"/>
            </a:solidFill>
            <a:prstDash val="solid"/>
          </a:ln>
        </p:spPr>
      </p:sp>
      <p:sp>
        <p:nvSpPr>
          <p:cNvPr id="8" name="Shape 6"/>
          <p:cNvSpPr/>
          <p:nvPr/>
        </p:nvSpPr>
        <p:spPr>
          <a:xfrm>
            <a:off x="0" y="5330952"/>
            <a:ext cx="12191695" cy="0"/>
          </a:xfrm>
          <a:prstGeom prst="line">
            <a:avLst/>
          </a:prstGeom>
          <a:noFill/>
          <a:ln w="6350">
            <a:solidFill>
              <a:srgbClr val="14202A"/>
            </a:solidFill>
            <a:prstDash val="solid"/>
          </a:ln>
        </p:spPr>
      </p:sp>
      <p:sp>
        <p:nvSpPr>
          <p:cNvPr id="9" name="Shape 7"/>
          <p:cNvSpPr/>
          <p:nvPr/>
        </p:nvSpPr>
        <p:spPr>
          <a:xfrm>
            <a:off x="0" y="6089904"/>
            <a:ext cx="12191695" cy="0"/>
          </a:xfrm>
          <a:prstGeom prst="line">
            <a:avLst/>
          </a:prstGeom>
          <a:noFill/>
          <a:ln w="6350">
            <a:solidFill>
              <a:srgbClr val="14202A"/>
            </a:solidFill>
            <a:prstDash val="solid"/>
          </a:ln>
        </p:spPr>
      </p:sp>
      <p:sp>
        <p:nvSpPr>
          <p:cNvPr id="10" name="Shape 8"/>
          <p:cNvSpPr/>
          <p:nvPr/>
        </p:nvSpPr>
        <p:spPr>
          <a:xfrm>
            <a:off x="640080" y="0"/>
            <a:ext cx="0" cy="6858000"/>
          </a:xfrm>
          <a:prstGeom prst="line">
            <a:avLst/>
          </a:prstGeom>
          <a:noFill/>
          <a:ln w="6350">
            <a:solidFill>
              <a:srgbClr val="121F26"/>
            </a:solidFill>
            <a:prstDash val="solid"/>
          </a:ln>
        </p:spPr>
      </p:sp>
      <p:sp>
        <p:nvSpPr>
          <p:cNvPr id="11" name="Shape 9"/>
          <p:cNvSpPr/>
          <p:nvPr/>
        </p:nvSpPr>
        <p:spPr>
          <a:xfrm>
            <a:off x="1536192" y="0"/>
            <a:ext cx="0" cy="6858000"/>
          </a:xfrm>
          <a:prstGeom prst="line">
            <a:avLst/>
          </a:prstGeom>
          <a:noFill/>
          <a:ln w="6350">
            <a:solidFill>
              <a:srgbClr val="121F26"/>
            </a:solidFill>
            <a:prstDash val="solid"/>
          </a:ln>
        </p:spPr>
      </p:sp>
      <p:sp>
        <p:nvSpPr>
          <p:cNvPr id="12" name="Shape 10"/>
          <p:cNvSpPr/>
          <p:nvPr/>
        </p:nvSpPr>
        <p:spPr>
          <a:xfrm>
            <a:off x="2432304" y="0"/>
            <a:ext cx="0" cy="6858000"/>
          </a:xfrm>
          <a:prstGeom prst="line">
            <a:avLst/>
          </a:prstGeom>
          <a:noFill/>
          <a:ln w="6350">
            <a:solidFill>
              <a:srgbClr val="121F26"/>
            </a:solidFill>
            <a:prstDash val="solid"/>
          </a:ln>
        </p:spPr>
      </p:sp>
      <p:sp>
        <p:nvSpPr>
          <p:cNvPr id="13" name="Shape 11"/>
          <p:cNvSpPr/>
          <p:nvPr/>
        </p:nvSpPr>
        <p:spPr>
          <a:xfrm>
            <a:off x="3328416" y="0"/>
            <a:ext cx="0" cy="6858000"/>
          </a:xfrm>
          <a:prstGeom prst="line">
            <a:avLst/>
          </a:prstGeom>
          <a:noFill/>
          <a:ln w="6350">
            <a:solidFill>
              <a:srgbClr val="121F26"/>
            </a:solidFill>
            <a:prstDash val="solid"/>
          </a:ln>
        </p:spPr>
      </p:sp>
      <p:sp>
        <p:nvSpPr>
          <p:cNvPr id="14" name="Shape 12"/>
          <p:cNvSpPr/>
          <p:nvPr/>
        </p:nvSpPr>
        <p:spPr>
          <a:xfrm>
            <a:off x="4224528" y="0"/>
            <a:ext cx="0" cy="6858000"/>
          </a:xfrm>
          <a:prstGeom prst="line">
            <a:avLst/>
          </a:prstGeom>
          <a:noFill/>
          <a:ln w="6350">
            <a:solidFill>
              <a:srgbClr val="121F26"/>
            </a:solidFill>
            <a:prstDash val="solid"/>
          </a:ln>
        </p:spPr>
      </p:sp>
      <p:sp>
        <p:nvSpPr>
          <p:cNvPr id="15" name="Shape 13"/>
          <p:cNvSpPr/>
          <p:nvPr/>
        </p:nvSpPr>
        <p:spPr>
          <a:xfrm>
            <a:off x="5120640" y="0"/>
            <a:ext cx="0" cy="6858000"/>
          </a:xfrm>
          <a:prstGeom prst="line">
            <a:avLst/>
          </a:prstGeom>
          <a:noFill/>
          <a:ln w="6350">
            <a:solidFill>
              <a:srgbClr val="121F26"/>
            </a:solidFill>
            <a:prstDash val="solid"/>
          </a:ln>
        </p:spPr>
      </p:sp>
      <p:sp>
        <p:nvSpPr>
          <p:cNvPr id="16" name="Shape 14"/>
          <p:cNvSpPr/>
          <p:nvPr/>
        </p:nvSpPr>
        <p:spPr>
          <a:xfrm>
            <a:off x="6016752" y="0"/>
            <a:ext cx="0" cy="6858000"/>
          </a:xfrm>
          <a:prstGeom prst="line">
            <a:avLst/>
          </a:prstGeom>
          <a:noFill/>
          <a:ln w="6350">
            <a:solidFill>
              <a:srgbClr val="121F26"/>
            </a:solidFill>
            <a:prstDash val="solid"/>
          </a:ln>
        </p:spPr>
      </p:sp>
      <p:sp>
        <p:nvSpPr>
          <p:cNvPr id="17" name="Shape 15"/>
          <p:cNvSpPr/>
          <p:nvPr/>
        </p:nvSpPr>
        <p:spPr>
          <a:xfrm>
            <a:off x="6912864" y="0"/>
            <a:ext cx="0" cy="6858000"/>
          </a:xfrm>
          <a:prstGeom prst="line">
            <a:avLst/>
          </a:prstGeom>
          <a:noFill/>
          <a:ln w="6350">
            <a:solidFill>
              <a:srgbClr val="121F26"/>
            </a:solidFill>
            <a:prstDash val="solid"/>
          </a:ln>
        </p:spPr>
      </p:sp>
      <p:sp>
        <p:nvSpPr>
          <p:cNvPr id="18" name="Shape 16"/>
          <p:cNvSpPr/>
          <p:nvPr/>
        </p:nvSpPr>
        <p:spPr>
          <a:xfrm>
            <a:off x="7808976" y="0"/>
            <a:ext cx="0" cy="6858000"/>
          </a:xfrm>
          <a:prstGeom prst="line">
            <a:avLst/>
          </a:prstGeom>
          <a:noFill/>
          <a:ln w="6350">
            <a:solidFill>
              <a:srgbClr val="121F26"/>
            </a:solidFill>
            <a:prstDash val="solid"/>
          </a:ln>
        </p:spPr>
      </p:sp>
      <p:sp>
        <p:nvSpPr>
          <p:cNvPr id="19" name="Shape 17"/>
          <p:cNvSpPr/>
          <p:nvPr/>
        </p:nvSpPr>
        <p:spPr>
          <a:xfrm>
            <a:off x="8705088" y="0"/>
            <a:ext cx="0" cy="6858000"/>
          </a:xfrm>
          <a:prstGeom prst="line">
            <a:avLst/>
          </a:prstGeom>
          <a:noFill/>
          <a:ln w="6350">
            <a:solidFill>
              <a:srgbClr val="121F26"/>
            </a:solidFill>
            <a:prstDash val="solid"/>
          </a:ln>
        </p:spPr>
      </p:sp>
      <p:sp>
        <p:nvSpPr>
          <p:cNvPr id="20" name="Shape 18"/>
          <p:cNvSpPr/>
          <p:nvPr/>
        </p:nvSpPr>
        <p:spPr>
          <a:xfrm>
            <a:off x="9601200" y="0"/>
            <a:ext cx="0" cy="6858000"/>
          </a:xfrm>
          <a:prstGeom prst="line">
            <a:avLst/>
          </a:prstGeom>
          <a:noFill/>
          <a:ln w="6350">
            <a:solidFill>
              <a:srgbClr val="121F26"/>
            </a:solidFill>
            <a:prstDash val="solid"/>
          </a:ln>
        </p:spPr>
      </p:sp>
      <p:sp>
        <p:nvSpPr>
          <p:cNvPr id="21" name="Shape 19"/>
          <p:cNvSpPr/>
          <p:nvPr/>
        </p:nvSpPr>
        <p:spPr>
          <a:xfrm>
            <a:off x="10497312" y="0"/>
            <a:ext cx="0" cy="6858000"/>
          </a:xfrm>
          <a:prstGeom prst="line">
            <a:avLst/>
          </a:prstGeom>
          <a:noFill/>
          <a:ln w="6350">
            <a:solidFill>
              <a:srgbClr val="121F26"/>
            </a:solidFill>
            <a:prstDash val="solid"/>
          </a:ln>
        </p:spPr>
      </p:sp>
      <p:sp>
        <p:nvSpPr>
          <p:cNvPr id="22" name="Shape 20"/>
          <p:cNvSpPr/>
          <p:nvPr/>
        </p:nvSpPr>
        <p:spPr>
          <a:xfrm>
            <a:off x="11393424" y="0"/>
            <a:ext cx="0" cy="6858000"/>
          </a:xfrm>
          <a:prstGeom prst="line">
            <a:avLst/>
          </a:prstGeom>
          <a:noFill/>
          <a:ln w="6350">
            <a:solidFill>
              <a:srgbClr val="121F26"/>
            </a:solidFill>
            <a:prstDash val="solid"/>
          </a:ln>
        </p:spPr>
      </p:sp>
      <p:sp>
        <p:nvSpPr>
          <p:cNvPr id="23" name="Shape 21"/>
          <p:cNvSpPr/>
          <p:nvPr/>
        </p:nvSpPr>
        <p:spPr>
          <a:xfrm>
            <a:off x="6245352" y="-576072"/>
            <a:ext cx="5971032" cy="5971032"/>
          </a:xfrm>
          <a:prstGeom prst="ellipse">
            <a:avLst/>
          </a:prstGeom>
          <a:solidFill>
            <a:srgbClr val="090D12">
              <a:alpha val="0"/>
            </a:srgbClr>
          </a:solidFill>
          <a:ln w="11430">
            <a:solidFill>
              <a:srgbClr val="263442"/>
            </a:solidFill>
            <a:prstDash val="solid"/>
          </a:ln>
        </p:spPr>
      </p:sp>
      <p:sp>
        <p:nvSpPr>
          <p:cNvPr id="24" name="Shape 22"/>
          <p:cNvSpPr/>
          <p:nvPr/>
        </p:nvSpPr>
        <p:spPr>
          <a:xfrm>
            <a:off x="6638544" y="-182880"/>
            <a:ext cx="5184648" cy="5184648"/>
          </a:xfrm>
          <a:prstGeom prst="ellipse">
            <a:avLst/>
          </a:prstGeom>
          <a:solidFill>
            <a:srgbClr val="090D12">
              <a:alpha val="0"/>
            </a:srgbClr>
          </a:solidFill>
          <a:ln w="11430">
            <a:solidFill>
              <a:srgbClr val="69DDCF"/>
            </a:solidFill>
            <a:prstDash val="solid"/>
          </a:ln>
        </p:spPr>
      </p:sp>
      <p:sp>
        <p:nvSpPr>
          <p:cNvPr id="25" name="Shape 23"/>
          <p:cNvSpPr/>
          <p:nvPr/>
        </p:nvSpPr>
        <p:spPr>
          <a:xfrm>
            <a:off x="7031736" y="210312"/>
            <a:ext cx="4398264" cy="4398264"/>
          </a:xfrm>
          <a:prstGeom prst="ellipse">
            <a:avLst/>
          </a:prstGeom>
          <a:solidFill>
            <a:srgbClr val="090D12">
              <a:alpha val="0"/>
            </a:srgbClr>
          </a:solidFill>
          <a:ln w="11430">
            <a:solidFill>
              <a:srgbClr val="263442"/>
            </a:solidFill>
            <a:prstDash val="solid"/>
          </a:ln>
        </p:spPr>
      </p:sp>
      <p:sp>
        <p:nvSpPr>
          <p:cNvPr id="26" name="Shape 24"/>
          <p:cNvSpPr/>
          <p:nvPr/>
        </p:nvSpPr>
        <p:spPr>
          <a:xfrm>
            <a:off x="7424928" y="603504"/>
            <a:ext cx="3611880" cy="3611880"/>
          </a:xfrm>
          <a:prstGeom prst="ellipse">
            <a:avLst/>
          </a:prstGeom>
          <a:solidFill>
            <a:srgbClr val="090D12">
              <a:alpha val="0"/>
            </a:srgbClr>
          </a:solidFill>
          <a:ln w="11430">
            <a:solidFill>
              <a:srgbClr val="69DDCF"/>
            </a:solidFill>
            <a:prstDash val="solid"/>
          </a:ln>
        </p:spPr>
      </p:sp>
      <p:sp>
        <p:nvSpPr>
          <p:cNvPr id="27" name="Shape 25"/>
          <p:cNvSpPr/>
          <p:nvPr/>
        </p:nvSpPr>
        <p:spPr>
          <a:xfrm>
            <a:off x="7818120" y="996696"/>
            <a:ext cx="2825496" cy="2825496"/>
          </a:xfrm>
          <a:prstGeom prst="ellipse">
            <a:avLst/>
          </a:prstGeom>
          <a:solidFill>
            <a:srgbClr val="090D12">
              <a:alpha val="0"/>
            </a:srgbClr>
          </a:solidFill>
          <a:ln w="11430">
            <a:solidFill>
              <a:srgbClr val="263442"/>
            </a:solidFill>
            <a:prstDash val="solid"/>
          </a:ln>
        </p:spPr>
      </p:sp>
      <p:sp>
        <p:nvSpPr>
          <p:cNvPr id="28" name="Shape 26"/>
          <p:cNvSpPr/>
          <p:nvPr/>
        </p:nvSpPr>
        <p:spPr>
          <a:xfrm>
            <a:off x="8211312" y="1389888"/>
            <a:ext cx="2039112" cy="2039112"/>
          </a:xfrm>
          <a:prstGeom prst="ellipse">
            <a:avLst/>
          </a:prstGeom>
          <a:solidFill>
            <a:srgbClr val="090D12">
              <a:alpha val="0"/>
            </a:srgbClr>
          </a:solidFill>
          <a:ln w="19050">
            <a:solidFill>
              <a:srgbClr val="69DDCF"/>
            </a:solidFill>
            <a:prstDash val="solid"/>
          </a:ln>
        </p:spPr>
      </p:sp>
      <p:sp>
        <p:nvSpPr>
          <p:cNvPr id="29" name="Shape 27"/>
          <p:cNvSpPr/>
          <p:nvPr/>
        </p:nvSpPr>
        <p:spPr>
          <a:xfrm>
            <a:off x="8650224" y="1847088"/>
            <a:ext cx="1170432" cy="1170432"/>
          </a:xfrm>
          <a:prstGeom prst="ellipse">
            <a:avLst/>
          </a:prstGeom>
          <a:solidFill>
            <a:srgbClr val="090D12">
              <a:alpha val="0"/>
            </a:srgbClr>
          </a:solidFill>
          <a:ln w="25400">
            <a:solidFill>
              <a:srgbClr val="69DDCF"/>
            </a:solidFill>
            <a:prstDash val="solid"/>
          </a:ln>
        </p:spPr>
      </p:sp>
      <p:sp>
        <p:nvSpPr>
          <p:cNvPr id="30" name="Shape 28"/>
          <p:cNvSpPr/>
          <p:nvPr/>
        </p:nvSpPr>
        <p:spPr>
          <a:xfrm>
            <a:off x="8988552" y="2194560"/>
            <a:ext cx="493776" cy="493776"/>
          </a:xfrm>
          <a:prstGeom prst="ellipse">
            <a:avLst/>
          </a:prstGeom>
          <a:solidFill>
            <a:srgbClr val="69DDCF"/>
          </a:solidFill>
          <a:ln w="12700">
            <a:solidFill>
              <a:srgbClr val="69DDCF">
                <a:alpha val="0"/>
              </a:srgbClr>
            </a:solidFill>
            <a:prstDash val="solid"/>
          </a:ln>
        </p:spPr>
      </p:sp>
      <p:sp>
        <p:nvSpPr>
          <p:cNvPr id="31" name="Shape 29"/>
          <p:cNvSpPr/>
          <p:nvPr/>
        </p:nvSpPr>
        <p:spPr>
          <a:xfrm>
            <a:off x="9125712" y="2331720"/>
            <a:ext cx="219456" cy="219456"/>
          </a:xfrm>
          <a:prstGeom prst="ellipse">
            <a:avLst/>
          </a:prstGeom>
          <a:solidFill>
            <a:srgbClr val="EDF5F7"/>
          </a:solidFill>
          <a:ln w="12700">
            <a:solidFill>
              <a:srgbClr val="EDF5F7">
                <a:alpha val="0"/>
              </a:srgbClr>
            </a:solidFill>
            <a:prstDash val="solid"/>
          </a:ln>
        </p:spPr>
      </p:sp>
      <p:sp>
        <p:nvSpPr>
          <p:cNvPr id="32" name="Shape 30"/>
          <p:cNvSpPr/>
          <p:nvPr/>
        </p:nvSpPr>
        <p:spPr>
          <a:xfrm>
            <a:off x="640080" y="1033272"/>
            <a:ext cx="2331720" cy="265176"/>
          </a:xfrm>
          <a:prstGeom prst="roundRect">
            <a:avLst>
              <a:gd name="adj" fmla="val 27586"/>
            </a:avLst>
          </a:prstGeom>
          <a:solidFill>
            <a:srgbClr val="16212C"/>
          </a:solidFill>
          <a:ln w="6985">
            <a:solidFill>
              <a:srgbClr val="263442"/>
            </a:solidFill>
            <a:prstDash val="solid"/>
          </a:ln>
        </p:spPr>
      </p:sp>
      <p:sp>
        <p:nvSpPr>
          <p:cNvPr id="33" name="Text 31"/>
          <p:cNvSpPr/>
          <p:nvPr/>
        </p:nvSpPr>
        <p:spPr>
          <a:xfrm>
            <a:off x="722376" y="1060704"/>
            <a:ext cx="2167128" cy="173736"/>
          </a:xfrm>
          <a:prstGeom prst="rect">
            <a:avLst/>
          </a:prstGeom>
          <a:noFill/>
          <a:ln/>
        </p:spPr>
        <p:txBody>
          <a:bodyPr wrap="square" lIns="0" tIns="0" rIns="0" bIns="0" rtlCol="0" anchor="ctr">
            <a:normAutofit/>
          </a:bodyPr>
          <a:lstStyle/>
          <a:p>
            <a:pPr indent="0" marL="0">
              <a:buNone/>
            </a:pPr>
            <a:r>
              <a:rPr lang="en-US" sz="800" b="1" spc="110" kern="0" dirty="0">
                <a:solidFill>
                  <a:srgbClr val="69DDCF"/>
                </a:solidFill>
                <a:latin typeface="Inter" pitchFamily="34" charset="0"/>
                <a:ea typeface="Inter" pitchFamily="34" charset="-122"/>
                <a:cs typeface="Inter" pitchFamily="34" charset="-120"/>
              </a:rPr>
              <a:t>STRATEGY RESEARCH ENGINE</a:t>
            </a:r>
            <a:endParaRPr lang="en-US" sz="800" dirty="0"/>
          </a:p>
        </p:txBody>
      </p:sp>
      <p:sp>
        <p:nvSpPr>
          <p:cNvPr id="34" name="Text 32"/>
          <p:cNvSpPr/>
          <p:nvPr/>
        </p:nvSpPr>
        <p:spPr>
          <a:xfrm>
            <a:off x="640080" y="1901952"/>
            <a:ext cx="6400800" cy="713232"/>
          </a:xfrm>
          <a:prstGeom prst="rect">
            <a:avLst/>
          </a:prstGeom>
          <a:noFill/>
          <a:ln/>
        </p:spPr>
        <p:txBody>
          <a:bodyPr wrap="square" lIns="0" tIns="0" rIns="0" bIns="0" rtlCol="0" anchor="ctr">
            <a:normAutofit/>
          </a:bodyPr>
          <a:lstStyle/>
          <a:p>
            <a:pPr indent="0" marL="0">
              <a:buNone/>
            </a:pPr>
            <a:r>
              <a:rPr lang="en-US" sz="5000" b="1" spc="300" kern="0" dirty="0">
                <a:solidFill>
                  <a:srgbClr val="EDF5F7"/>
                </a:solidFill>
                <a:latin typeface="Inter Display" pitchFamily="34" charset="0"/>
                <a:ea typeface="Inter Display" pitchFamily="34" charset="-122"/>
                <a:cs typeface="Inter Display" pitchFamily="34" charset="-120"/>
              </a:rPr>
              <a:t>JARVIS</a:t>
            </a:r>
            <a:endParaRPr lang="en-US" sz="5000" dirty="0"/>
          </a:p>
        </p:txBody>
      </p:sp>
      <p:sp>
        <p:nvSpPr>
          <p:cNvPr id="35" name="Text 33"/>
          <p:cNvSpPr/>
          <p:nvPr/>
        </p:nvSpPr>
        <p:spPr>
          <a:xfrm>
            <a:off x="630936" y="2615184"/>
            <a:ext cx="7589520" cy="813816"/>
          </a:xfrm>
          <a:prstGeom prst="rect">
            <a:avLst/>
          </a:prstGeom>
          <a:noFill/>
          <a:ln/>
        </p:spPr>
        <p:txBody>
          <a:bodyPr wrap="square" lIns="0" tIns="0" rIns="0" bIns="0" rtlCol="0" anchor="ctr">
            <a:normAutofit/>
          </a:bodyPr>
          <a:lstStyle/>
          <a:p>
            <a:pPr indent="0" marL="0">
              <a:buNone/>
            </a:pPr>
            <a:r>
              <a:rPr lang="en-US" sz="5700" b="1" spc="110" kern="0" dirty="0">
                <a:solidFill>
                  <a:srgbClr val="69DDCF"/>
                </a:solidFill>
                <a:latin typeface="Inter Display" pitchFamily="34" charset="0"/>
                <a:ea typeface="Inter Display" pitchFamily="34" charset="-122"/>
                <a:cs typeface="Inter Display" pitchFamily="34" charset="-120"/>
              </a:rPr>
              <a:t>QUANTLAB</a:t>
            </a:r>
            <a:endParaRPr lang="en-US" sz="5700" dirty="0"/>
          </a:p>
        </p:txBody>
      </p:sp>
      <p:sp>
        <p:nvSpPr>
          <p:cNvPr id="36" name="Text 34"/>
          <p:cNvSpPr/>
          <p:nvPr/>
        </p:nvSpPr>
        <p:spPr>
          <a:xfrm>
            <a:off x="685800" y="3803904"/>
            <a:ext cx="6766560" cy="475488"/>
          </a:xfrm>
          <a:prstGeom prst="rect">
            <a:avLst/>
          </a:prstGeom>
          <a:noFill/>
          <a:ln/>
        </p:spPr>
        <p:txBody>
          <a:bodyPr wrap="square" lIns="0" tIns="0" rIns="0" bIns="0" rtlCol="0" anchor="ctr">
            <a:normAutofit/>
          </a:bodyPr>
          <a:lstStyle/>
          <a:p>
            <a:pPr indent="0" marL="0">
              <a:buNone/>
            </a:pPr>
            <a:r>
              <a:rPr lang="en-US" sz="2100" dirty="0">
                <a:solidFill>
                  <a:srgbClr val="EDF5F7"/>
                </a:solidFill>
                <a:latin typeface="Inter" pitchFamily="34" charset="0"/>
                <a:ea typeface="Inter" pitchFamily="34" charset="-122"/>
                <a:cs typeface="Inter" pitchFamily="34" charset="-120"/>
              </a:rPr>
              <a:t>Vom Trading-Gedanken zum überprüften Edge.</a:t>
            </a:r>
            <a:endParaRPr lang="en-US" sz="2100" dirty="0"/>
          </a:p>
        </p:txBody>
      </p:sp>
      <p:sp>
        <p:nvSpPr>
          <p:cNvPr id="37" name="Text 35"/>
          <p:cNvSpPr/>
          <p:nvPr/>
        </p:nvSpPr>
        <p:spPr>
          <a:xfrm>
            <a:off x="685800" y="4471416"/>
            <a:ext cx="7086600" cy="585216"/>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Produktvision · Research-Architektur · UX-Design · Validierung · MVP-Roadmap</a:t>
            </a:r>
            <a:endParaRPr lang="en-US" sz="1200" dirty="0"/>
          </a:p>
        </p:txBody>
      </p:sp>
      <p:sp>
        <p:nvSpPr>
          <p:cNvPr id="38" name="Shape 36"/>
          <p:cNvSpPr/>
          <p:nvPr/>
        </p:nvSpPr>
        <p:spPr>
          <a:xfrm>
            <a:off x="685800" y="5824728"/>
            <a:ext cx="10744200" cy="0"/>
          </a:xfrm>
          <a:prstGeom prst="line">
            <a:avLst/>
          </a:prstGeom>
          <a:noFill/>
          <a:ln w="10160">
            <a:solidFill>
              <a:srgbClr val="263442"/>
            </a:solidFill>
            <a:prstDash val="solid"/>
          </a:ln>
        </p:spPr>
      </p:sp>
      <p:sp>
        <p:nvSpPr>
          <p:cNvPr id="39" name="Text 37"/>
          <p:cNvSpPr/>
          <p:nvPr/>
        </p:nvSpPr>
        <p:spPr>
          <a:xfrm>
            <a:off x="685800" y="5998464"/>
            <a:ext cx="4572000" cy="182880"/>
          </a:xfrm>
          <a:prstGeom prst="rect">
            <a:avLst/>
          </a:prstGeom>
          <a:noFill/>
          <a:ln/>
        </p:spPr>
        <p:txBody>
          <a:bodyPr wrap="square" lIns="0" tIns="0" rIns="0" bIns="0" rtlCol="0" anchor="ctr">
            <a:normAutofit/>
          </a:bodyPr>
          <a:lstStyle/>
          <a:p>
            <a:pPr indent="0" marL="0">
              <a:buNone/>
            </a:pPr>
            <a:r>
              <a:rPr lang="en-US" sz="1000" b="1" spc="120" kern="0" dirty="0">
                <a:solidFill>
                  <a:srgbClr val="607584"/>
                </a:solidFill>
                <a:latin typeface="Inter" pitchFamily="34" charset="0"/>
                <a:ea typeface="Inter" pitchFamily="34" charset="-122"/>
                <a:cs typeface="Inter" pitchFamily="34" charset="-120"/>
              </a:rPr>
              <a:t>DETAILED PRODUCT BLUEPRINT</a:t>
            </a:r>
            <a:endParaRPr lang="en-US" sz="1000" dirty="0"/>
          </a:p>
        </p:txBody>
      </p:sp>
      <p:sp>
        <p:nvSpPr>
          <p:cNvPr id="40" name="Text 38"/>
          <p:cNvSpPr/>
          <p:nvPr/>
        </p:nvSpPr>
        <p:spPr>
          <a:xfrm>
            <a:off x="10149840" y="5998464"/>
            <a:ext cx="1307592" cy="182880"/>
          </a:xfrm>
          <a:prstGeom prst="rect">
            <a:avLst/>
          </a:prstGeom>
          <a:noFill/>
          <a:ln/>
        </p:spPr>
        <p:txBody>
          <a:bodyPr wrap="square" lIns="0" tIns="0" rIns="0" bIns="0" rtlCol="0" anchor="ctr">
            <a:normAutofit/>
          </a:bodyPr>
          <a:lstStyle/>
          <a:p>
            <a:pPr algn="r" indent="0" marL="0">
              <a:buNone/>
            </a:pPr>
            <a:r>
              <a:rPr lang="en-US" sz="1000" b="1" dirty="0">
                <a:solidFill>
                  <a:srgbClr val="69DDCF"/>
                </a:solidFill>
                <a:latin typeface="Inter" pitchFamily="34" charset="0"/>
                <a:ea typeface="Inter" pitchFamily="34" charset="-122"/>
                <a:cs typeface="Inter" pitchFamily="34" charset="-120"/>
              </a:rPr>
              <a:t>09 OCT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VISION</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02</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01 / NORTH STAR</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Eine Idee rein. Evidenz raus.</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Trading-Forschung soll sich wie ein Gespräch anfühlen – die rigorose Methodik läuft im Hintergrund.</a:t>
            </a:r>
            <a:endParaRPr lang="en-US" sz="1300" dirty="0"/>
          </a:p>
        </p:txBody>
      </p:sp>
      <p:sp>
        <p:nvSpPr>
          <p:cNvPr id="12" name="Shape 10"/>
          <p:cNvSpPr/>
          <p:nvPr/>
        </p:nvSpPr>
        <p:spPr>
          <a:xfrm>
            <a:off x="530352" y="2606040"/>
            <a:ext cx="3602736" cy="2103120"/>
          </a:xfrm>
          <a:prstGeom prst="roundRect">
            <a:avLst>
              <a:gd name="adj" fmla="val 6087"/>
            </a:avLst>
          </a:prstGeom>
          <a:solidFill>
            <a:srgbClr val="121A24"/>
          </a:solidFill>
          <a:ln w="8890">
            <a:solidFill>
              <a:srgbClr val="263442"/>
            </a:solidFill>
            <a:prstDash val="solid"/>
          </a:ln>
        </p:spPr>
      </p:sp>
      <p:sp>
        <p:nvSpPr>
          <p:cNvPr id="13" name="Shape 11"/>
          <p:cNvSpPr/>
          <p:nvPr/>
        </p:nvSpPr>
        <p:spPr>
          <a:xfrm>
            <a:off x="704088" y="2807208"/>
            <a:ext cx="0" cy="283464"/>
          </a:xfrm>
          <a:prstGeom prst="line">
            <a:avLst/>
          </a:prstGeom>
          <a:noFill/>
          <a:ln w="38100">
            <a:solidFill>
              <a:srgbClr val="69DDCF"/>
            </a:solidFill>
            <a:prstDash val="solid"/>
          </a:ln>
        </p:spPr>
      </p:sp>
      <p:sp>
        <p:nvSpPr>
          <p:cNvPr id="14" name="Text 12"/>
          <p:cNvSpPr/>
          <p:nvPr/>
        </p:nvSpPr>
        <p:spPr>
          <a:xfrm>
            <a:off x="868680" y="2807208"/>
            <a:ext cx="3099816" cy="32004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01  BESCHREIBEN</a:t>
            </a:r>
            <a:endParaRPr lang="en-US" sz="1500" dirty="0"/>
          </a:p>
        </p:txBody>
      </p:sp>
      <p:sp>
        <p:nvSpPr>
          <p:cNvPr id="15" name="Text 13"/>
          <p:cNvSpPr/>
          <p:nvPr/>
        </p:nvSpPr>
        <p:spPr>
          <a:xfrm>
            <a:off x="731520" y="3273552"/>
            <a:ext cx="3200400" cy="1344168"/>
          </a:xfrm>
          <a:prstGeom prst="rect">
            <a:avLst/>
          </a:prstGeom>
          <a:noFill/>
          <a:ln/>
        </p:spPr>
        <p:txBody>
          <a:bodyPr wrap="square" lIns="0" tIns="0" rIns="0" bIns="0" rtlCol="0" anchor="t">
            <a:normAutofit/>
          </a:bodyPr>
          <a:lstStyle/>
          <a:p>
            <a:pPr indent="0" marL="0">
              <a:buNone/>
            </a:pPr>
            <a:r>
              <a:rPr lang="en-US" sz="1150" dirty="0">
                <a:solidFill>
                  <a:srgbClr val="94A6B3"/>
                </a:solidFill>
                <a:latin typeface="Inter" pitchFamily="34" charset="0"/>
                <a:ea typeface="Inter" pitchFamily="34" charset="-122"/>
                <a:cs typeface="Inter" pitchFamily="34" charset="-120"/>
              </a:rPr>
              <a:t>„Teste einen Opening-Range-Breakout nach dem US-Marktstart.“</a:t>
            </a:r>
            <a:endParaRPr lang="en-US" sz="1150" dirty="0"/>
          </a:p>
        </p:txBody>
      </p:sp>
      <p:sp>
        <p:nvSpPr>
          <p:cNvPr id="16" name="Shape 14"/>
          <p:cNvSpPr/>
          <p:nvPr/>
        </p:nvSpPr>
        <p:spPr>
          <a:xfrm>
            <a:off x="4297680" y="2606040"/>
            <a:ext cx="3602736" cy="2103120"/>
          </a:xfrm>
          <a:prstGeom prst="roundRect">
            <a:avLst>
              <a:gd name="adj" fmla="val 6087"/>
            </a:avLst>
          </a:prstGeom>
          <a:solidFill>
            <a:srgbClr val="121A24"/>
          </a:solidFill>
          <a:ln w="8890">
            <a:solidFill>
              <a:srgbClr val="263442"/>
            </a:solidFill>
            <a:prstDash val="solid"/>
          </a:ln>
        </p:spPr>
      </p:sp>
      <p:sp>
        <p:nvSpPr>
          <p:cNvPr id="17" name="Shape 15"/>
          <p:cNvSpPr/>
          <p:nvPr/>
        </p:nvSpPr>
        <p:spPr>
          <a:xfrm>
            <a:off x="4471416" y="2807208"/>
            <a:ext cx="0" cy="283464"/>
          </a:xfrm>
          <a:prstGeom prst="line">
            <a:avLst/>
          </a:prstGeom>
          <a:noFill/>
          <a:ln w="38100">
            <a:solidFill>
              <a:srgbClr val="69DDCF"/>
            </a:solidFill>
            <a:prstDash val="solid"/>
          </a:ln>
        </p:spPr>
      </p:sp>
      <p:sp>
        <p:nvSpPr>
          <p:cNvPr id="18" name="Text 16"/>
          <p:cNvSpPr/>
          <p:nvPr/>
        </p:nvSpPr>
        <p:spPr>
          <a:xfrm>
            <a:off x="4636008" y="2807208"/>
            <a:ext cx="3099816" cy="32004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02  VALIDIEREN</a:t>
            </a:r>
            <a:endParaRPr lang="en-US" sz="1500" dirty="0"/>
          </a:p>
        </p:txBody>
      </p:sp>
      <p:sp>
        <p:nvSpPr>
          <p:cNvPr id="19" name="Text 17"/>
          <p:cNvSpPr/>
          <p:nvPr/>
        </p:nvSpPr>
        <p:spPr>
          <a:xfrm>
            <a:off x="4498848" y="3273552"/>
            <a:ext cx="3200400" cy="1344168"/>
          </a:xfrm>
          <a:prstGeom prst="rect">
            <a:avLst/>
          </a:prstGeom>
          <a:noFill/>
          <a:ln/>
        </p:spPr>
        <p:txBody>
          <a:bodyPr wrap="square" lIns="0" tIns="0" rIns="0" bIns="0" rtlCol="0" anchor="t">
            <a:normAutofit/>
          </a:bodyPr>
          <a:lstStyle/>
          <a:p>
            <a:pPr indent="0" marL="0">
              <a:buNone/>
            </a:pPr>
            <a:r>
              <a:rPr lang="en-US" sz="1150" dirty="0">
                <a:solidFill>
                  <a:srgbClr val="94A6B3"/>
                </a:solidFill>
                <a:latin typeface="Inter" pitchFamily="34" charset="0"/>
                <a:ea typeface="Inter" pitchFamily="34" charset="-122"/>
                <a:cs typeface="Inter" pitchFamily="34" charset="-120"/>
              </a:rPr>
              <a:t>Daten-, Ausführungs-, Robustheits- und Out-of-Sample-Tests werden orchestriert.</a:t>
            </a:r>
            <a:endParaRPr lang="en-US" sz="1150" dirty="0"/>
          </a:p>
        </p:txBody>
      </p:sp>
      <p:sp>
        <p:nvSpPr>
          <p:cNvPr id="20" name="Shape 18"/>
          <p:cNvSpPr/>
          <p:nvPr/>
        </p:nvSpPr>
        <p:spPr>
          <a:xfrm>
            <a:off x="8065008" y="2606040"/>
            <a:ext cx="3602736" cy="2103120"/>
          </a:xfrm>
          <a:prstGeom prst="roundRect">
            <a:avLst>
              <a:gd name="adj" fmla="val 6087"/>
            </a:avLst>
          </a:prstGeom>
          <a:solidFill>
            <a:srgbClr val="121A24"/>
          </a:solidFill>
          <a:ln w="8890">
            <a:solidFill>
              <a:srgbClr val="263442"/>
            </a:solidFill>
            <a:prstDash val="solid"/>
          </a:ln>
        </p:spPr>
      </p:sp>
      <p:sp>
        <p:nvSpPr>
          <p:cNvPr id="21" name="Shape 19"/>
          <p:cNvSpPr/>
          <p:nvPr/>
        </p:nvSpPr>
        <p:spPr>
          <a:xfrm>
            <a:off x="8238744" y="2807208"/>
            <a:ext cx="0" cy="283464"/>
          </a:xfrm>
          <a:prstGeom prst="line">
            <a:avLst/>
          </a:prstGeom>
          <a:noFill/>
          <a:ln w="38100">
            <a:solidFill>
              <a:srgbClr val="69DDCF"/>
            </a:solidFill>
            <a:prstDash val="solid"/>
          </a:ln>
        </p:spPr>
      </p:sp>
      <p:sp>
        <p:nvSpPr>
          <p:cNvPr id="22" name="Text 20"/>
          <p:cNvSpPr/>
          <p:nvPr/>
        </p:nvSpPr>
        <p:spPr>
          <a:xfrm>
            <a:off x="8403336" y="2807208"/>
            <a:ext cx="3099816" cy="32004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03  ENTSCHEIDEN</a:t>
            </a:r>
            <a:endParaRPr lang="en-US" sz="1500" dirty="0"/>
          </a:p>
        </p:txBody>
      </p:sp>
      <p:sp>
        <p:nvSpPr>
          <p:cNvPr id="23" name="Text 21"/>
          <p:cNvSpPr/>
          <p:nvPr/>
        </p:nvSpPr>
        <p:spPr>
          <a:xfrm>
            <a:off x="8266176" y="3273552"/>
            <a:ext cx="3200400" cy="1344168"/>
          </a:xfrm>
          <a:prstGeom prst="rect">
            <a:avLst/>
          </a:prstGeom>
          <a:noFill/>
          <a:ln/>
        </p:spPr>
        <p:txBody>
          <a:bodyPr wrap="square" lIns="0" tIns="0" rIns="0" bIns="0" rtlCol="0" anchor="t">
            <a:normAutofit/>
          </a:bodyPr>
          <a:lstStyle/>
          <a:p>
            <a:pPr indent="0" marL="0">
              <a:buNone/>
            </a:pPr>
            <a:r>
              <a:rPr lang="en-US" sz="1150" dirty="0">
                <a:solidFill>
                  <a:srgbClr val="94A6B3"/>
                </a:solidFill>
                <a:latin typeface="Inter" pitchFamily="34" charset="0"/>
                <a:ea typeface="Inter" pitchFamily="34" charset="-122"/>
                <a:cs typeface="Inter" pitchFamily="34" charset="-120"/>
              </a:rPr>
              <a:t>JARVIS zeigt Belege, Unsicherheit, Schwächen und den nächsten sinnvollen Test.</a:t>
            </a:r>
            <a:endParaRPr lang="en-US" sz="1150" dirty="0"/>
          </a:p>
        </p:txBody>
      </p:sp>
      <p:sp>
        <p:nvSpPr>
          <p:cNvPr id="24" name="Shape 22"/>
          <p:cNvSpPr/>
          <p:nvPr/>
        </p:nvSpPr>
        <p:spPr>
          <a:xfrm>
            <a:off x="530352" y="5065776"/>
            <a:ext cx="11137392" cy="749808"/>
          </a:xfrm>
          <a:prstGeom prst="roundRect">
            <a:avLst>
              <a:gd name="adj" fmla="val 17073"/>
            </a:avLst>
          </a:prstGeom>
          <a:solidFill>
            <a:srgbClr val="16212C"/>
          </a:solidFill>
          <a:ln w="8890">
            <a:solidFill>
              <a:srgbClr val="263442"/>
            </a:solidFill>
            <a:prstDash val="solid"/>
          </a:ln>
        </p:spPr>
      </p:sp>
      <p:sp>
        <p:nvSpPr>
          <p:cNvPr id="25" name="Text 23"/>
          <p:cNvSpPr/>
          <p:nvPr/>
        </p:nvSpPr>
        <p:spPr>
          <a:xfrm>
            <a:off x="749808" y="5285232"/>
            <a:ext cx="914400" cy="182880"/>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PRINZIP</a:t>
            </a:r>
            <a:endParaRPr lang="en-US" sz="1000" dirty="0"/>
          </a:p>
        </p:txBody>
      </p:sp>
      <p:sp>
        <p:nvSpPr>
          <p:cNvPr id="26" name="Text 24"/>
          <p:cNvSpPr/>
          <p:nvPr/>
        </p:nvSpPr>
        <p:spPr>
          <a:xfrm>
            <a:off x="1746504" y="5202936"/>
            <a:ext cx="9509760" cy="384048"/>
          </a:xfrm>
          <a:prstGeom prst="rect">
            <a:avLst/>
          </a:prstGeom>
          <a:noFill/>
          <a:ln/>
        </p:spPr>
        <p:txBody>
          <a:bodyPr wrap="square" lIns="0" tIns="0" rIns="0" bIns="0" rtlCol="0" anchor="ctr">
            <a:normAutofit/>
          </a:bodyPr>
          <a:lstStyle/>
          <a:p>
            <a:pPr indent="0" marL="0">
              <a:buNone/>
            </a:pPr>
            <a:r>
              <a:rPr lang="en-US" sz="1800" b="1" dirty="0">
                <a:solidFill>
                  <a:srgbClr val="EDF5F7"/>
                </a:solidFill>
                <a:latin typeface="Inter" pitchFamily="34" charset="0"/>
                <a:ea typeface="Inter" pitchFamily="34" charset="-122"/>
                <a:cs typeface="Inter" pitchFamily="34" charset="-120"/>
              </a:rPr>
              <a:t>Nicht der schönste Backtest gewinnt. Die robusteste Hypothese überlebt.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PRODUCT THESIS</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03</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02 / PROBLEM</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Der Markt hat Backtester. Was fehlt, ist ein Research-Copilot.</a:t>
            </a:r>
            <a:endParaRPr lang="en-US" sz="2900" dirty="0"/>
          </a:p>
        </p:txBody>
      </p:sp>
      <p:sp>
        <p:nvSpPr>
          <p:cNvPr id="11" name="Shape 9"/>
          <p:cNvSpPr/>
          <p:nvPr/>
        </p:nvSpPr>
        <p:spPr>
          <a:xfrm>
            <a:off x="585216" y="2615184"/>
            <a:ext cx="10972800" cy="1179576"/>
          </a:xfrm>
          <a:prstGeom prst="roundRect">
            <a:avLst>
              <a:gd name="adj" fmla="val 10853"/>
            </a:avLst>
          </a:prstGeom>
          <a:solidFill>
            <a:srgbClr val="121A24"/>
          </a:solidFill>
          <a:ln w="8890">
            <a:solidFill>
              <a:srgbClr val="263442"/>
            </a:solidFill>
            <a:prstDash val="solid"/>
          </a:ln>
        </p:spPr>
      </p:sp>
      <p:sp>
        <p:nvSpPr>
          <p:cNvPr id="12" name="Shape 10"/>
          <p:cNvSpPr/>
          <p:nvPr/>
        </p:nvSpPr>
        <p:spPr>
          <a:xfrm>
            <a:off x="786384" y="2852928"/>
            <a:ext cx="1371600" cy="265176"/>
          </a:xfrm>
          <a:prstGeom prst="roundRect">
            <a:avLst>
              <a:gd name="adj" fmla="val 27586"/>
            </a:avLst>
          </a:prstGeom>
          <a:solidFill>
            <a:srgbClr val="16212C"/>
          </a:solidFill>
          <a:ln w="6985">
            <a:solidFill>
              <a:srgbClr val="263442"/>
            </a:solidFill>
            <a:prstDash val="solid"/>
          </a:ln>
        </p:spPr>
      </p:sp>
      <p:sp>
        <p:nvSpPr>
          <p:cNvPr id="13" name="Text 11"/>
          <p:cNvSpPr/>
          <p:nvPr/>
        </p:nvSpPr>
        <p:spPr>
          <a:xfrm>
            <a:off x="868680" y="2880360"/>
            <a:ext cx="1207008" cy="173736"/>
          </a:xfrm>
          <a:prstGeom prst="rect">
            <a:avLst/>
          </a:prstGeom>
          <a:noFill/>
          <a:ln/>
        </p:spPr>
        <p:txBody>
          <a:bodyPr wrap="square" lIns="0" tIns="0" rIns="0" bIns="0" rtlCol="0" anchor="ctr">
            <a:normAutofit/>
          </a:bodyPr>
          <a:lstStyle/>
          <a:p>
            <a:pPr indent="0" marL="0">
              <a:buNone/>
            </a:pPr>
            <a:r>
              <a:rPr lang="en-US" sz="800" b="1" spc="110" kern="0" dirty="0">
                <a:solidFill>
                  <a:srgbClr val="F18E91"/>
                </a:solidFill>
                <a:latin typeface="Inter" pitchFamily="34" charset="0"/>
                <a:ea typeface="Inter" pitchFamily="34" charset="-122"/>
                <a:cs typeface="Inter" pitchFamily="34" charset="-120"/>
              </a:rPr>
              <a:t>HEUTE</a:t>
            </a:r>
            <a:endParaRPr lang="en-US" sz="800" dirty="0"/>
          </a:p>
        </p:txBody>
      </p:sp>
      <p:sp>
        <p:nvSpPr>
          <p:cNvPr id="14" name="Text 12"/>
          <p:cNvSpPr/>
          <p:nvPr/>
        </p:nvSpPr>
        <p:spPr>
          <a:xfrm>
            <a:off x="2395728" y="2871216"/>
            <a:ext cx="8668512" cy="630936"/>
          </a:xfrm>
          <a:prstGeom prst="rect">
            <a:avLst/>
          </a:prstGeom>
          <a:noFill/>
          <a:ln/>
        </p:spPr>
        <p:txBody>
          <a:bodyPr wrap="square" lIns="0" tIns="0" rIns="0" bIns="0" rtlCol="0" anchor="ctr">
            <a:normAutofit/>
          </a:bodyPr>
          <a:lstStyle/>
          <a:p>
            <a:pPr indent="0" marL="0">
              <a:buNone/>
            </a:pPr>
            <a:r>
              <a:rPr lang="en-US" sz="1600" dirty="0">
                <a:solidFill>
                  <a:srgbClr val="EDF5F7"/>
                </a:solidFill>
                <a:latin typeface="Inter" pitchFamily="34" charset="0"/>
                <a:ea typeface="Inter" pitchFamily="34" charset="-122"/>
                <a:cs typeface="Inter" pitchFamily="34" charset="-120"/>
              </a:rPr>
              <a:t>Idee → Tool auswählen → Daten beschaffen → Code schreiben → Backtest interpretieren → manuell validieren</a:t>
            </a:r>
            <a:endParaRPr lang="en-US" sz="1600" dirty="0"/>
          </a:p>
        </p:txBody>
      </p:sp>
      <p:sp>
        <p:nvSpPr>
          <p:cNvPr id="15" name="Shape 13"/>
          <p:cNvSpPr/>
          <p:nvPr/>
        </p:nvSpPr>
        <p:spPr>
          <a:xfrm>
            <a:off x="585216" y="4096512"/>
            <a:ext cx="10972800" cy="1179576"/>
          </a:xfrm>
          <a:prstGeom prst="roundRect">
            <a:avLst>
              <a:gd name="adj" fmla="val 10853"/>
            </a:avLst>
          </a:prstGeom>
          <a:solidFill>
            <a:srgbClr val="16212C"/>
          </a:solidFill>
          <a:ln w="8890">
            <a:solidFill>
              <a:srgbClr val="263442"/>
            </a:solidFill>
            <a:prstDash val="solid"/>
          </a:ln>
        </p:spPr>
      </p:sp>
      <p:sp>
        <p:nvSpPr>
          <p:cNvPr id="16" name="Shape 14"/>
          <p:cNvSpPr/>
          <p:nvPr/>
        </p:nvSpPr>
        <p:spPr>
          <a:xfrm>
            <a:off x="786384" y="4334256"/>
            <a:ext cx="1371600" cy="265176"/>
          </a:xfrm>
          <a:prstGeom prst="roundRect">
            <a:avLst>
              <a:gd name="adj" fmla="val 27586"/>
            </a:avLst>
          </a:prstGeom>
          <a:solidFill>
            <a:srgbClr val="16212C"/>
          </a:solidFill>
          <a:ln w="6985">
            <a:solidFill>
              <a:srgbClr val="263442"/>
            </a:solidFill>
            <a:prstDash val="solid"/>
          </a:ln>
        </p:spPr>
      </p:sp>
      <p:sp>
        <p:nvSpPr>
          <p:cNvPr id="17" name="Text 15"/>
          <p:cNvSpPr/>
          <p:nvPr/>
        </p:nvSpPr>
        <p:spPr>
          <a:xfrm>
            <a:off x="868680" y="4361688"/>
            <a:ext cx="1207008" cy="173736"/>
          </a:xfrm>
          <a:prstGeom prst="rect">
            <a:avLst/>
          </a:prstGeom>
          <a:noFill/>
          <a:ln/>
        </p:spPr>
        <p:txBody>
          <a:bodyPr wrap="square" lIns="0" tIns="0" rIns="0" bIns="0" rtlCol="0" anchor="ctr">
            <a:normAutofit/>
          </a:bodyPr>
          <a:lstStyle/>
          <a:p>
            <a:pPr indent="0" marL="0">
              <a:buNone/>
            </a:pPr>
            <a:r>
              <a:rPr lang="en-US" sz="800" b="1" spc="110" kern="0" dirty="0">
                <a:solidFill>
                  <a:srgbClr val="69DDCF"/>
                </a:solidFill>
                <a:latin typeface="Inter" pitchFamily="34" charset="0"/>
                <a:ea typeface="Inter" pitchFamily="34" charset="-122"/>
                <a:cs typeface="Inter" pitchFamily="34" charset="-120"/>
              </a:rPr>
              <a:t>MIT QUANTLAB</a:t>
            </a:r>
            <a:endParaRPr lang="en-US" sz="800" dirty="0"/>
          </a:p>
        </p:txBody>
      </p:sp>
      <p:sp>
        <p:nvSpPr>
          <p:cNvPr id="18" name="Text 16"/>
          <p:cNvSpPr/>
          <p:nvPr/>
        </p:nvSpPr>
        <p:spPr>
          <a:xfrm>
            <a:off x="2395728" y="4352544"/>
            <a:ext cx="8668512" cy="630936"/>
          </a:xfrm>
          <a:prstGeom prst="rect">
            <a:avLst/>
          </a:prstGeom>
          <a:noFill/>
          <a:ln/>
        </p:spPr>
        <p:txBody>
          <a:bodyPr wrap="square" lIns="0" tIns="0" rIns="0" bIns="0" rtlCol="0" anchor="ctr">
            <a:normAutofit/>
          </a:bodyPr>
          <a:lstStyle/>
          <a:p>
            <a:pPr indent="0" marL="0">
              <a:buNone/>
            </a:pPr>
            <a:r>
              <a:rPr lang="en-US" sz="1600" b="1" dirty="0">
                <a:solidFill>
                  <a:srgbClr val="EDF5F7"/>
                </a:solidFill>
                <a:latin typeface="Inter" pitchFamily="34" charset="0"/>
                <a:ea typeface="Inter" pitchFamily="34" charset="-122"/>
                <a:cs typeface="Inter" pitchFamily="34" charset="-120"/>
              </a:rPr>
              <a:t>Idee → JARVIS präzisiert → Testplan → reproduzierbare Analyse → belastbare Entscheidung</a:t>
            </a:r>
            <a:endParaRPr lang="en-US" sz="1600" dirty="0"/>
          </a:p>
        </p:txBody>
      </p:sp>
      <p:sp>
        <p:nvSpPr>
          <p:cNvPr id="19" name="Text 17"/>
          <p:cNvSpPr/>
          <p:nvPr/>
        </p:nvSpPr>
        <p:spPr>
          <a:xfrm>
            <a:off x="649224" y="5724144"/>
            <a:ext cx="10789920" cy="347472"/>
          </a:xfrm>
          <a:prstGeom prst="rect">
            <a:avLst/>
          </a:prstGeom>
          <a:noFill/>
          <a:ln/>
        </p:spPr>
        <p:txBody>
          <a:bodyPr wrap="square" lIns="0" tIns="0" rIns="0" bIns="0" rtlCol="0" anchor="ctr">
            <a:normAutofit/>
          </a:bodyPr>
          <a:lstStyle/>
          <a:p>
            <a:pPr indent="0" marL="0">
              <a:buNone/>
            </a:pPr>
            <a:r>
              <a:rPr lang="en-US" sz="1500" dirty="0">
                <a:solidFill>
                  <a:srgbClr val="94A6B3"/>
                </a:solidFill>
                <a:latin typeface="Inter" pitchFamily="34" charset="0"/>
                <a:ea typeface="Inter" pitchFamily="34" charset="-122"/>
                <a:cs typeface="Inter" pitchFamily="34" charset="-120"/>
              </a:rPr>
              <a:t>Reibung entfernen. Prüfstandard erhöhen. Keine „AI macht reich“-Versprechen.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USER JOURNEY</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04</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03 / EXPERIENCE</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Der 90-Sekunden-Start – ohne 90-Sekunden-Versprechen</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Die Einstiegshandlung ist simpel. Die tatsächliche Rechenzeit hängt von Datenvolumen und Testumfang ab.</a:t>
            </a:r>
            <a:endParaRPr lang="en-US" sz="1300" dirty="0"/>
          </a:p>
        </p:txBody>
      </p:sp>
      <p:sp>
        <p:nvSpPr>
          <p:cNvPr id="12" name="Shape 10"/>
          <p:cNvSpPr/>
          <p:nvPr/>
        </p:nvSpPr>
        <p:spPr>
          <a:xfrm>
            <a:off x="521208" y="2660904"/>
            <a:ext cx="1783080" cy="2057400"/>
          </a:xfrm>
          <a:prstGeom prst="roundRect">
            <a:avLst>
              <a:gd name="adj" fmla="val 7179"/>
            </a:avLst>
          </a:prstGeom>
          <a:solidFill>
            <a:srgbClr val="121A24"/>
          </a:solidFill>
          <a:ln w="8890">
            <a:solidFill>
              <a:srgbClr val="263442"/>
            </a:solidFill>
            <a:prstDash val="solid"/>
          </a:ln>
        </p:spPr>
      </p:sp>
      <p:sp>
        <p:nvSpPr>
          <p:cNvPr id="13" name="Text 11"/>
          <p:cNvSpPr/>
          <p:nvPr/>
        </p:nvSpPr>
        <p:spPr>
          <a:xfrm>
            <a:off x="685800" y="2816352"/>
            <a:ext cx="1005840" cy="512064"/>
          </a:xfrm>
          <a:prstGeom prst="rect">
            <a:avLst/>
          </a:prstGeom>
          <a:noFill/>
          <a:ln/>
        </p:spPr>
        <p:txBody>
          <a:bodyPr wrap="square" lIns="0" tIns="0" rIns="0" bIns="0" rtlCol="0" anchor="ctr">
            <a:normAutofit/>
          </a:bodyPr>
          <a:lstStyle/>
          <a:p>
            <a:pPr indent="0" marL="0">
              <a:buNone/>
            </a:pPr>
            <a:r>
              <a:rPr lang="en-US" sz="2900" b="1" dirty="0">
                <a:solidFill>
                  <a:srgbClr val="607584"/>
                </a:solidFill>
                <a:latin typeface="Inter" pitchFamily="34" charset="0"/>
                <a:ea typeface="Inter" pitchFamily="34" charset="-122"/>
                <a:cs typeface="Inter" pitchFamily="34" charset="-120"/>
              </a:rPr>
              <a:t>01</a:t>
            </a:r>
            <a:endParaRPr lang="en-US" sz="2900" dirty="0"/>
          </a:p>
        </p:txBody>
      </p:sp>
      <p:sp>
        <p:nvSpPr>
          <p:cNvPr id="14" name="Text 12"/>
          <p:cNvSpPr/>
          <p:nvPr/>
        </p:nvSpPr>
        <p:spPr>
          <a:xfrm>
            <a:off x="685800" y="3575304"/>
            <a:ext cx="1572768" cy="283464"/>
          </a:xfrm>
          <a:prstGeom prst="rect">
            <a:avLst/>
          </a:prstGeom>
          <a:noFill/>
          <a:ln/>
        </p:spPr>
        <p:txBody>
          <a:bodyPr wrap="square" lIns="0" tIns="0" rIns="0" bIns="0" rtlCol="0" anchor="ctr">
            <a:normAutofit/>
          </a:bodyPr>
          <a:lstStyle/>
          <a:p>
            <a:pPr indent="0" marL="0">
              <a:buNone/>
            </a:pPr>
            <a:r>
              <a:rPr lang="en-US" sz="1300" b="1" dirty="0">
                <a:solidFill>
                  <a:srgbClr val="EDF5F7"/>
                </a:solidFill>
                <a:latin typeface="Inter" pitchFamily="34" charset="0"/>
                <a:ea typeface="Inter" pitchFamily="34" charset="-122"/>
                <a:cs typeface="Inter" pitchFamily="34" charset="-120"/>
              </a:rPr>
              <a:t>IDEE</a:t>
            </a:r>
            <a:endParaRPr lang="en-US" sz="1300" dirty="0"/>
          </a:p>
        </p:txBody>
      </p:sp>
      <p:sp>
        <p:nvSpPr>
          <p:cNvPr id="15" name="Text 13"/>
          <p:cNvSpPr/>
          <p:nvPr/>
        </p:nvSpPr>
        <p:spPr>
          <a:xfrm>
            <a:off x="685800" y="4014216"/>
            <a:ext cx="1508760" cy="448056"/>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Freitext / Voice</a:t>
            </a:r>
            <a:endParaRPr lang="en-US" sz="1000" dirty="0"/>
          </a:p>
        </p:txBody>
      </p:sp>
      <p:sp>
        <p:nvSpPr>
          <p:cNvPr id="16" name="Shape 14"/>
          <p:cNvSpPr/>
          <p:nvPr/>
        </p:nvSpPr>
        <p:spPr>
          <a:xfrm>
            <a:off x="2313432" y="3630168"/>
            <a:ext cx="96012" cy="0"/>
          </a:xfrm>
          <a:prstGeom prst="line">
            <a:avLst/>
          </a:prstGeom>
          <a:noFill/>
          <a:ln w="21590">
            <a:solidFill>
              <a:srgbClr val="69DDCF"/>
            </a:solidFill>
            <a:prstDash val="solid"/>
            <a:tailEnd type="triangle"/>
          </a:ln>
        </p:spPr>
      </p:sp>
      <p:sp>
        <p:nvSpPr>
          <p:cNvPr id="17" name="Shape 15"/>
          <p:cNvSpPr/>
          <p:nvPr/>
        </p:nvSpPr>
        <p:spPr>
          <a:xfrm>
            <a:off x="2418588" y="2660904"/>
            <a:ext cx="1783080" cy="2057400"/>
          </a:xfrm>
          <a:prstGeom prst="roundRect">
            <a:avLst>
              <a:gd name="adj" fmla="val 7179"/>
            </a:avLst>
          </a:prstGeom>
          <a:solidFill>
            <a:srgbClr val="121A24"/>
          </a:solidFill>
          <a:ln w="8890">
            <a:solidFill>
              <a:srgbClr val="263442"/>
            </a:solidFill>
            <a:prstDash val="solid"/>
          </a:ln>
        </p:spPr>
      </p:sp>
      <p:sp>
        <p:nvSpPr>
          <p:cNvPr id="18" name="Text 16"/>
          <p:cNvSpPr/>
          <p:nvPr/>
        </p:nvSpPr>
        <p:spPr>
          <a:xfrm>
            <a:off x="2583180" y="2816352"/>
            <a:ext cx="1005840" cy="512064"/>
          </a:xfrm>
          <a:prstGeom prst="rect">
            <a:avLst/>
          </a:prstGeom>
          <a:noFill/>
          <a:ln/>
        </p:spPr>
        <p:txBody>
          <a:bodyPr wrap="square" lIns="0" tIns="0" rIns="0" bIns="0" rtlCol="0" anchor="ctr">
            <a:normAutofit/>
          </a:bodyPr>
          <a:lstStyle/>
          <a:p>
            <a:pPr indent="0" marL="0">
              <a:buNone/>
            </a:pPr>
            <a:r>
              <a:rPr lang="en-US" sz="2900" b="1" dirty="0">
                <a:solidFill>
                  <a:srgbClr val="607584"/>
                </a:solidFill>
                <a:latin typeface="Inter" pitchFamily="34" charset="0"/>
                <a:ea typeface="Inter" pitchFamily="34" charset="-122"/>
                <a:cs typeface="Inter" pitchFamily="34" charset="-120"/>
              </a:rPr>
              <a:t>02</a:t>
            </a:r>
            <a:endParaRPr lang="en-US" sz="2900" dirty="0"/>
          </a:p>
        </p:txBody>
      </p:sp>
      <p:sp>
        <p:nvSpPr>
          <p:cNvPr id="19" name="Text 17"/>
          <p:cNvSpPr/>
          <p:nvPr/>
        </p:nvSpPr>
        <p:spPr>
          <a:xfrm>
            <a:off x="2583180" y="3575304"/>
            <a:ext cx="1572768" cy="283464"/>
          </a:xfrm>
          <a:prstGeom prst="rect">
            <a:avLst/>
          </a:prstGeom>
          <a:noFill/>
          <a:ln/>
        </p:spPr>
        <p:txBody>
          <a:bodyPr wrap="square" lIns="0" tIns="0" rIns="0" bIns="0" rtlCol="0" anchor="ctr">
            <a:normAutofit/>
          </a:bodyPr>
          <a:lstStyle/>
          <a:p>
            <a:pPr indent="0" marL="0">
              <a:buNone/>
            </a:pPr>
            <a:r>
              <a:rPr lang="en-US" sz="1300" b="1" dirty="0">
                <a:solidFill>
                  <a:srgbClr val="EDF5F7"/>
                </a:solidFill>
                <a:latin typeface="Inter" pitchFamily="34" charset="0"/>
                <a:ea typeface="Inter" pitchFamily="34" charset="-122"/>
                <a:cs typeface="Inter" pitchFamily="34" charset="-120"/>
              </a:rPr>
              <a:t>REGELN</a:t>
            </a:r>
            <a:endParaRPr lang="en-US" sz="1300" dirty="0"/>
          </a:p>
        </p:txBody>
      </p:sp>
      <p:sp>
        <p:nvSpPr>
          <p:cNvPr id="20" name="Text 18"/>
          <p:cNvSpPr/>
          <p:nvPr/>
        </p:nvSpPr>
        <p:spPr>
          <a:xfrm>
            <a:off x="2583180" y="4014216"/>
            <a:ext cx="1508760" cy="448056"/>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AI klärt Ambiguitäten</a:t>
            </a:r>
            <a:endParaRPr lang="en-US" sz="1000" dirty="0"/>
          </a:p>
        </p:txBody>
      </p:sp>
      <p:sp>
        <p:nvSpPr>
          <p:cNvPr id="21" name="Shape 19"/>
          <p:cNvSpPr/>
          <p:nvPr/>
        </p:nvSpPr>
        <p:spPr>
          <a:xfrm>
            <a:off x="4210812" y="3630168"/>
            <a:ext cx="96012" cy="0"/>
          </a:xfrm>
          <a:prstGeom prst="line">
            <a:avLst/>
          </a:prstGeom>
          <a:noFill/>
          <a:ln w="21590">
            <a:solidFill>
              <a:srgbClr val="69DDCF"/>
            </a:solidFill>
            <a:prstDash val="solid"/>
            <a:tailEnd type="triangle"/>
          </a:ln>
        </p:spPr>
      </p:sp>
      <p:sp>
        <p:nvSpPr>
          <p:cNvPr id="22" name="Shape 20"/>
          <p:cNvSpPr/>
          <p:nvPr/>
        </p:nvSpPr>
        <p:spPr>
          <a:xfrm>
            <a:off x="4315968" y="2660904"/>
            <a:ext cx="1783080" cy="2057400"/>
          </a:xfrm>
          <a:prstGeom prst="roundRect">
            <a:avLst>
              <a:gd name="adj" fmla="val 7179"/>
            </a:avLst>
          </a:prstGeom>
          <a:solidFill>
            <a:srgbClr val="121A24"/>
          </a:solidFill>
          <a:ln w="8890">
            <a:solidFill>
              <a:srgbClr val="263442"/>
            </a:solidFill>
            <a:prstDash val="solid"/>
          </a:ln>
        </p:spPr>
      </p:sp>
      <p:sp>
        <p:nvSpPr>
          <p:cNvPr id="23" name="Text 21"/>
          <p:cNvSpPr/>
          <p:nvPr/>
        </p:nvSpPr>
        <p:spPr>
          <a:xfrm>
            <a:off x="4480560" y="2816352"/>
            <a:ext cx="1005840" cy="512064"/>
          </a:xfrm>
          <a:prstGeom prst="rect">
            <a:avLst/>
          </a:prstGeom>
          <a:noFill/>
          <a:ln/>
        </p:spPr>
        <p:txBody>
          <a:bodyPr wrap="square" lIns="0" tIns="0" rIns="0" bIns="0" rtlCol="0" anchor="ctr">
            <a:normAutofit/>
          </a:bodyPr>
          <a:lstStyle/>
          <a:p>
            <a:pPr indent="0" marL="0">
              <a:buNone/>
            </a:pPr>
            <a:r>
              <a:rPr lang="en-US" sz="2900" b="1" dirty="0">
                <a:solidFill>
                  <a:srgbClr val="607584"/>
                </a:solidFill>
                <a:latin typeface="Inter" pitchFamily="34" charset="0"/>
                <a:ea typeface="Inter" pitchFamily="34" charset="-122"/>
                <a:cs typeface="Inter" pitchFamily="34" charset="-120"/>
              </a:rPr>
              <a:t>03</a:t>
            </a:r>
            <a:endParaRPr lang="en-US" sz="2900" dirty="0"/>
          </a:p>
        </p:txBody>
      </p:sp>
      <p:sp>
        <p:nvSpPr>
          <p:cNvPr id="24" name="Text 22"/>
          <p:cNvSpPr/>
          <p:nvPr/>
        </p:nvSpPr>
        <p:spPr>
          <a:xfrm>
            <a:off x="4480560" y="3575304"/>
            <a:ext cx="1572768" cy="283464"/>
          </a:xfrm>
          <a:prstGeom prst="rect">
            <a:avLst/>
          </a:prstGeom>
          <a:noFill/>
          <a:ln/>
        </p:spPr>
        <p:txBody>
          <a:bodyPr wrap="square" lIns="0" tIns="0" rIns="0" bIns="0" rtlCol="0" anchor="ctr">
            <a:normAutofit/>
          </a:bodyPr>
          <a:lstStyle/>
          <a:p>
            <a:pPr indent="0" marL="0">
              <a:buNone/>
            </a:pPr>
            <a:r>
              <a:rPr lang="en-US" sz="1300" b="1" dirty="0">
                <a:solidFill>
                  <a:srgbClr val="EDF5F7"/>
                </a:solidFill>
                <a:latin typeface="Inter" pitchFamily="34" charset="0"/>
                <a:ea typeface="Inter" pitchFamily="34" charset="-122"/>
                <a:cs typeface="Inter" pitchFamily="34" charset="-120"/>
              </a:rPr>
              <a:t>DATEN</a:t>
            </a:r>
            <a:endParaRPr lang="en-US" sz="1300" dirty="0"/>
          </a:p>
        </p:txBody>
      </p:sp>
      <p:sp>
        <p:nvSpPr>
          <p:cNvPr id="25" name="Text 23"/>
          <p:cNvSpPr/>
          <p:nvPr/>
        </p:nvSpPr>
        <p:spPr>
          <a:xfrm>
            <a:off x="4480560" y="4014216"/>
            <a:ext cx="1508760" cy="448056"/>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Qualität &amp; Lizenz prüfen</a:t>
            </a:r>
            <a:endParaRPr lang="en-US" sz="1000" dirty="0"/>
          </a:p>
        </p:txBody>
      </p:sp>
      <p:sp>
        <p:nvSpPr>
          <p:cNvPr id="26" name="Shape 24"/>
          <p:cNvSpPr/>
          <p:nvPr/>
        </p:nvSpPr>
        <p:spPr>
          <a:xfrm>
            <a:off x="6108192" y="3630168"/>
            <a:ext cx="96012" cy="0"/>
          </a:xfrm>
          <a:prstGeom prst="line">
            <a:avLst/>
          </a:prstGeom>
          <a:noFill/>
          <a:ln w="21590">
            <a:solidFill>
              <a:srgbClr val="69DDCF"/>
            </a:solidFill>
            <a:prstDash val="solid"/>
            <a:tailEnd type="triangle"/>
          </a:ln>
        </p:spPr>
      </p:sp>
      <p:sp>
        <p:nvSpPr>
          <p:cNvPr id="27" name="Shape 25"/>
          <p:cNvSpPr/>
          <p:nvPr/>
        </p:nvSpPr>
        <p:spPr>
          <a:xfrm>
            <a:off x="6213348" y="2660904"/>
            <a:ext cx="1783080" cy="2057400"/>
          </a:xfrm>
          <a:prstGeom prst="roundRect">
            <a:avLst>
              <a:gd name="adj" fmla="val 7179"/>
            </a:avLst>
          </a:prstGeom>
          <a:solidFill>
            <a:srgbClr val="121A24"/>
          </a:solidFill>
          <a:ln w="8890">
            <a:solidFill>
              <a:srgbClr val="263442"/>
            </a:solidFill>
            <a:prstDash val="solid"/>
          </a:ln>
        </p:spPr>
      </p:sp>
      <p:sp>
        <p:nvSpPr>
          <p:cNvPr id="28" name="Text 26"/>
          <p:cNvSpPr/>
          <p:nvPr/>
        </p:nvSpPr>
        <p:spPr>
          <a:xfrm>
            <a:off x="6377940" y="2816352"/>
            <a:ext cx="1005840" cy="512064"/>
          </a:xfrm>
          <a:prstGeom prst="rect">
            <a:avLst/>
          </a:prstGeom>
          <a:noFill/>
          <a:ln/>
        </p:spPr>
        <p:txBody>
          <a:bodyPr wrap="square" lIns="0" tIns="0" rIns="0" bIns="0" rtlCol="0" anchor="ctr">
            <a:normAutofit/>
          </a:bodyPr>
          <a:lstStyle/>
          <a:p>
            <a:pPr indent="0" marL="0">
              <a:buNone/>
            </a:pPr>
            <a:r>
              <a:rPr lang="en-US" sz="2900" b="1" dirty="0">
                <a:solidFill>
                  <a:srgbClr val="607584"/>
                </a:solidFill>
                <a:latin typeface="Inter" pitchFamily="34" charset="0"/>
                <a:ea typeface="Inter" pitchFamily="34" charset="-122"/>
                <a:cs typeface="Inter" pitchFamily="34" charset="-120"/>
              </a:rPr>
              <a:t>04</a:t>
            </a:r>
            <a:endParaRPr lang="en-US" sz="2900" dirty="0"/>
          </a:p>
        </p:txBody>
      </p:sp>
      <p:sp>
        <p:nvSpPr>
          <p:cNvPr id="29" name="Text 27"/>
          <p:cNvSpPr/>
          <p:nvPr/>
        </p:nvSpPr>
        <p:spPr>
          <a:xfrm>
            <a:off x="6377940" y="3575304"/>
            <a:ext cx="1572768" cy="283464"/>
          </a:xfrm>
          <a:prstGeom prst="rect">
            <a:avLst/>
          </a:prstGeom>
          <a:noFill/>
          <a:ln/>
        </p:spPr>
        <p:txBody>
          <a:bodyPr wrap="square" lIns="0" tIns="0" rIns="0" bIns="0" rtlCol="0" anchor="ctr">
            <a:normAutofit/>
          </a:bodyPr>
          <a:lstStyle/>
          <a:p>
            <a:pPr indent="0" marL="0">
              <a:buNone/>
            </a:pPr>
            <a:r>
              <a:rPr lang="en-US" sz="1300" b="1" dirty="0">
                <a:solidFill>
                  <a:srgbClr val="EDF5F7"/>
                </a:solidFill>
                <a:latin typeface="Inter" pitchFamily="34" charset="0"/>
                <a:ea typeface="Inter" pitchFamily="34" charset="-122"/>
                <a:cs typeface="Inter" pitchFamily="34" charset="-120"/>
              </a:rPr>
              <a:t>TEST</a:t>
            </a:r>
            <a:endParaRPr lang="en-US" sz="1300" dirty="0"/>
          </a:p>
        </p:txBody>
      </p:sp>
      <p:sp>
        <p:nvSpPr>
          <p:cNvPr id="30" name="Text 28"/>
          <p:cNvSpPr/>
          <p:nvPr/>
        </p:nvSpPr>
        <p:spPr>
          <a:xfrm>
            <a:off x="6377940" y="4014216"/>
            <a:ext cx="1508760" cy="448056"/>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Realistisch simulieren</a:t>
            </a:r>
            <a:endParaRPr lang="en-US" sz="1000" dirty="0"/>
          </a:p>
        </p:txBody>
      </p:sp>
      <p:sp>
        <p:nvSpPr>
          <p:cNvPr id="31" name="Shape 29"/>
          <p:cNvSpPr/>
          <p:nvPr/>
        </p:nvSpPr>
        <p:spPr>
          <a:xfrm>
            <a:off x="8005572" y="3630168"/>
            <a:ext cx="96012" cy="0"/>
          </a:xfrm>
          <a:prstGeom prst="line">
            <a:avLst/>
          </a:prstGeom>
          <a:noFill/>
          <a:ln w="21590">
            <a:solidFill>
              <a:srgbClr val="69DDCF"/>
            </a:solidFill>
            <a:prstDash val="solid"/>
            <a:tailEnd type="triangle"/>
          </a:ln>
        </p:spPr>
      </p:sp>
      <p:sp>
        <p:nvSpPr>
          <p:cNvPr id="32" name="Shape 30"/>
          <p:cNvSpPr/>
          <p:nvPr/>
        </p:nvSpPr>
        <p:spPr>
          <a:xfrm>
            <a:off x="8110728" y="2660904"/>
            <a:ext cx="1783080" cy="2057400"/>
          </a:xfrm>
          <a:prstGeom prst="roundRect">
            <a:avLst>
              <a:gd name="adj" fmla="val 7179"/>
            </a:avLst>
          </a:prstGeom>
          <a:solidFill>
            <a:srgbClr val="121A24"/>
          </a:solidFill>
          <a:ln w="8890">
            <a:solidFill>
              <a:srgbClr val="263442"/>
            </a:solidFill>
            <a:prstDash val="solid"/>
          </a:ln>
        </p:spPr>
      </p:sp>
      <p:sp>
        <p:nvSpPr>
          <p:cNvPr id="33" name="Text 31"/>
          <p:cNvSpPr/>
          <p:nvPr/>
        </p:nvSpPr>
        <p:spPr>
          <a:xfrm>
            <a:off x="8275320" y="2816352"/>
            <a:ext cx="1005840" cy="512064"/>
          </a:xfrm>
          <a:prstGeom prst="rect">
            <a:avLst/>
          </a:prstGeom>
          <a:noFill/>
          <a:ln/>
        </p:spPr>
        <p:txBody>
          <a:bodyPr wrap="square" lIns="0" tIns="0" rIns="0" bIns="0" rtlCol="0" anchor="ctr">
            <a:normAutofit/>
          </a:bodyPr>
          <a:lstStyle/>
          <a:p>
            <a:pPr indent="0" marL="0">
              <a:buNone/>
            </a:pPr>
            <a:r>
              <a:rPr lang="en-US" sz="2900" b="1" dirty="0">
                <a:solidFill>
                  <a:srgbClr val="607584"/>
                </a:solidFill>
                <a:latin typeface="Inter" pitchFamily="34" charset="0"/>
                <a:ea typeface="Inter" pitchFamily="34" charset="-122"/>
                <a:cs typeface="Inter" pitchFamily="34" charset="-120"/>
              </a:rPr>
              <a:t>05</a:t>
            </a:r>
            <a:endParaRPr lang="en-US" sz="2900" dirty="0"/>
          </a:p>
        </p:txBody>
      </p:sp>
      <p:sp>
        <p:nvSpPr>
          <p:cNvPr id="34" name="Text 32"/>
          <p:cNvSpPr/>
          <p:nvPr/>
        </p:nvSpPr>
        <p:spPr>
          <a:xfrm>
            <a:off x="8275320" y="3575304"/>
            <a:ext cx="1572768" cy="283464"/>
          </a:xfrm>
          <a:prstGeom prst="rect">
            <a:avLst/>
          </a:prstGeom>
          <a:noFill/>
          <a:ln/>
        </p:spPr>
        <p:txBody>
          <a:bodyPr wrap="square" lIns="0" tIns="0" rIns="0" bIns="0" rtlCol="0" anchor="ctr">
            <a:normAutofit/>
          </a:bodyPr>
          <a:lstStyle/>
          <a:p>
            <a:pPr indent="0" marL="0">
              <a:buNone/>
            </a:pPr>
            <a:r>
              <a:rPr lang="en-US" sz="1300" b="1" dirty="0">
                <a:solidFill>
                  <a:srgbClr val="EDF5F7"/>
                </a:solidFill>
                <a:latin typeface="Inter" pitchFamily="34" charset="0"/>
                <a:ea typeface="Inter" pitchFamily="34" charset="-122"/>
                <a:cs typeface="Inter" pitchFamily="34" charset="-120"/>
              </a:rPr>
              <a:t>STRESS</a:t>
            </a:r>
            <a:endParaRPr lang="en-US" sz="1300" dirty="0"/>
          </a:p>
        </p:txBody>
      </p:sp>
      <p:sp>
        <p:nvSpPr>
          <p:cNvPr id="35" name="Text 33"/>
          <p:cNvSpPr/>
          <p:nvPr/>
        </p:nvSpPr>
        <p:spPr>
          <a:xfrm>
            <a:off x="8275320" y="4014216"/>
            <a:ext cx="1508760" cy="448056"/>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Robustheit &amp; Bias</a:t>
            </a:r>
            <a:endParaRPr lang="en-US" sz="1000" dirty="0"/>
          </a:p>
        </p:txBody>
      </p:sp>
      <p:sp>
        <p:nvSpPr>
          <p:cNvPr id="36" name="Shape 34"/>
          <p:cNvSpPr/>
          <p:nvPr/>
        </p:nvSpPr>
        <p:spPr>
          <a:xfrm>
            <a:off x="9902952" y="3630168"/>
            <a:ext cx="96012" cy="0"/>
          </a:xfrm>
          <a:prstGeom prst="line">
            <a:avLst/>
          </a:prstGeom>
          <a:noFill/>
          <a:ln w="21590">
            <a:solidFill>
              <a:srgbClr val="69DDCF"/>
            </a:solidFill>
            <a:prstDash val="solid"/>
            <a:tailEnd type="triangle"/>
          </a:ln>
        </p:spPr>
      </p:sp>
      <p:sp>
        <p:nvSpPr>
          <p:cNvPr id="37" name="Shape 35"/>
          <p:cNvSpPr/>
          <p:nvPr/>
        </p:nvSpPr>
        <p:spPr>
          <a:xfrm>
            <a:off x="10008108" y="2660904"/>
            <a:ext cx="1783080" cy="2057400"/>
          </a:xfrm>
          <a:prstGeom prst="roundRect">
            <a:avLst>
              <a:gd name="adj" fmla="val 7179"/>
            </a:avLst>
          </a:prstGeom>
          <a:solidFill>
            <a:srgbClr val="121A24"/>
          </a:solidFill>
          <a:ln w="8890">
            <a:solidFill>
              <a:srgbClr val="263442"/>
            </a:solidFill>
            <a:prstDash val="solid"/>
          </a:ln>
        </p:spPr>
      </p:sp>
      <p:sp>
        <p:nvSpPr>
          <p:cNvPr id="38" name="Text 36"/>
          <p:cNvSpPr/>
          <p:nvPr/>
        </p:nvSpPr>
        <p:spPr>
          <a:xfrm>
            <a:off x="10172700" y="2816352"/>
            <a:ext cx="1005840" cy="512064"/>
          </a:xfrm>
          <a:prstGeom prst="rect">
            <a:avLst/>
          </a:prstGeom>
          <a:noFill/>
          <a:ln/>
        </p:spPr>
        <p:txBody>
          <a:bodyPr wrap="square" lIns="0" tIns="0" rIns="0" bIns="0" rtlCol="0" anchor="ctr">
            <a:normAutofit/>
          </a:bodyPr>
          <a:lstStyle/>
          <a:p>
            <a:pPr indent="0" marL="0">
              <a:buNone/>
            </a:pPr>
            <a:r>
              <a:rPr lang="en-US" sz="2900" b="1" dirty="0">
                <a:solidFill>
                  <a:srgbClr val="69DDCF"/>
                </a:solidFill>
                <a:latin typeface="Inter" pitchFamily="34" charset="0"/>
                <a:ea typeface="Inter" pitchFamily="34" charset="-122"/>
                <a:cs typeface="Inter" pitchFamily="34" charset="-120"/>
              </a:rPr>
              <a:t>06</a:t>
            </a:r>
            <a:endParaRPr lang="en-US" sz="2900" dirty="0"/>
          </a:p>
        </p:txBody>
      </p:sp>
      <p:sp>
        <p:nvSpPr>
          <p:cNvPr id="39" name="Text 37"/>
          <p:cNvSpPr/>
          <p:nvPr/>
        </p:nvSpPr>
        <p:spPr>
          <a:xfrm>
            <a:off x="10172700" y="3575304"/>
            <a:ext cx="1572768" cy="283464"/>
          </a:xfrm>
          <a:prstGeom prst="rect">
            <a:avLst/>
          </a:prstGeom>
          <a:noFill/>
          <a:ln/>
        </p:spPr>
        <p:txBody>
          <a:bodyPr wrap="square" lIns="0" tIns="0" rIns="0" bIns="0" rtlCol="0" anchor="ctr">
            <a:normAutofit/>
          </a:bodyPr>
          <a:lstStyle/>
          <a:p>
            <a:pPr indent="0" marL="0">
              <a:buNone/>
            </a:pPr>
            <a:r>
              <a:rPr lang="en-US" sz="1300" b="1" dirty="0">
                <a:solidFill>
                  <a:srgbClr val="EDF5F7"/>
                </a:solidFill>
                <a:latin typeface="Inter" pitchFamily="34" charset="0"/>
                <a:ea typeface="Inter" pitchFamily="34" charset="-122"/>
                <a:cs typeface="Inter" pitchFamily="34" charset="-120"/>
              </a:rPr>
              <a:t>URTEIL</a:t>
            </a:r>
            <a:endParaRPr lang="en-US" sz="1300" dirty="0"/>
          </a:p>
        </p:txBody>
      </p:sp>
      <p:sp>
        <p:nvSpPr>
          <p:cNvPr id="40" name="Text 38"/>
          <p:cNvSpPr/>
          <p:nvPr/>
        </p:nvSpPr>
        <p:spPr>
          <a:xfrm>
            <a:off x="10172700" y="4014216"/>
            <a:ext cx="1508760" cy="448056"/>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Evidenz + nächster Schritt</a:t>
            </a:r>
            <a:endParaRPr lang="en-US" sz="1000" dirty="0"/>
          </a:p>
        </p:txBody>
      </p:sp>
      <p:sp>
        <p:nvSpPr>
          <p:cNvPr id="41" name="Shape 39"/>
          <p:cNvSpPr/>
          <p:nvPr/>
        </p:nvSpPr>
        <p:spPr>
          <a:xfrm>
            <a:off x="539496" y="5093208"/>
            <a:ext cx="11109960" cy="676656"/>
          </a:xfrm>
          <a:prstGeom prst="roundRect">
            <a:avLst>
              <a:gd name="adj" fmla="val 18919"/>
            </a:avLst>
          </a:prstGeom>
          <a:solidFill>
            <a:srgbClr val="16212C"/>
          </a:solidFill>
          <a:ln w="8890">
            <a:solidFill>
              <a:srgbClr val="263442"/>
            </a:solidFill>
            <a:prstDash val="solid"/>
          </a:ln>
        </p:spPr>
      </p:sp>
      <p:sp>
        <p:nvSpPr>
          <p:cNvPr id="42" name="Text 40"/>
          <p:cNvSpPr/>
          <p:nvPr/>
        </p:nvSpPr>
        <p:spPr>
          <a:xfrm>
            <a:off x="749808" y="5294376"/>
            <a:ext cx="969264" cy="164592"/>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SICHTBAR</a:t>
            </a:r>
            <a:endParaRPr lang="en-US" sz="900" dirty="0"/>
          </a:p>
        </p:txBody>
      </p:sp>
      <p:sp>
        <p:nvSpPr>
          <p:cNvPr id="43" name="Text 41"/>
          <p:cNvSpPr/>
          <p:nvPr/>
        </p:nvSpPr>
        <p:spPr>
          <a:xfrm>
            <a:off x="1984248" y="5212080"/>
            <a:ext cx="9052560" cy="310896"/>
          </a:xfrm>
          <a:prstGeom prst="rect">
            <a:avLst/>
          </a:prstGeom>
          <a:noFill/>
          <a:ln/>
        </p:spPr>
        <p:txBody>
          <a:bodyPr wrap="square" lIns="0" tIns="0" rIns="0" bIns="0" rtlCol="0" anchor="ctr">
            <a:normAutofit/>
          </a:bodyPr>
          <a:lstStyle/>
          <a:p>
            <a:pPr indent="0" marL="0">
              <a:buNone/>
            </a:pPr>
            <a:r>
              <a:rPr lang="en-US" sz="1500" dirty="0">
                <a:solidFill>
                  <a:srgbClr val="EDF5F7"/>
                </a:solidFill>
                <a:latin typeface="Inter" pitchFamily="34" charset="0"/>
                <a:ea typeface="Inter" pitchFamily="34" charset="-122"/>
                <a:cs typeface="Inter" pitchFamily="34" charset="-120"/>
              </a:rPr>
              <a:t>Live-Fortschritt: Data QA → Simulating → Walk-Forward → Reporting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DASHBOARD</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05</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04 / UI SYSTEM</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Das QuantLab-Cockpit</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Low-noise Design. Die wichtigste Frage steht oben: Ist die Evidenz ausreichend?</a:t>
            </a:r>
            <a:endParaRPr lang="en-US" sz="1300" dirty="0"/>
          </a:p>
        </p:txBody>
      </p:sp>
      <p:sp>
        <p:nvSpPr>
          <p:cNvPr id="12" name="Shape 10"/>
          <p:cNvSpPr/>
          <p:nvPr/>
        </p:nvSpPr>
        <p:spPr>
          <a:xfrm>
            <a:off x="594360" y="2322576"/>
            <a:ext cx="10972800" cy="3630168"/>
          </a:xfrm>
          <a:prstGeom prst="roundRect">
            <a:avLst>
              <a:gd name="adj" fmla="val 3526"/>
            </a:avLst>
          </a:prstGeom>
          <a:solidFill>
            <a:srgbClr val="0E141C"/>
          </a:solidFill>
          <a:ln w="8890">
            <a:solidFill>
              <a:srgbClr val="263442"/>
            </a:solidFill>
            <a:prstDash val="solid"/>
          </a:ln>
        </p:spPr>
      </p:sp>
      <p:sp>
        <p:nvSpPr>
          <p:cNvPr id="13" name="Shape 11"/>
          <p:cNvSpPr/>
          <p:nvPr/>
        </p:nvSpPr>
        <p:spPr>
          <a:xfrm>
            <a:off x="758952" y="2514600"/>
            <a:ext cx="1975104" cy="3255264"/>
          </a:xfrm>
          <a:prstGeom prst="roundRect">
            <a:avLst>
              <a:gd name="adj" fmla="val 6481"/>
            </a:avLst>
          </a:prstGeom>
          <a:solidFill>
            <a:srgbClr val="121A24"/>
          </a:solidFill>
          <a:ln w="8890">
            <a:solidFill>
              <a:srgbClr val="263442"/>
            </a:solidFill>
            <a:prstDash val="solid"/>
          </a:ln>
        </p:spPr>
      </p:sp>
      <p:sp>
        <p:nvSpPr>
          <p:cNvPr id="14" name="Text 12"/>
          <p:cNvSpPr/>
          <p:nvPr/>
        </p:nvSpPr>
        <p:spPr>
          <a:xfrm>
            <a:off x="950976" y="2734056"/>
            <a:ext cx="1508760" cy="164592"/>
          </a:xfrm>
          <a:prstGeom prst="rect">
            <a:avLst/>
          </a:prstGeom>
          <a:noFill/>
          <a:ln/>
        </p:spPr>
        <p:txBody>
          <a:bodyPr wrap="square" lIns="0" tIns="0" rIns="0" bIns="0" rtlCol="0" anchor="ctr">
            <a:normAutofit/>
          </a:bodyPr>
          <a:lstStyle/>
          <a:p>
            <a:pPr indent="0" marL="0">
              <a:buNone/>
            </a:pPr>
            <a:r>
              <a:rPr lang="en-US" sz="900" b="1" dirty="0">
                <a:solidFill>
                  <a:srgbClr val="94A6B3"/>
                </a:solidFill>
                <a:latin typeface="Inter" pitchFamily="34" charset="0"/>
                <a:ea typeface="Inter" pitchFamily="34" charset="-122"/>
                <a:cs typeface="Inter" pitchFamily="34" charset="-120"/>
              </a:rPr>
              <a:t>WORKSPACE</a:t>
            </a:r>
            <a:endParaRPr lang="en-US" sz="900" dirty="0"/>
          </a:p>
        </p:txBody>
      </p:sp>
      <p:sp>
        <p:nvSpPr>
          <p:cNvPr id="15" name="Text 13"/>
          <p:cNvSpPr/>
          <p:nvPr/>
        </p:nvSpPr>
        <p:spPr>
          <a:xfrm>
            <a:off x="1033272" y="3218688"/>
            <a:ext cx="1371600" cy="155448"/>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Overview</a:t>
            </a:r>
            <a:endParaRPr lang="en-US" sz="1000" dirty="0"/>
          </a:p>
        </p:txBody>
      </p:sp>
      <p:sp>
        <p:nvSpPr>
          <p:cNvPr id="16" name="Shape 14"/>
          <p:cNvSpPr/>
          <p:nvPr/>
        </p:nvSpPr>
        <p:spPr>
          <a:xfrm>
            <a:off x="905256" y="3538728"/>
            <a:ext cx="1664208" cy="329184"/>
          </a:xfrm>
          <a:prstGeom prst="roundRect">
            <a:avLst>
              <a:gd name="adj" fmla="val 38889"/>
            </a:avLst>
          </a:prstGeom>
          <a:solidFill>
            <a:srgbClr val="1A2733"/>
          </a:solidFill>
          <a:ln w="8890">
            <a:solidFill>
              <a:srgbClr val="1A2733"/>
            </a:solidFill>
            <a:prstDash val="solid"/>
          </a:ln>
        </p:spPr>
      </p:sp>
      <p:sp>
        <p:nvSpPr>
          <p:cNvPr id="17" name="Text 15"/>
          <p:cNvSpPr/>
          <p:nvPr/>
        </p:nvSpPr>
        <p:spPr>
          <a:xfrm>
            <a:off x="1033272" y="3611880"/>
            <a:ext cx="1371600" cy="155448"/>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Strategies</a:t>
            </a:r>
            <a:endParaRPr lang="en-US" sz="1000" dirty="0"/>
          </a:p>
        </p:txBody>
      </p:sp>
      <p:sp>
        <p:nvSpPr>
          <p:cNvPr id="18" name="Text 16"/>
          <p:cNvSpPr/>
          <p:nvPr/>
        </p:nvSpPr>
        <p:spPr>
          <a:xfrm>
            <a:off x="1033272" y="4005072"/>
            <a:ext cx="1371600" cy="155448"/>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Experiments</a:t>
            </a:r>
            <a:endParaRPr lang="en-US" sz="1000" dirty="0"/>
          </a:p>
        </p:txBody>
      </p:sp>
      <p:sp>
        <p:nvSpPr>
          <p:cNvPr id="19" name="Text 17"/>
          <p:cNvSpPr/>
          <p:nvPr/>
        </p:nvSpPr>
        <p:spPr>
          <a:xfrm>
            <a:off x="1033272" y="4398264"/>
            <a:ext cx="1371600" cy="155448"/>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Datasets</a:t>
            </a:r>
            <a:endParaRPr lang="en-US" sz="1000" dirty="0"/>
          </a:p>
        </p:txBody>
      </p:sp>
      <p:sp>
        <p:nvSpPr>
          <p:cNvPr id="20" name="Text 18"/>
          <p:cNvSpPr/>
          <p:nvPr/>
        </p:nvSpPr>
        <p:spPr>
          <a:xfrm>
            <a:off x="1033272" y="4791456"/>
            <a:ext cx="1371600" cy="155448"/>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Reports</a:t>
            </a:r>
            <a:endParaRPr lang="en-US" sz="1000" dirty="0"/>
          </a:p>
        </p:txBody>
      </p:sp>
      <p:sp>
        <p:nvSpPr>
          <p:cNvPr id="21" name="Shape 19"/>
          <p:cNvSpPr/>
          <p:nvPr/>
        </p:nvSpPr>
        <p:spPr>
          <a:xfrm>
            <a:off x="2907792" y="2514600"/>
            <a:ext cx="5669280" cy="1956816"/>
          </a:xfrm>
          <a:prstGeom prst="roundRect">
            <a:avLst>
              <a:gd name="adj" fmla="val 6542"/>
            </a:avLst>
          </a:prstGeom>
          <a:solidFill>
            <a:srgbClr val="121A24"/>
          </a:solidFill>
          <a:ln w="8890">
            <a:solidFill>
              <a:srgbClr val="263442"/>
            </a:solidFill>
            <a:prstDash val="solid"/>
          </a:ln>
        </p:spPr>
      </p:sp>
      <p:sp>
        <p:nvSpPr>
          <p:cNvPr id="22" name="Text 20"/>
          <p:cNvSpPr/>
          <p:nvPr/>
        </p:nvSpPr>
        <p:spPr>
          <a:xfrm>
            <a:off x="3118104" y="2743200"/>
            <a:ext cx="4462272" cy="210312"/>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STRATEGY / NY OPEN BREAKOUT</a:t>
            </a:r>
            <a:endParaRPr lang="en-US" sz="1200" dirty="0"/>
          </a:p>
        </p:txBody>
      </p:sp>
      <p:sp>
        <p:nvSpPr>
          <p:cNvPr id="23" name="Shape 21"/>
          <p:cNvSpPr/>
          <p:nvPr/>
        </p:nvSpPr>
        <p:spPr>
          <a:xfrm>
            <a:off x="7104888" y="2706624"/>
            <a:ext cx="1207008" cy="265176"/>
          </a:xfrm>
          <a:prstGeom prst="roundRect">
            <a:avLst>
              <a:gd name="adj" fmla="val 27586"/>
            </a:avLst>
          </a:prstGeom>
          <a:solidFill>
            <a:srgbClr val="16212C"/>
          </a:solidFill>
          <a:ln w="6985">
            <a:solidFill>
              <a:srgbClr val="263442"/>
            </a:solidFill>
            <a:prstDash val="solid"/>
          </a:ln>
        </p:spPr>
      </p:sp>
      <p:sp>
        <p:nvSpPr>
          <p:cNvPr id="24" name="Text 22"/>
          <p:cNvSpPr/>
          <p:nvPr/>
        </p:nvSpPr>
        <p:spPr>
          <a:xfrm>
            <a:off x="7187184" y="2734056"/>
            <a:ext cx="1042416" cy="173736"/>
          </a:xfrm>
          <a:prstGeom prst="rect">
            <a:avLst/>
          </a:prstGeom>
          <a:noFill/>
          <a:ln/>
        </p:spPr>
        <p:txBody>
          <a:bodyPr wrap="square" lIns="0" tIns="0" rIns="0" bIns="0" rtlCol="0" anchor="ctr">
            <a:normAutofit/>
          </a:bodyPr>
          <a:lstStyle/>
          <a:p>
            <a:pPr indent="0" marL="0">
              <a:buNone/>
            </a:pPr>
            <a:r>
              <a:rPr lang="en-US" sz="800" b="1" spc="110" kern="0" dirty="0">
                <a:solidFill>
                  <a:srgbClr val="F1C479"/>
                </a:solidFill>
                <a:latin typeface="Inter" pitchFamily="34" charset="0"/>
                <a:ea typeface="Inter" pitchFamily="34" charset="-122"/>
                <a:cs typeface="Inter" pitchFamily="34" charset="-120"/>
              </a:rPr>
              <a:t>RESEARCH ONLY</a:t>
            </a:r>
            <a:endParaRPr lang="en-US" sz="800" dirty="0"/>
          </a:p>
        </p:txBody>
      </p:sp>
      <p:sp>
        <p:nvSpPr>
          <p:cNvPr id="25" name="Text 23"/>
          <p:cNvSpPr/>
          <p:nvPr/>
        </p:nvSpPr>
        <p:spPr>
          <a:xfrm>
            <a:off x="3127248" y="3209544"/>
            <a:ext cx="1005840" cy="164592"/>
          </a:xfrm>
          <a:prstGeom prst="rect">
            <a:avLst/>
          </a:prstGeom>
          <a:noFill/>
          <a:ln/>
        </p:spPr>
        <p:txBody>
          <a:bodyPr wrap="square" lIns="0" tIns="0" rIns="0" bIns="0" rtlCol="0" anchor="ctr">
            <a:normAutofit/>
          </a:bodyPr>
          <a:lstStyle/>
          <a:p>
            <a:pPr indent="0" marL="0">
              <a:buNone/>
            </a:pPr>
            <a:r>
              <a:rPr lang="en-US" sz="900" dirty="0">
                <a:solidFill>
                  <a:srgbClr val="94A6B3"/>
                </a:solidFill>
                <a:latin typeface="Inter" pitchFamily="34" charset="0"/>
                <a:ea typeface="Inter" pitchFamily="34" charset="-122"/>
                <a:cs typeface="Inter" pitchFamily="34" charset="-120"/>
              </a:rPr>
              <a:t>Net P&amp;L</a:t>
            </a:r>
            <a:endParaRPr lang="en-US" sz="900" dirty="0"/>
          </a:p>
        </p:txBody>
      </p:sp>
      <p:sp>
        <p:nvSpPr>
          <p:cNvPr id="26" name="Text 24"/>
          <p:cNvSpPr/>
          <p:nvPr/>
        </p:nvSpPr>
        <p:spPr>
          <a:xfrm>
            <a:off x="3127248" y="3410712"/>
            <a:ext cx="1426464" cy="301752"/>
          </a:xfrm>
          <a:prstGeom prst="rect">
            <a:avLst/>
          </a:prstGeom>
          <a:noFill/>
          <a:ln/>
        </p:spPr>
        <p:txBody>
          <a:bodyPr wrap="square" lIns="0" tIns="0" rIns="0" bIns="0" rtlCol="0" anchor="ctr">
            <a:normAutofit/>
          </a:bodyPr>
          <a:lstStyle/>
          <a:p>
            <a:pPr indent="0" marL="0">
              <a:buNone/>
            </a:pPr>
            <a:r>
              <a:rPr lang="en-US" sz="2100" b="1" dirty="0">
                <a:solidFill>
                  <a:srgbClr val="91DFC0"/>
                </a:solidFill>
                <a:latin typeface="Inter" pitchFamily="34" charset="0"/>
                <a:ea typeface="Inter" pitchFamily="34" charset="-122"/>
                <a:cs typeface="Inter" pitchFamily="34" charset="-120"/>
              </a:rPr>
              <a:t>+12.8%</a:t>
            </a:r>
            <a:endParaRPr lang="en-US" sz="2100" dirty="0"/>
          </a:p>
        </p:txBody>
      </p:sp>
      <p:sp>
        <p:nvSpPr>
          <p:cNvPr id="27" name="Text 25"/>
          <p:cNvSpPr/>
          <p:nvPr/>
        </p:nvSpPr>
        <p:spPr>
          <a:xfrm>
            <a:off x="4782312" y="3209544"/>
            <a:ext cx="1005840" cy="164592"/>
          </a:xfrm>
          <a:prstGeom prst="rect">
            <a:avLst/>
          </a:prstGeom>
          <a:noFill/>
          <a:ln/>
        </p:spPr>
        <p:txBody>
          <a:bodyPr wrap="square" lIns="0" tIns="0" rIns="0" bIns="0" rtlCol="0" anchor="ctr">
            <a:normAutofit/>
          </a:bodyPr>
          <a:lstStyle/>
          <a:p>
            <a:pPr indent="0" marL="0">
              <a:buNone/>
            </a:pPr>
            <a:r>
              <a:rPr lang="en-US" sz="900" dirty="0">
                <a:solidFill>
                  <a:srgbClr val="94A6B3"/>
                </a:solidFill>
                <a:latin typeface="Inter" pitchFamily="34" charset="0"/>
                <a:ea typeface="Inter" pitchFamily="34" charset="-122"/>
                <a:cs typeface="Inter" pitchFamily="34" charset="-120"/>
              </a:rPr>
              <a:t>MAX DD</a:t>
            </a:r>
            <a:endParaRPr lang="en-US" sz="900" dirty="0"/>
          </a:p>
        </p:txBody>
      </p:sp>
      <p:sp>
        <p:nvSpPr>
          <p:cNvPr id="28" name="Text 26"/>
          <p:cNvSpPr/>
          <p:nvPr/>
        </p:nvSpPr>
        <p:spPr>
          <a:xfrm>
            <a:off x="4782312" y="3410712"/>
            <a:ext cx="1188720" cy="301752"/>
          </a:xfrm>
          <a:prstGeom prst="rect">
            <a:avLst/>
          </a:prstGeom>
          <a:noFill/>
          <a:ln/>
        </p:spPr>
        <p:txBody>
          <a:bodyPr wrap="square" lIns="0" tIns="0" rIns="0" bIns="0" rtlCol="0" anchor="ctr">
            <a:normAutofit/>
          </a:bodyPr>
          <a:lstStyle/>
          <a:p>
            <a:pPr indent="0" marL="0">
              <a:buNone/>
            </a:pPr>
            <a:r>
              <a:rPr lang="en-US" sz="2100" b="1" dirty="0">
                <a:solidFill>
                  <a:srgbClr val="EDF5F7"/>
                </a:solidFill>
                <a:latin typeface="Inter" pitchFamily="34" charset="0"/>
                <a:ea typeface="Inter" pitchFamily="34" charset="-122"/>
                <a:cs typeface="Inter" pitchFamily="34" charset="-120"/>
              </a:rPr>
              <a:t>−9.3%</a:t>
            </a:r>
            <a:endParaRPr lang="en-US" sz="2100" dirty="0"/>
          </a:p>
        </p:txBody>
      </p:sp>
      <p:sp>
        <p:nvSpPr>
          <p:cNvPr id="29" name="Text 27"/>
          <p:cNvSpPr/>
          <p:nvPr/>
        </p:nvSpPr>
        <p:spPr>
          <a:xfrm>
            <a:off x="6446520" y="3209544"/>
            <a:ext cx="1005840" cy="164592"/>
          </a:xfrm>
          <a:prstGeom prst="rect">
            <a:avLst/>
          </a:prstGeom>
          <a:noFill/>
          <a:ln/>
        </p:spPr>
        <p:txBody>
          <a:bodyPr wrap="square" lIns="0" tIns="0" rIns="0" bIns="0" rtlCol="0" anchor="ctr">
            <a:normAutofit/>
          </a:bodyPr>
          <a:lstStyle/>
          <a:p>
            <a:pPr indent="0" marL="0">
              <a:buNone/>
            </a:pPr>
            <a:r>
              <a:rPr lang="en-US" sz="900" dirty="0">
                <a:solidFill>
                  <a:srgbClr val="94A6B3"/>
                </a:solidFill>
                <a:latin typeface="Inter" pitchFamily="34" charset="0"/>
                <a:ea typeface="Inter" pitchFamily="34" charset="-122"/>
                <a:cs typeface="Inter" pitchFamily="34" charset="-120"/>
              </a:rPr>
              <a:t>OOS</a:t>
            </a:r>
            <a:endParaRPr lang="en-US" sz="900" dirty="0"/>
          </a:p>
        </p:txBody>
      </p:sp>
      <p:sp>
        <p:nvSpPr>
          <p:cNvPr id="30" name="Text 28"/>
          <p:cNvSpPr/>
          <p:nvPr/>
        </p:nvSpPr>
        <p:spPr>
          <a:xfrm>
            <a:off x="6446520" y="3410712"/>
            <a:ext cx="1152144" cy="301752"/>
          </a:xfrm>
          <a:prstGeom prst="rect">
            <a:avLst/>
          </a:prstGeom>
          <a:noFill/>
          <a:ln/>
        </p:spPr>
        <p:txBody>
          <a:bodyPr wrap="square" lIns="0" tIns="0" rIns="0" bIns="0" rtlCol="0" anchor="ctr">
            <a:normAutofit/>
          </a:bodyPr>
          <a:lstStyle/>
          <a:p>
            <a:pPr indent="0" marL="0">
              <a:buNone/>
            </a:pPr>
            <a:r>
              <a:rPr lang="en-US" sz="2100" b="1" dirty="0">
                <a:solidFill>
                  <a:srgbClr val="F1C479"/>
                </a:solidFill>
                <a:latin typeface="Inter" pitchFamily="34" charset="0"/>
                <a:ea typeface="Inter" pitchFamily="34" charset="-122"/>
                <a:cs typeface="Inter" pitchFamily="34" charset="-120"/>
              </a:rPr>
              <a:t>WEAK</a:t>
            </a:r>
            <a:endParaRPr lang="en-US" sz="2100" dirty="0"/>
          </a:p>
        </p:txBody>
      </p:sp>
      <p:sp>
        <p:nvSpPr>
          <p:cNvPr id="31" name="Shape 29"/>
          <p:cNvSpPr/>
          <p:nvPr/>
        </p:nvSpPr>
        <p:spPr>
          <a:xfrm>
            <a:off x="3145536" y="4181094"/>
            <a:ext cx="297180" cy="-25146"/>
          </a:xfrm>
          <a:prstGeom prst="line">
            <a:avLst/>
          </a:prstGeom>
          <a:noFill/>
          <a:ln w="25400">
            <a:solidFill>
              <a:srgbClr val="69DDCF"/>
            </a:solidFill>
            <a:prstDash val="solid"/>
          </a:ln>
        </p:spPr>
      </p:sp>
      <p:sp>
        <p:nvSpPr>
          <p:cNvPr id="32" name="Shape 30"/>
          <p:cNvSpPr/>
          <p:nvPr/>
        </p:nvSpPr>
        <p:spPr>
          <a:xfrm>
            <a:off x="3442716" y="4155948"/>
            <a:ext cx="297180" cy="50292"/>
          </a:xfrm>
          <a:prstGeom prst="line">
            <a:avLst/>
          </a:prstGeom>
          <a:noFill/>
          <a:ln w="25400">
            <a:solidFill>
              <a:srgbClr val="69DDCF"/>
            </a:solidFill>
            <a:prstDash val="solid"/>
          </a:ln>
        </p:spPr>
      </p:sp>
      <p:sp>
        <p:nvSpPr>
          <p:cNvPr id="33" name="Shape 31"/>
          <p:cNvSpPr/>
          <p:nvPr/>
        </p:nvSpPr>
        <p:spPr>
          <a:xfrm>
            <a:off x="3739896" y="4206240"/>
            <a:ext cx="297180" cy="-75438"/>
          </a:xfrm>
          <a:prstGeom prst="line">
            <a:avLst/>
          </a:prstGeom>
          <a:noFill/>
          <a:ln w="25400">
            <a:solidFill>
              <a:srgbClr val="69DDCF"/>
            </a:solidFill>
            <a:prstDash val="solid"/>
          </a:ln>
        </p:spPr>
      </p:sp>
      <p:sp>
        <p:nvSpPr>
          <p:cNvPr id="34" name="Shape 32"/>
          <p:cNvSpPr/>
          <p:nvPr/>
        </p:nvSpPr>
        <p:spPr>
          <a:xfrm>
            <a:off x="4037076" y="4130802"/>
            <a:ext cx="297180" cy="20117"/>
          </a:xfrm>
          <a:prstGeom prst="line">
            <a:avLst/>
          </a:prstGeom>
          <a:noFill/>
          <a:ln w="25400">
            <a:solidFill>
              <a:srgbClr val="69DDCF"/>
            </a:solidFill>
            <a:prstDash val="solid"/>
          </a:ln>
        </p:spPr>
      </p:sp>
      <p:sp>
        <p:nvSpPr>
          <p:cNvPr id="35" name="Shape 33"/>
          <p:cNvSpPr/>
          <p:nvPr/>
        </p:nvSpPr>
        <p:spPr>
          <a:xfrm>
            <a:off x="4334256" y="4150919"/>
            <a:ext cx="297180" cy="-30175"/>
          </a:xfrm>
          <a:prstGeom prst="line">
            <a:avLst/>
          </a:prstGeom>
          <a:noFill/>
          <a:ln w="25400">
            <a:solidFill>
              <a:srgbClr val="69DDCF"/>
            </a:solidFill>
            <a:prstDash val="solid"/>
          </a:ln>
        </p:spPr>
      </p:sp>
      <p:sp>
        <p:nvSpPr>
          <p:cNvPr id="36" name="Shape 34"/>
          <p:cNvSpPr/>
          <p:nvPr/>
        </p:nvSpPr>
        <p:spPr>
          <a:xfrm>
            <a:off x="4631436" y="4120744"/>
            <a:ext cx="297180" cy="45263"/>
          </a:xfrm>
          <a:prstGeom prst="line">
            <a:avLst/>
          </a:prstGeom>
          <a:noFill/>
          <a:ln w="25400">
            <a:solidFill>
              <a:srgbClr val="69DDCF"/>
            </a:solidFill>
            <a:prstDash val="solid"/>
          </a:ln>
        </p:spPr>
      </p:sp>
      <p:sp>
        <p:nvSpPr>
          <p:cNvPr id="37" name="Shape 35"/>
          <p:cNvSpPr/>
          <p:nvPr/>
        </p:nvSpPr>
        <p:spPr>
          <a:xfrm>
            <a:off x="4928616" y="4166006"/>
            <a:ext cx="297180" cy="-85496"/>
          </a:xfrm>
          <a:prstGeom prst="line">
            <a:avLst/>
          </a:prstGeom>
          <a:noFill/>
          <a:ln w="25400">
            <a:solidFill>
              <a:srgbClr val="69DDCF"/>
            </a:solidFill>
            <a:prstDash val="solid"/>
          </a:ln>
        </p:spPr>
      </p:sp>
      <p:sp>
        <p:nvSpPr>
          <p:cNvPr id="38" name="Shape 36"/>
          <p:cNvSpPr/>
          <p:nvPr/>
        </p:nvSpPr>
        <p:spPr>
          <a:xfrm>
            <a:off x="5225796" y="4080510"/>
            <a:ext cx="297180" cy="20117"/>
          </a:xfrm>
          <a:prstGeom prst="line">
            <a:avLst/>
          </a:prstGeom>
          <a:noFill/>
          <a:ln w="25400">
            <a:solidFill>
              <a:srgbClr val="69DDCF"/>
            </a:solidFill>
            <a:prstDash val="solid"/>
          </a:ln>
        </p:spPr>
      </p:sp>
      <p:sp>
        <p:nvSpPr>
          <p:cNvPr id="39" name="Shape 37"/>
          <p:cNvSpPr/>
          <p:nvPr/>
        </p:nvSpPr>
        <p:spPr>
          <a:xfrm>
            <a:off x="5522976" y="4100627"/>
            <a:ext cx="297180" cy="-35204"/>
          </a:xfrm>
          <a:prstGeom prst="line">
            <a:avLst/>
          </a:prstGeom>
          <a:noFill/>
          <a:ln w="25400">
            <a:solidFill>
              <a:srgbClr val="69DDCF"/>
            </a:solidFill>
            <a:prstDash val="solid"/>
          </a:ln>
        </p:spPr>
      </p:sp>
      <p:sp>
        <p:nvSpPr>
          <p:cNvPr id="40" name="Shape 38"/>
          <p:cNvSpPr/>
          <p:nvPr/>
        </p:nvSpPr>
        <p:spPr>
          <a:xfrm>
            <a:off x="5820156" y="4065422"/>
            <a:ext cx="297180" cy="25146"/>
          </a:xfrm>
          <a:prstGeom prst="line">
            <a:avLst/>
          </a:prstGeom>
          <a:noFill/>
          <a:ln w="25400">
            <a:solidFill>
              <a:srgbClr val="69DDCF"/>
            </a:solidFill>
            <a:prstDash val="solid"/>
          </a:ln>
        </p:spPr>
      </p:sp>
      <p:sp>
        <p:nvSpPr>
          <p:cNvPr id="41" name="Shape 39"/>
          <p:cNvSpPr/>
          <p:nvPr/>
        </p:nvSpPr>
        <p:spPr>
          <a:xfrm>
            <a:off x="6117336" y="4090568"/>
            <a:ext cx="297180" cy="-50292"/>
          </a:xfrm>
          <a:prstGeom prst="line">
            <a:avLst/>
          </a:prstGeom>
          <a:noFill/>
          <a:ln w="25400">
            <a:solidFill>
              <a:srgbClr val="69DDCF"/>
            </a:solidFill>
            <a:prstDash val="solid"/>
          </a:ln>
        </p:spPr>
      </p:sp>
      <p:sp>
        <p:nvSpPr>
          <p:cNvPr id="42" name="Shape 40"/>
          <p:cNvSpPr/>
          <p:nvPr/>
        </p:nvSpPr>
        <p:spPr>
          <a:xfrm>
            <a:off x="6414516" y="4040276"/>
            <a:ext cx="297180" cy="15088"/>
          </a:xfrm>
          <a:prstGeom prst="line">
            <a:avLst/>
          </a:prstGeom>
          <a:noFill/>
          <a:ln w="25400">
            <a:solidFill>
              <a:srgbClr val="69DDCF"/>
            </a:solidFill>
            <a:prstDash val="solid"/>
          </a:ln>
        </p:spPr>
      </p:sp>
      <p:sp>
        <p:nvSpPr>
          <p:cNvPr id="43" name="Shape 41"/>
          <p:cNvSpPr/>
          <p:nvPr/>
        </p:nvSpPr>
        <p:spPr>
          <a:xfrm>
            <a:off x="6711696" y="4055364"/>
            <a:ext cx="297180" cy="-40234"/>
          </a:xfrm>
          <a:prstGeom prst="line">
            <a:avLst/>
          </a:prstGeom>
          <a:noFill/>
          <a:ln w="25400">
            <a:solidFill>
              <a:srgbClr val="69DDCF"/>
            </a:solidFill>
            <a:prstDash val="solid"/>
          </a:ln>
        </p:spPr>
      </p:sp>
      <p:sp>
        <p:nvSpPr>
          <p:cNvPr id="44" name="Shape 42"/>
          <p:cNvSpPr/>
          <p:nvPr/>
        </p:nvSpPr>
        <p:spPr>
          <a:xfrm>
            <a:off x="7008876" y="4015130"/>
            <a:ext cx="297180" cy="15088"/>
          </a:xfrm>
          <a:prstGeom prst="line">
            <a:avLst/>
          </a:prstGeom>
          <a:noFill/>
          <a:ln w="25400">
            <a:solidFill>
              <a:srgbClr val="69DDCF"/>
            </a:solidFill>
            <a:prstDash val="solid"/>
          </a:ln>
        </p:spPr>
      </p:sp>
      <p:sp>
        <p:nvSpPr>
          <p:cNvPr id="45" name="Shape 43"/>
          <p:cNvSpPr/>
          <p:nvPr/>
        </p:nvSpPr>
        <p:spPr>
          <a:xfrm>
            <a:off x="7306056" y="4030218"/>
            <a:ext cx="297180" cy="-55321"/>
          </a:xfrm>
          <a:prstGeom prst="line">
            <a:avLst/>
          </a:prstGeom>
          <a:noFill/>
          <a:ln w="25400">
            <a:solidFill>
              <a:srgbClr val="69DDCF"/>
            </a:solidFill>
            <a:prstDash val="solid"/>
          </a:ln>
        </p:spPr>
      </p:sp>
      <p:sp>
        <p:nvSpPr>
          <p:cNvPr id="46" name="Shape 44"/>
          <p:cNvSpPr/>
          <p:nvPr/>
        </p:nvSpPr>
        <p:spPr>
          <a:xfrm>
            <a:off x="7603236" y="3974897"/>
            <a:ext cx="297180" cy="40234"/>
          </a:xfrm>
          <a:prstGeom prst="line">
            <a:avLst/>
          </a:prstGeom>
          <a:noFill/>
          <a:ln w="25400">
            <a:solidFill>
              <a:srgbClr val="69DDCF"/>
            </a:solidFill>
            <a:prstDash val="solid"/>
          </a:ln>
        </p:spPr>
      </p:sp>
      <p:sp>
        <p:nvSpPr>
          <p:cNvPr id="47" name="Shape 45"/>
          <p:cNvSpPr/>
          <p:nvPr/>
        </p:nvSpPr>
        <p:spPr>
          <a:xfrm>
            <a:off x="7900416" y="4015130"/>
            <a:ext cx="297180" cy="-60350"/>
          </a:xfrm>
          <a:prstGeom prst="line">
            <a:avLst/>
          </a:prstGeom>
          <a:noFill/>
          <a:ln w="25400">
            <a:solidFill>
              <a:srgbClr val="69DDCF"/>
            </a:solidFill>
            <a:prstDash val="solid"/>
          </a:ln>
        </p:spPr>
      </p:sp>
      <p:sp>
        <p:nvSpPr>
          <p:cNvPr id="48" name="Shape 46"/>
          <p:cNvSpPr/>
          <p:nvPr/>
        </p:nvSpPr>
        <p:spPr>
          <a:xfrm>
            <a:off x="8769096" y="2514600"/>
            <a:ext cx="2596896" cy="3255264"/>
          </a:xfrm>
          <a:prstGeom prst="roundRect">
            <a:avLst>
              <a:gd name="adj" fmla="val 4930"/>
            </a:avLst>
          </a:prstGeom>
          <a:solidFill>
            <a:srgbClr val="121A24"/>
          </a:solidFill>
          <a:ln w="8890">
            <a:solidFill>
              <a:srgbClr val="263442"/>
            </a:solidFill>
            <a:prstDash val="solid"/>
          </a:ln>
        </p:spPr>
      </p:sp>
      <p:sp>
        <p:nvSpPr>
          <p:cNvPr id="49" name="Text 47"/>
          <p:cNvSpPr/>
          <p:nvPr/>
        </p:nvSpPr>
        <p:spPr>
          <a:xfrm>
            <a:off x="8961120" y="2734056"/>
            <a:ext cx="2231136" cy="173736"/>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JARVIS ASSESSMENT</a:t>
            </a:r>
            <a:endParaRPr lang="en-US" sz="1000" dirty="0"/>
          </a:p>
        </p:txBody>
      </p:sp>
      <p:sp>
        <p:nvSpPr>
          <p:cNvPr id="50" name="Shape 48"/>
          <p:cNvSpPr/>
          <p:nvPr/>
        </p:nvSpPr>
        <p:spPr>
          <a:xfrm>
            <a:off x="8961120" y="3090672"/>
            <a:ext cx="1371600" cy="265176"/>
          </a:xfrm>
          <a:prstGeom prst="roundRect">
            <a:avLst>
              <a:gd name="adj" fmla="val 27586"/>
            </a:avLst>
          </a:prstGeom>
          <a:solidFill>
            <a:srgbClr val="16212C"/>
          </a:solidFill>
          <a:ln w="6985">
            <a:solidFill>
              <a:srgbClr val="263442"/>
            </a:solidFill>
            <a:prstDash val="solid"/>
          </a:ln>
        </p:spPr>
      </p:sp>
      <p:sp>
        <p:nvSpPr>
          <p:cNvPr id="51" name="Text 49"/>
          <p:cNvSpPr/>
          <p:nvPr/>
        </p:nvSpPr>
        <p:spPr>
          <a:xfrm>
            <a:off x="9043416" y="3118104"/>
            <a:ext cx="1207008" cy="173736"/>
          </a:xfrm>
          <a:prstGeom prst="rect">
            <a:avLst/>
          </a:prstGeom>
          <a:noFill/>
          <a:ln/>
        </p:spPr>
        <p:txBody>
          <a:bodyPr wrap="square" lIns="0" tIns="0" rIns="0" bIns="0" rtlCol="0" anchor="ctr">
            <a:normAutofit/>
          </a:bodyPr>
          <a:lstStyle/>
          <a:p>
            <a:pPr indent="0" marL="0">
              <a:buNone/>
            </a:pPr>
            <a:r>
              <a:rPr lang="en-US" sz="800" b="1" spc="110" kern="0" dirty="0">
                <a:solidFill>
                  <a:srgbClr val="F1C479"/>
                </a:solidFill>
                <a:latin typeface="Inter" pitchFamily="34" charset="0"/>
                <a:ea typeface="Inter" pitchFamily="34" charset="-122"/>
                <a:cs typeface="Inter" pitchFamily="34" charset="-120"/>
              </a:rPr>
              <a:t>INCONCLUSIVE</a:t>
            </a:r>
            <a:endParaRPr lang="en-US" sz="800" dirty="0"/>
          </a:p>
        </p:txBody>
      </p:sp>
      <p:sp>
        <p:nvSpPr>
          <p:cNvPr id="52" name="Text 50"/>
          <p:cNvSpPr/>
          <p:nvPr/>
        </p:nvSpPr>
        <p:spPr>
          <a:xfrm>
            <a:off x="8961120" y="3621024"/>
            <a:ext cx="2130552" cy="1133856"/>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Der Vorteil verschwindet in mehreren Out-of-Sample-Phasen. Noch nicht für Paper Trading freigeben.</a:t>
            </a:r>
            <a:endParaRPr lang="en-US" sz="1200" dirty="0"/>
          </a:p>
        </p:txBody>
      </p:sp>
      <p:sp>
        <p:nvSpPr>
          <p:cNvPr id="53" name="Text 51"/>
          <p:cNvSpPr/>
          <p:nvPr/>
        </p:nvSpPr>
        <p:spPr>
          <a:xfrm>
            <a:off x="8961120" y="5285232"/>
            <a:ext cx="2093976" cy="182880"/>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VIEW EVIDENCE  ↗</a:t>
            </a:r>
            <a:endParaRPr lang="en-US" sz="900" dirty="0"/>
          </a:p>
        </p:txBody>
      </p:sp>
      <p:sp>
        <p:nvSpPr>
          <p:cNvPr id="54" name="Shape 52"/>
          <p:cNvSpPr/>
          <p:nvPr/>
        </p:nvSpPr>
        <p:spPr>
          <a:xfrm>
            <a:off x="2907792" y="4663440"/>
            <a:ext cx="5669280" cy="1097280"/>
          </a:xfrm>
          <a:prstGeom prst="roundRect">
            <a:avLst>
              <a:gd name="adj" fmla="val 11667"/>
            </a:avLst>
          </a:prstGeom>
          <a:solidFill>
            <a:srgbClr val="121A24"/>
          </a:solidFill>
          <a:ln w="8890">
            <a:solidFill>
              <a:srgbClr val="263442"/>
            </a:solidFill>
            <a:prstDash val="solid"/>
          </a:ln>
        </p:spPr>
      </p:sp>
      <p:sp>
        <p:nvSpPr>
          <p:cNvPr id="55" name="Text 53"/>
          <p:cNvSpPr/>
          <p:nvPr/>
        </p:nvSpPr>
        <p:spPr>
          <a:xfrm>
            <a:off x="3136392" y="4873752"/>
            <a:ext cx="4114800" cy="146304"/>
          </a:xfrm>
          <a:prstGeom prst="rect">
            <a:avLst/>
          </a:prstGeom>
          <a:noFill/>
          <a:ln/>
        </p:spPr>
        <p:txBody>
          <a:bodyPr wrap="square" lIns="0" tIns="0" rIns="0" bIns="0" rtlCol="0" anchor="ctr">
            <a:normAutofit/>
          </a:bodyPr>
          <a:lstStyle/>
          <a:p>
            <a:pPr indent="0" marL="0">
              <a:buNone/>
            </a:pPr>
            <a:r>
              <a:rPr lang="en-US" sz="900" b="1" dirty="0">
                <a:solidFill>
                  <a:srgbClr val="94A6B3"/>
                </a:solidFill>
                <a:latin typeface="Inter" pitchFamily="34" charset="0"/>
                <a:ea typeface="Inter" pitchFamily="34" charset="-122"/>
                <a:cs typeface="Inter" pitchFamily="34" charset="-120"/>
              </a:rPr>
              <a:t>COMMAND JARVIS</a:t>
            </a:r>
            <a:endParaRPr lang="en-US" sz="900" dirty="0"/>
          </a:p>
        </p:txBody>
      </p:sp>
      <p:sp>
        <p:nvSpPr>
          <p:cNvPr id="56" name="Text 54"/>
          <p:cNvSpPr/>
          <p:nvPr/>
        </p:nvSpPr>
        <p:spPr>
          <a:xfrm>
            <a:off x="3136392" y="5184648"/>
            <a:ext cx="4974336" cy="310896"/>
          </a:xfrm>
          <a:prstGeom prst="rect">
            <a:avLst/>
          </a:prstGeom>
          <a:noFill/>
          <a:ln/>
        </p:spPr>
        <p:txBody>
          <a:bodyPr wrap="square" lIns="0" tIns="0" rIns="0" bIns="0" rtlCol="0" anchor="ctr">
            <a:normAutofit/>
          </a:bodyPr>
          <a:lstStyle/>
          <a:p>
            <a:pPr indent="0" marL="0">
              <a:buNone/>
            </a:pPr>
            <a:r>
              <a:rPr lang="en-US" sz="1300" dirty="0">
                <a:solidFill>
                  <a:srgbClr val="EDF5F7"/>
                </a:solidFill>
                <a:latin typeface="Inter" pitchFamily="34" charset="0"/>
                <a:ea typeface="Inter" pitchFamily="34" charset="-122"/>
                <a:cs typeface="Inter" pitchFamily="34" charset="-120"/>
              </a:rPr>
              <a:t>„Teste denselben Ansatz mit 2× Slippage.“</a:t>
            </a:r>
            <a:endParaRPr lang="en-US" sz="1300" dirty="0"/>
          </a:p>
        </p:txBody>
      </p:sp>
      <p:sp>
        <p:nvSpPr>
          <p:cNvPr id="57" name="Text 55"/>
          <p:cNvSpPr/>
          <p:nvPr/>
        </p:nvSpPr>
        <p:spPr>
          <a:xfrm>
            <a:off x="566928" y="6291072"/>
            <a:ext cx="10972800" cy="128016"/>
          </a:xfrm>
          <a:prstGeom prst="rect">
            <a:avLst/>
          </a:prstGeom>
          <a:noFill/>
          <a:ln/>
        </p:spPr>
        <p:txBody>
          <a:bodyPr wrap="square" lIns="0" tIns="0" rIns="0" bIns="0" rtlCol="0" anchor="ctr">
            <a:normAutofit/>
          </a:bodyPr>
          <a:lstStyle/>
          <a:p>
            <a:pPr indent="0" marL="0">
              <a:buNone/>
            </a:pPr>
            <a:r>
              <a:rPr lang="en-US" sz="700" dirty="0">
                <a:solidFill>
                  <a:srgbClr val="607584"/>
                </a:solidFill>
                <a:latin typeface="Inter" pitchFamily="34" charset="0"/>
                <a:ea typeface="Inter" pitchFamily="34" charset="-122"/>
                <a:cs typeface="Inter" pitchFamily="34" charset="-120"/>
              </a:rPr>
              <a:t>Alle Zahlen und Kurven auf dieser Folie sind reine Illustrationen – keine echten Backtests.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STRATEGY ARCHITECT</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06</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05 / UX FLOW</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Freitext wird zur überprüfbaren Strategie</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KI schreibt nicht einfach Code – sie erstellt einen expliziten Handelsvertrag.</a:t>
            </a:r>
            <a:endParaRPr lang="en-US" sz="1300" dirty="0"/>
          </a:p>
        </p:txBody>
      </p:sp>
      <p:sp>
        <p:nvSpPr>
          <p:cNvPr id="12" name="Shape 10"/>
          <p:cNvSpPr/>
          <p:nvPr/>
        </p:nvSpPr>
        <p:spPr>
          <a:xfrm>
            <a:off x="612648" y="2459736"/>
            <a:ext cx="5074920" cy="3227832"/>
          </a:xfrm>
          <a:prstGeom prst="roundRect">
            <a:avLst>
              <a:gd name="adj" fmla="val 3966"/>
            </a:avLst>
          </a:prstGeom>
          <a:solidFill>
            <a:srgbClr val="121A24"/>
          </a:solidFill>
          <a:ln w="8890">
            <a:solidFill>
              <a:srgbClr val="263442"/>
            </a:solidFill>
            <a:prstDash val="solid"/>
          </a:ln>
        </p:spPr>
      </p:sp>
      <p:sp>
        <p:nvSpPr>
          <p:cNvPr id="13" name="Text 11"/>
          <p:cNvSpPr/>
          <p:nvPr/>
        </p:nvSpPr>
        <p:spPr>
          <a:xfrm>
            <a:off x="832104" y="2688336"/>
            <a:ext cx="2286000" cy="16459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YOU → JARVIS</a:t>
            </a:r>
            <a:endParaRPr lang="en-US" sz="1000" dirty="0"/>
          </a:p>
        </p:txBody>
      </p:sp>
      <p:sp>
        <p:nvSpPr>
          <p:cNvPr id="14" name="Text 12"/>
          <p:cNvSpPr/>
          <p:nvPr/>
        </p:nvSpPr>
        <p:spPr>
          <a:xfrm>
            <a:off x="841248" y="3172968"/>
            <a:ext cx="4526280" cy="978408"/>
          </a:xfrm>
          <a:prstGeom prst="rect">
            <a:avLst/>
          </a:prstGeom>
          <a:noFill/>
          <a:ln/>
        </p:spPr>
        <p:txBody>
          <a:bodyPr wrap="square" lIns="0" tIns="0" rIns="0" bIns="0" rtlCol="0" anchor="ctr">
            <a:normAutofit/>
          </a:bodyPr>
          <a:lstStyle/>
          <a:p>
            <a:pPr indent="0" marL="0">
              <a:buNone/>
            </a:pPr>
            <a:r>
              <a:rPr lang="en-US" sz="1900" dirty="0">
                <a:solidFill>
                  <a:srgbClr val="EDF5F7"/>
                </a:solidFill>
                <a:latin typeface="Inter" pitchFamily="34" charset="0"/>
                <a:ea typeface="Inter" pitchFamily="34" charset="-122"/>
                <a:cs typeface="Inter" pitchFamily="34" charset="-120"/>
              </a:rPr>
              <a:t>„Wenn die ersten 15 Minuten nach New York Open gebrochen werden, gehe mit dem Trend rein. 2R Target.“</a:t>
            </a:r>
            <a:endParaRPr lang="en-US" sz="1900" dirty="0"/>
          </a:p>
        </p:txBody>
      </p:sp>
      <p:sp>
        <p:nvSpPr>
          <p:cNvPr id="15" name="Shape 13"/>
          <p:cNvSpPr/>
          <p:nvPr/>
        </p:nvSpPr>
        <p:spPr>
          <a:xfrm>
            <a:off x="850392" y="5029200"/>
            <a:ext cx="1874520" cy="265176"/>
          </a:xfrm>
          <a:prstGeom prst="roundRect">
            <a:avLst>
              <a:gd name="adj" fmla="val 27586"/>
            </a:avLst>
          </a:prstGeom>
          <a:solidFill>
            <a:srgbClr val="16212C"/>
          </a:solidFill>
          <a:ln w="6985">
            <a:solidFill>
              <a:srgbClr val="263442"/>
            </a:solidFill>
            <a:prstDash val="solid"/>
          </a:ln>
        </p:spPr>
      </p:sp>
      <p:sp>
        <p:nvSpPr>
          <p:cNvPr id="16" name="Text 14"/>
          <p:cNvSpPr/>
          <p:nvPr/>
        </p:nvSpPr>
        <p:spPr>
          <a:xfrm>
            <a:off x="932688" y="5056632"/>
            <a:ext cx="1709928" cy="173736"/>
          </a:xfrm>
          <a:prstGeom prst="rect">
            <a:avLst/>
          </a:prstGeom>
          <a:noFill/>
          <a:ln/>
        </p:spPr>
        <p:txBody>
          <a:bodyPr wrap="square" lIns="0" tIns="0" rIns="0" bIns="0" rtlCol="0" anchor="ctr">
            <a:normAutofit/>
          </a:bodyPr>
          <a:lstStyle/>
          <a:p>
            <a:pPr indent="0" marL="0">
              <a:buNone/>
            </a:pPr>
            <a:r>
              <a:rPr lang="en-US" sz="800" b="1" spc="110" kern="0" dirty="0">
                <a:solidFill>
                  <a:srgbClr val="F1C479"/>
                </a:solidFill>
                <a:latin typeface="Inter" pitchFamily="34" charset="0"/>
                <a:ea typeface="Inter" pitchFamily="34" charset="-122"/>
                <a:cs typeface="Inter" pitchFamily="34" charset="-120"/>
              </a:rPr>
              <a:t>UNSTRUCTURED IDEA</a:t>
            </a:r>
            <a:endParaRPr lang="en-US" sz="800" dirty="0"/>
          </a:p>
        </p:txBody>
      </p:sp>
      <p:sp>
        <p:nvSpPr>
          <p:cNvPr id="17" name="Shape 15"/>
          <p:cNvSpPr/>
          <p:nvPr/>
        </p:nvSpPr>
        <p:spPr>
          <a:xfrm>
            <a:off x="5833872" y="3986784"/>
            <a:ext cx="475488" cy="0"/>
          </a:xfrm>
          <a:prstGeom prst="line">
            <a:avLst/>
          </a:prstGeom>
          <a:noFill/>
          <a:ln w="21590">
            <a:solidFill>
              <a:srgbClr val="69DDCF"/>
            </a:solidFill>
            <a:prstDash val="solid"/>
            <a:tailEnd type="triangle"/>
          </a:ln>
        </p:spPr>
      </p:sp>
      <p:sp>
        <p:nvSpPr>
          <p:cNvPr id="18" name="Shape 16"/>
          <p:cNvSpPr/>
          <p:nvPr/>
        </p:nvSpPr>
        <p:spPr>
          <a:xfrm>
            <a:off x="6510528" y="2459736"/>
            <a:ext cx="5074920" cy="3227832"/>
          </a:xfrm>
          <a:prstGeom prst="roundRect">
            <a:avLst>
              <a:gd name="adj" fmla="val 3966"/>
            </a:avLst>
          </a:prstGeom>
          <a:solidFill>
            <a:srgbClr val="16212C"/>
          </a:solidFill>
          <a:ln w="8890">
            <a:solidFill>
              <a:srgbClr val="263442"/>
            </a:solidFill>
            <a:prstDash val="solid"/>
          </a:ln>
        </p:spPr>
      </p:sp>
      <p:sp>
        <p:nvSpPr>
          <p:cNvPr id="19" name="Text 17"/>
          <p:cNvSpPr/>
          <p:nvPr/>
        </p:nvSpPr>
        <p:spPr>
          <a:xfrm>
            <a:off x="6729984" y="2688336"/>
            <a:ext cx="4471416" cy="16459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STRATEGY SPEC v0.1</a:t>
            </a:r>
            <a:endParaRPr lang="en-US" sz="1000" dirty="0"/>
          </a:p>
        </p:txBody>
      </p:sp>
      <p:sp>
        <p:nvSpPr>
          <p:cNvPr id="20" name="Text 18"/>
          <p:cNvSpPr/>
          <p:nvPr/>
        </p:nvSpPr>
        <p:spPr>
          <a:xfrm>
            <a:off x="6739128" y="3081528"/>
            <a:ext cx="1143000" cy="164592"/>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Instrument</a:t>
            </a:r>
            <a:endParaRPr lang="en-US" sz="1000" dirty="0"/>
          </a:p>
        </p:txBody>
      </p:sp>
      <p:sp>
        <p:nvSpPr>
          <p:cNvPr id="21" name="Text 19"/>
          <p:cNvSpPr/>
          <p:nvPr/>
        </p:nvSpPr>
        <p:spPr>
          <a:xfrm>
            <a:off x="8019288" y="3081528"/>
            <a:ext cx="3310128" cy="210312"/>
          </a:xfrm>
          <a:prstGeom prst="rect">
            <a:avLst/>
          </a:prstGeom>
          <a:noFill/>
          <a:ln/>
        </p:spPr>
        <p:txBody>
          <a:bodyPr wrap="square" lIns="0" tIns="0" rIns="0" bIns="0" rtlCol="0" anchor="ctr">
            <a:normAutofit/>
          </a:bodyPr>
          <a:lstStyle/>
          <a:p>
            <a:pPr indent="0" marL="0">
              <a:buNone/>
            </a:pPr>
            <a:r>
              <a:rPr lang="en-US" sz="1000" dirty="0">
                <a:solidFill>
                  <a:srgbClr val="F1C479"/>
                </a:solidFill>
                <a:latin typeface="Inter" pitchFamily="34" charset="0"/>
                <a:ea typeface="Inter" pitchFamily="34" charset="-122"/>
                <a:cs typeface="Inter" pitchFamily="34" charset="-120"/>
              </a:rPr>
              <a:t>NQ front month (?)</a:t>
            </a:r>
            <a:endParaRPr lang="en-US" sz="1000" dirty="0"/>
          </a:p>
        </p:txBody>
      </p:sp>
      <p:sp>
        <p:nvSpPr>
          <p:cNvPr id="22" name="Text 20"/>
          <p:cNvSpPr/>
          <p:nvPr/>
        </p:nvSpPr>
        <p:spPr>
          <a:xfrm>
            <a:off x="6739128" y="3419856"/>
            <a:ext cx="1143000" cy="164592"/>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Session</a:t>
            </a:r>
            <a:endParaRPr lang="en-US" sz="1000" dirty="0"/>
          </a:p>
        </p:txBody>
      </p:sp>
      <p:sp>
        <p:nvSpPr>
          <p:cNvPr id="23" name="Text 21"/>
          <p:cNvSpPr/>
          <p:nvPr/>
        </p:nvSpPr>
        <p:spPr>
          <a:xfrm>
            <a:off x="8019288" y="3419856"/>
            <a:ext cx="3310128" cy="210312"/>
          </a:xfrm>
          <a:prstGeom prst="rect">
            <a:avLst/>
          </a:prstGeom>
          <a:noFill/>
          <a:ln/>
        </p:spPr>
        <p:txBody>
          <a:bodyPr wrap="square" lIns="0" tIns="0" rIns="0" bIns="0" rtlCol="0" anchor="ctr">
            <a:normAutofit/>
          </a:bodyPr>
          <a:lstStyle/>
          <a:p>
            <a:pPr indent="0" marL="0">
              <a:buNone/>
            </a:pPr>
            <a:r>
              <a:rPr lang="en-US" sz="1000" dirty="0">
                <a:solidFill>
                  <a:srgbClr val="EDF5F7"/>
                </a:solidFill>
                <a:latin typeface="Inter" pitchFamily="34" charset="0"/>
                <a:ea typeface="Inter" pitchFamily="34" charset="-122"/>
                <a:cs typeface="Inter" pitchFamily="34" charset="-120"/>
              </a:rPr>
              <a:t>09:30–09:45 America/New_York</a:t>
            </a:r>
            <a:endParaRPr lang="en-US" sz="1000" dirty="0"/>
          </a:p>
        </p:txBody>
      </p:sp>
      <p:sp>
        <p:nvSpPr>
          <p:cNvPr id="24" name="Text 22"/>
          <p:cNvSpPr/>
          <p:nvPr/>
        </p:nvSpPr>
        <p:spPr>
          <a:xfrm>
            <a:off x="6739128" y="3758184"/>
            <a:ext cx="1143000" cy="164592"/>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Entry</a:t>
            </a:r>
            <a:endParaRPr lang="en-US" sz="1000" dirty="0"/>
          </a:p>
        </p:txBody>
      </p:sp>
      <p:sp>
        <p:nvSpPr>
          <p:cNvPr id="25" name="Text 23"/>
          <p:cNvSpPr/>
          <p:nvPr/>
        </p:nvSpPr>
        <p:spPr>
          <a:xfrm>
            <a:off x="8019288" y="3758184"/>
            <a:ext cx="3310128" cy="210312"/>
          </a:xfrm>
          <a:prstGeom prst="rect">
            <a:avLst/>
          </a:prstGeom>
          <a:noFill/>
          <a:ln/>
        </p:spPr>
        <p:txBody>
          <a:bodyPr wrap="square" lIns="0" tIns="0" rIns="0" bIns="0" rtlCol="0" anchor="ctr">
            <a:normAutofit/>
          </a:bodyPr>
          <a:lstStyle/>
          <a:p>
            <a:pPr indent="0" marL="0">
              <a:buNone/>
            </a:pPr>
            <a:r>
              <a:rPr lang="en-US" sz="1000" dirty="0">
                <a:solidFill>
                  <a:srgbClr val="F1C479"/>
                </a:solidFill>
                <a:latin typeface="Inter" pitchFamily="34" charset="0"/>
                <a:ea typeface="Inter" pitchFamily="34" charset="-122"/>
                <a:cs typeface="Inter" pitchFamily="34" charset="-120"/>
              </a:rPr>
              <a:t>Close above range? (open)</a:t>
            </a:r>
            <a:endParaRPr lang="en-US" sz="1000" dirty="0"/>
          </a:p>
        </p:txBody>
      </p:sp>
      <p:sp>
        <p:nvSpPr>
          <p:cNvPr id="26" name="Text 24"/>
          <p:cNvSpPr/>
          <p:nvPr/>
        </p:nvSpPr>
        <p:spPr>
          <a:xfrm>
            <a:off x="6739128" y="4096512"/>
            <a:ext cx="1143000" cy="164592"/>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Stop</a:t>
            </a:r>
            <a:endParaRPr lang="en-US" sz="1000" dirty="0"/>
          </a:p>
        </p:txBody>
      </p:sp>
      <p:sp>
        <p:nvSpPr>
          <p:cNvPr id="27" name="Text 25"/>
          <p:cNvSpPr/>
          <p:nvPr/>
        </p:nvSpPr>
        <p:spPr>
          <a:xfrm>
            <a:off x="8019288" y="4096512"/>
            <a:ext cx="3310128" cy="210312"/>
          </a:xfrm>
          <a:prstGeom prst="rect">
            <a:avLst/>
          </a:prstGeom>
          <a:noFill/>
          <a:ln/>
        </p:spPr>
        <p:txBody>
          <a:bodyPr wrap="square" lIns="0" tIns="0" rIns="0" bIns="0" rtlCol="0" anchor="ctr">
            <a:normAutofit/>
          </a:bodyPr>
          <a:lstStyle/>
          <a:p>
            <a:pPr indent="0" marL="0">
              <a:buNone/>
            </a:pPr>
            <a:r>
              <a:rPr lang="en-US" sz="1000" dirty="0">
                <a:solidFill>
                  <a:srgbClr val="F1C479"/>
                </a:solidFill>
                <a:latin typeface="Inter" pitchFamily="34" charset="0"/>
                <a:ea typeface="Inter" pitchFamily="34" charset="-122"/>
                <a:cs typeface="Inter" pitchFamily="34" charset="-120"/>
              </a:rPr>
              <a:t>Range low or fixed ATR?</a:t>
            </a:r>
            <a:endParaRPr lang="en-US" sz="1000" dirty="0"/>
          </a:p>
        </p:txBody>
      </p:sp>
      <p:sp>
        <p:nvSpPr>
          <p:cNvPr id="28" name="Text 26"/>
          <p:cNvSpPr/>
          <p:nvPr/>
        </p:nvSpPr>
        <p:spPr>
          <a:xfrm>
            <a:off x="6739128" y="4434840"/>
            <a:ext cx="1143000" cy="164592"/>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Target</a:t>
            </a:r>
            <a:endParaRPr lang="en-US" sz="1000" dirty="0"/>
          </a:p>
        </p:txBody>
      </p:sp>
      <p:sp>
        <p:nvSpPr>
          <p:cNvPr id="29" name="Text 27"/>
          <p:cNvSpPr/>
          <p:nvPr/>
        </p:nvSpPr>
        <p:spPr>
          <a:xfrm>
            <a:off x="8019288" y="4434840"/>
            <a:ext cx="3310128" cy="210312"/>
          </a:xfrm>
          <a:prstGeom prst="rect">
            <a:avLst/>
          </a:prstGeom>
          <a:noFill/>
          <a:ln/>
        </p:spPr>
        <p:txBody>
          <a:bodyPr wrap="square" lIns="0" tIns="0" rIns="0" bIns="0" rtlCol="0" anchor="ctr">
            <a:normAutofit/>
          </a:bodyPr>
          <a:lstStyle/>
          <a:p>
            <a:pPr indent="0" marL="0">
              <a:buNone/>
            </a:pPr>
            <a:r>
              <a:rPr lang="en-US" sz="1000" dirty="0">
                <a:solidFill>
                  <a:srgbClr val="EDF5F7"/>
                </a:solidFill>
                <a:latin typeface="Inter" pitchFamily="34" charset="0"/>
                <a:ea typeface="Inter" pitchFamily="34" charset="-122"/>
                <a:cs typeface="Inter" pitchFamily="34" charset="-120"/>
              </a:rPr>
              <a:t>2 × initial risk</a:t>
            </a:r>
            <a:endParaRPr lang="en-US" sz="1000" dirty="0"/>
          </a:p>
        </p:txBody>
      </p:sp>
      <p:sp>
        <p:nvSpPr>
          <p:cNvPr id="30" name="Text 28"/>
          <p:cNvSpPr/>
          <p:nvPr/>
        </p:nvSpPr>
        <p:spPr>
          <a:xfrm>
            <a:off x="6739128" y="4773168"/>
            <a:ext cx="1143000" cy="164592"/>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Position</a:t>
            </a:r>
            <a:endParaRPr lang="en-US" sz="1000" dirty="0"/>
          </a:p>
        </p:txBody>
      </p:sp>
      <p:sp>
        <p:nvSpPr>
          <p:cNvPr id="31" name="Text 29"/>
          <p:cNvSpPr/>
          <p:nvPr/>
        </p:nvSpPr>
        <p:spPr>
          <a:xfrm>
            <a:off x="8019288" y="4773168"/>
            <a:ext cx="3310128" cy="210312"/>
          </a:xfrm>
          <a:prstGeom prst="rect">
            <a:avLst/>
          </a:prstGeom>
          <a:noFill/>
          <a:ln/>
        </p:spPr>
        <p:txBody>
          <a:bodyPr wrap="square" lIns="0" tIns="0" rIns="0" bIns="0" rtlCol="0" anchor="ctr">
            <a:normAutofit/>
          </a:bodyPr>
          <a:lstStyle/>
          <a:p>
            <a:pPr indent="0" marL="0">
              <a:buNone/>
            </a:pPr>
            <a:r>
              <a:rPr lang="en-US" sz="1000" dirty="0">
                <a:solidFill>
                  <a:srgbClr val="F1C479"/>
                </a:solidFill>
                <a:latin typeface="Inter" pitchFamily="34" charset="0"/>
                <a:ea typeface="Inter" pitchFamily="34" charset="-122"/>
                <a:cs typeface="Inter" pitchFamily="34" charset="-120"/>
              </a:rPr>
              <a:t>Risk per trade? (open)</a:t>
            </a:r>
            <a:endParaRPr lang="en-US" sz="1000" dirty="0"/>
          </a:p>
        </p:txBody>
      </p:sp>
      <p:sp>
        <p:nvSpPr>
          <p:cNvPr id="32" name="Text 30"/>
          <p:cNvSpPr/>
          <p:nvPr/>
        </p:nvSpPr>
        <p:spPr>
          <a:xfrm>
            <a:off x="566928" y="6291072"/>
            <a:ext cx="10972800" cy="128016"/>
          </a:xfrm>
          <a:prstGeom prst="rect">
            <a:avLst/>
          </a:prstGeom>
          <a:noFill/>
          <a:ln/>
        </p:spPr>
        <p:txBody>
          <a:bodyPr wrap="square" lIns="0" tIns="0" rIns="0" bIns="0" rtlCol="0" anchor="ctr">
            <a:normAutofit/>
          </a:bodyPr>
          <a:lstStyle/>
          <a:p>
            <a:pPr indent="0" marL="0">
              <a:buNone/>
            </a:pPr>
            <a:r>
              <a:rPr lang="en-US" sz="700" dirty="0">
                <a:solidFill>
                  <a:srgbClr val="607584"/>
                </a:solidFill>
                <a:latin typeface="Inter" pitchFamily="34" charset="0"/>
                <a:ea typeface="Inter" pitchFamily="34" charset="-122"/>
                <a:cs typeface="Inter" pitchFamily="34" charset="-120"/>
              </a:rPr>
              <a:t>„?“ und „(open)“ bedeuten: erst explizit klären, dann backtesten.</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STRATEGY SPEC</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07</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06 / EXECUTABLE CONTRACT</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Ohne präzise Regeln kein gültiger Backtest.</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Die Spezifikation ist das zentrale Objekt für Backtest, Audits, Reproduktion und spätere Live-Vergleiche.</a:t>
            </a:r>
            <a:endParaRPr lang="en-US" sz="1300" dirty="0"/>
          </a:p>
        </p:txBody>
      </p:sp>
      <p:sp>
        <p:nvSpPr>
          <p:cNvPr id="12" name="Shape 10"/>
          <p:cNvSpPr/>
          <p:nvPr/>
        </p:nvSpPr>
        <p:spPr>
          <a:xfrm>
            <a:off x="612648" y="2386584"/>
            <a:ext cx="5285232" cy="1024128"/>
          </a:xfrm>
          <a:prstGeom prst="roundRect">
            <a:avLst>
              <a:gd name="adj" fmla="val 12500"/>
            </a:avLst>
          </a:prstGeom>
          <a:solidFill>
            <a:srgbClr val="121A24"/>
          </a:solidFill>
          <a:ln w="8890">
            <a:solidFill>
              <a:srgbClr val="263442"/>
            </a:solidFill>
            <a:prstDash val="solid"/>
          </a:ln>
        </p:spPr>
      </p:sp>
      <p:sp>
        <p:nvSpPr>
          <p:cNvPr id="13" name="Text 11"/>
          <p:cNvSpPr/>
          <p:nvPr/>
        </p:nvSpPr>
        <p:spPr>
          <a:xfrm>
            <a:off x="813816" y="2532888"/>
            <a:ext cx="1463040" cy="210312"/>
          </a:xfrm>
          <a:prstGeom prst="rect">
            <a:avLst/>
          </a:prstGeom>
          <a:noFill/>
          <a:ln/>
        </p:spPr>
        <p:txBody>
          <a:bodyPr wrap="square" lIns="0" tIns="0" rIns="0" bIns="0" rtlCol="0" anchor="ctr">
            <a:normAutofit/>
          </a:bodyPr>
          <a:lstStyle/>
          <a:p>
            <a:pPr indent="0" marL="0">
              <a:buNone/>
            </a:pPr>
            <a:r>
              <a:rPr lang="en-US" sz="1100" b="1" dirty="0">
                <a:solidFill>
                  <a:srgbClr val="69DDCF"/>
                </a:solidFill>
                <a:latin typeface="Inter" pitchFamily="34" charset="0"/>
                <a:ea typeface="Inter" pitchFamily="34" charset="-122"/>
                <a:cs typeface="Inter" pitchFamily="34" charset="-120"/>
              </a:rPr>
              <a:t>MARKET</a:t>
            </a:r>
            <a:endParaRPr lang="en-US" sz="1100" dirty="0"/>
          </a:p>
        </p:txBody>
      </p:sp>
      <p:sp>
        <p:nvSpPr>
          <p:cNvPr id="14" name="Text 12"/>
          <p:cNvSpPr/>
          <p:nvPr/>
        </p:nvSpPr>
        <p:spPr>
          <a:xfrm>
            <a:off x="813816" y="2834640"/>
            <a:ext cx="4892040" cy="420624"/>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Venue · instrument ID · contract mapping · timezone · session · calendar</a:t>
            </a:r>
            <a:endParaRPr lang="en-US" sz="1200" dirty="0"/>
          </a:p>
        </p:txBody>
      </p:sp>
      <p:sp>
        <p:nvSpPr>
          <p:cNvPr id="15" name="Shape 13"/>
          <p:cNvSpPr/>
          <p:nvPr/>
        </p:nvSpPr>
        <p:spPr>
          <a:xfrm>
            <a:off x="6281928" y="2386584"/>
            <a:ext cx="5285232" cy="1024128"/>
          </a:xfrm>
          <a:prstGeom prst="roundRect">
            <a:avLst>
              <a:gd name="adj" fmla="val 12500"/>
            </a:avLst>
          </a:prstGeom>
          <a:solidFill>
            <a:srgbClr val="121A24"/>
          </a:solidFill>
          <a:ln w="8890">
            <a:solidFill>
              <a:srgbClr val="263442"/>
            </a:solidFill>
            <a:prstDash val="solid"/>
          </a:ln>
        </p:spPr>
      </p:sp>
      <p:sp>
        <p:nvSpPr>
          <p:cNvPr id="16" name="Text 14"/>
          <p:cNvSpPr/>
          <p:nvPr/>
        </p:nvSpPr>
        <p:spPr>
          <a:xfrm>
            <a:off x="6483096" y="2532888"/>
            <a:ext cx="1463040" cy="210312"/>
          </a:xfrm>
          <a:prstGeom prst="rect">
            <a:avLst/>
          </a:prstGeom>
          <a:noFill/>
          <a:ln/>
        </p:spPr>
        <p:txBody>
          <a:bodyPr wrap="square" lIns="0" tIns="0" rIns="0" bIns="0" rtlCol="0" anchor="ctr">
            <a:normAutofit/>
          </a:bodyPr>
          <a:lstStyle/>
          <a:p>
            <a:pPr indent="0" marL="0">
              <a:buNone/>
            </a:pPr>
            <a:r>
              <a:rPr lang="en-US" sz="1100" b="1" dirty="0">
                <a:solidFill>
                  <a:srgbClr val="69DDCF"/>
                </a:solidFill>
                <a:latin typeface="Inter" pitchFamily="34" charset="0"/>
                <a:ea typeface="Inter" pitchFamily="34" charset="-122"/>
                <a:cs typeface="Inter" pitchFamily="34" charset="-120"/>
              </a:rPr>
              <a:t>SIGNAL</a:t>
            </a:r>
            <a:endParaRPr lang="en-US" sz="1100" dirty="0"/>
          </a:p>
        </p:txBody>
      </p:sp>
      <p:sp>
        <p:nvSpPr>
          <p:cNvPr id="17" name="Text 15"/>
          <p:cNvSpPr/>
          <p:nvPr/>
        </p:nvSpPr>
        <p:spPr>
          <a:xfrm>
            <a:off x="6483096" y="2834640"/>
            <a:ext cx="4892040" cy="420624"/>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Feature inputs · Zeitpunkt der Datenverfügbarkeit · Entry/Exit · Cooldown</a:t>
            </a:r>
            <a:endParaRPr lang="en-US" sz="1200" dirty="0"/>
          </a:p>
        </p:txBody>
      </p:sp>
      <p:sp>
        <p:nvSpPr>
          <p:cNvPr id="18" name="Shape 16"/>
          <p:cNvSpPr/>
          <p:nvPr/>
        </p:nvSpPr>
        <p:spPr>
          <a:xfrm>
            <a:off x="612648" y="3575304"/>
            <a:ext cx="5285232" cy="1024128"/>
          </a:xfrm>
          <a:prstGeom prst="roundRect">
            <a:avLst>
              <a:gd name="adj" fmla="val 12500"/>
            </a:avLst>
          </a:prstGeom>
          <a:solidFill>
            <a:srgbClr val="121A24"/>
          </a:solidFill>
          <a:ln w="8890">
            <a:solidFill>
              <a:srgbClr val="263442"/>
            </a:solidFill>
            <a:prstDash val="solid"/>
          </a:ln>
        </p:spPr>
      </p:sp>
      <p:sp>
        <p:nvSpPr>
          <p:cNvPr id="19" name="Text 17"/>
          <p:cNvSpPr/>
          <p:nvPr/>
        </p:nvSpPr>
        <p:spPr>
          <a:xfrm>
            <a:off x="813816" y="3721608"/>
            <a:ext cx="1463040" cy="210312"/>
          </a:xfrm>
          <a:prstGeom prst="rect">
            <a:avLst/>
          </a:prstGeom>
          <a:noFill/>
          <a:ln/>
        </p:spPr>
        <p:txBody>
          <a:bodyPr wrap="square" lIns="0" tIns="0" rIns="0" bIns="0" rtlCol="0" anchor="ctr">
            <a:normAutofit/>
          </a:bodyPr>
          <a:lstStyle/>
          <a:p>
            <a:pPr indent="0" marL="0">
              <a:buNone/>
            </a:pPr>
            <a:r>
              <a:rPr lang="en-US" sz="1100" b="1" dirty="0">
                <a:solidFill>
                  <a:srgbClr val="69DDCF"/>
                </a:solidFill>
                <a:latin typeface="Inter" pitchFamily="34" charset="0"/>
                <a:ea typeface="Inter" pitchFamily="34" charset="-122"/>
                <a:cs typeface="Inter" pitchFamily="34" charset="-120"/>
              </a:rPr>
              <a:t>EXECUTION</a:t>
            </a:r>
            <a:endParaRPr lang="en-US" sz="1100" dirty="0"/>
          </a:p>
        </p:txBody>
      </p:sp>
      <p:sp>
        <p:nvSpPr>
          <p:cNvPr id="20" name="Text 18"/>
          <p:cNvSpPr/>
          <p:nvPr/>
        </p:nvSpPr>
        <p:spPr>
          <a:xfrm>
            <a:off x="813816" y="4023360"/>
            <a:ext cx="4892040" cy="420624"/>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Order type · Fill model · spread · fees · slippage · partial fills</a:t>
            </a:r>
            <a:endParaRPr lang="en-US" sz="1200" dirty="0"/>
          </a:p>
        </p:txBody>
      </p:sp>
      <p:sp>
        <p:nvSpPr>
          <p:cNvPr id="21" name="Shape 19"/>
          <p:cNvSpPr/>
          <p:nvPr/>
        </p:nvSpPr>
        <p:spPr>
          <a:xfrm>
            <a:off x="6281928" y="3575304"/>
            <a:ext cx="5285232" cy="1024128"/>
          </a:xfrm>
          <a:prstGeom prst="roundRect">
            <a:avLst>
              <a:gd name="adj" fmla="val 12500"/>
            </a:avLst>
          </a:prstGeom>
          <a:solidFill>
            <a:srgbClr val="121A24"/>
          </a:solidFill>
          <a:ln w="8890">
            <a:solidFill>
              <a:srgbClr val="263442"/>
            </a:solidFill>
            <a:prstDash val="solid"/>
          </a:ln>
        </p:spPr>
      </p:sp>
      <p:sp>
        <p:nvSpPr>
          <p:cNvPr id="22" name="Text 20"/>
          <p:cNvSpPr/>
          <p:nvPr/>
        </p:nvSpPr>
        <p:spPr>
          <a:xfrm>
            <a:off x="6483096" y="3721608"/>
            <a:ext cx="1463040" cy="210312"/>
          </a:xfrm>
          <a:prstGeom prst="rect">
            <a:avLst/>
          </a:prstGeom>
          <a:noFill/>
          <a:ln/>
        </p:spPr>
        <p:txBody>
          <a:bodyPr wrap="square" lIns="0" tIns="0" rIns="0" bIns="0" rtlCol="0" anchor="ctr">
            <a:normAutofit/>
          </a:bodyPr>
          <a:lstStyle/>
          <a:p>
            <a:pPr indent="0" marL="0">
              <a:buNone/>
            </a:pPr>
            <a:r>
              <a:rPr lang="en-US" sz="1100" b="1" dirty="0">
                <a:solidFill>
                  <a:srgbClr val="69DDCF"/>
                </a:solidFill>
                <a:latin typeface="Inter" pitchFamily="34" charset="0"/>
                <a:ea typeface="Inter" pitchFamily="34" charset="-122"/>
                <a:cs typeface="Inter" pitchFamily="34" charset="-120"/>
              </a:rPr>
              <a:t>RISK</a:t>
            </a:r>
            <a:endParaRPr lang="en-US" sz="1100" dirty="0"/>
          </a:p>
        </p:txBody>
      </p:sp>
      <p:sp>
        <p:nvSpPr>
          <p:cNvPr id="23" name="Text 21"/>
          <p:cNvSpPr/>
          <p:nvPr/>
        </p:nvSpPr>
        <p:spPr>
          <a:xfrm>
            <a:off x="6483096" y="4023360"/>
            <a:ext cx="4892040" cy="420624"/>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Position sizing · leverage · max exposure · stops · margin</a:t>
            </a:r>
            <a:endParaRPr lang="en-US" sz="1200" dirty="0"/>
          </a:p>
        </p:txBody>
      </p:sp>
      <p:sp>
        <p:nvSpPr>
          <p:cNvPr id="24" name="Shape 22"/>
          <p:cNvSpPr/>
          <p:nvPr/>
        </p:nvSpPr>
        <p:spPr>
          <a:xfrm>
            <a:off x="612648" y="4764024"/>
            <a:ext cx="5285232" cy="1024128"/>
          </a:xfrm>
          <a:prstGeom prst="roundRect">
            <a:avLst>
              <a:gd name="adj" fmla="val 12500"/>
            </a:avLst>
          </a:prstGeom>
          <a:solidFill>
            <a:srgbClr val="121A24"/>
          </a:solidFill>
          <a:ln w="8890">
            <a:solidFill>
              <a:srgbClr val="263442"/>
            </a:solidFill>
            <a:prstDash val="solid"/>
          </a:ln>
        </p:spPr>
      </p:sp>
      <p:sp>
        <p:nvSpPr>
          <p:cNvPr id="25" name="Text 23"/>
          <p:cNvSpPr/>
          <p:nvPr/>
        </p:nvSpPr>
        <p:spPr>
          <a:xfrm>
            <a:off x="813816" y="4910328"/>
            <a:ext cx="1463040" cy="210312"/>
          </a:xfrm>
          <a:prstGeom prst="rect">
            <a:avLst/>
          </a:prstGeom>
          <a:noFill/>
          <a:ln/>
        </p:spPr>
        <p:txBody>
          <a:bodyPr wrap="square" lIns="0" tIns="0" rIns="0" bIns="0" rtlCol="0" anchor="ctr">
            <a:normAutofit/>
          </a:bodyPr>
          <a:lstStyle/>
          <a:p>
            <a:pPr indent="0" marL="0">
              <a:buNone/>
            </a:pPr>
            <a:r>
              <a:rPr lang="en-US" sz="1100" b="1" dirty="0">
                <a:solidFill>
                  <a:srgbClr val="69DDCF"/>
                </a:solidFill>
                <a:latin typeface="Inter" pitchFamily="34" charset="0"/>
                <a:ea typeface="Inter" pitchFamily="34" charset="-122"/>
                <a:cs typeface="Inter" pitchFamily="34" charset="-120"/>
              </a:rPr>
              <a:t>EXPERIMENT</a:t>
            </a:r>
            <a:endParaRPr lang="en-US" sz="1100" dirty="0"/>
          </a:p>
        </p:txBody>
      </p:sp>
      <p:sp>
        <p:nvSpPr>
          <p:cNvPr id="26" name="Text 24"/>
          <p:cNvSpPr/>
          <p:nvPr/>
        </p:nvSpPr>
        <p:spPr>
          <a:xfrm>
            <a:off x="813816" y="5212080"/>
            <a:ext cx="4892040" cy="420624"/>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Universe · Zeitraum · train/validate/holdout · seed · benchmarks</a:t>
            </a:r>
            <a:endParaRPr lang="en-US" sz="1200" dirty="0"/>
          </a:p>
        </p:txBody>
      </p:sp>
      <p:sp>
        <p:nvSpPr>
          <p:cNvPr id="27" name="Shape 25"/>
          <p:cNvSpPr/>
          <p:nvPr/>
        </p:nvSpPr>
        <p:spPr>
          <a:xfrm>
            <a:off x="6281928" y="4764024"/>
            <a:ext cx="5285232" cy="1024128"/>
          </a:xfrm>
          <a:prstGeom prst="roundRect">
            <a:avLst>
              <a:gd name="adj" fmla="val 12500"/>
            </a:avLst>
          </a:prstGeom>
          <a:solidFill>
            <a:srgbClr val="121A24"/>
          </a:solidFill>
          <a:ln w="8890">
            <a:solidFill>
              <a:srgbClr val="263442"/>
            </a:solidFill>
            <a:prstDash val="solid"/>
          </a:ln>
        </p:spPr>
      </p:sp>
      <p:sp>
        <p:nvSpPr>
          <p:cNvPr id="28" name="Text 26"/>
          <p:cNvSpPr/>
          <p:nvPr/>
        </p:nvSpPr>
        <p:spPr>
          <a:xfrm>
            <a:off x="6483096" y="4910328"/>
            <a:ext cx="1463040" cy="210312"/>
          </a:xfrm>
          <a:prstGeom prst="rect">
            <a:avLst/>
          </a:prstGeom>
          <a:noFill/>
          <a:ln/>
        </p:spPr>
        <p:txBody>
          <a:bodyPr wrap="square" lIns="0" tIns="0" rIns="0" bIns="0" rtlCol="0" anchor="ctr">
            <a:normAutofit/>
          </a:bodyPr>
          <a:lstStyle/>
          <a:p>
            <a:pPr indent="0" marL="0">
              <a:buNone/>
            </a:pPr>
            <a:r>
              <a:rPr lang="en-US" sz="1100" b="1" dirty="0">
                <a:solidFill>
                  <a:srgbClr val="69DDCF"/>
                </a:solidFill>
                <a:latin typeface="Inter" pitchFamily="34" charset="0"/>
                <a:ea typeface="Inter" pitchFamily="34" charset="-122"/>
                <a:cs typeface="Inter" pitchFamily="34" charset="-120"/>
              </a:rPr>
              <a:t>PROVENANCE</a:t>
            </a:r>
            <a:endParaRPr lang="en-US" sz="1100" dirty="0"/>
          </a:p>
        </p:txBody>
      </p:sp>
      <p:sp>
        <p:nvSpPr>
          <p:cNvPr id="29" name="Text 27"/>
          <p:cNvSpPr/>
          <p:nvPr/>
        </p:nvSpPr>
        <p:spPr>
          <a:xfrm>
            <a:off x="6483096" y="5212080"/>
            <a:ext cx="4892040" cy="420624"/>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Strategy version/hash · code commit · data version/hash · engine version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MARKET DATA</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08</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07 / RIGHT DATA</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Der richtige Datensatz hängt von der Handelslogik ab.</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QuantLab wählt Granularität nicht nach Bequemlichkeit, sondern nach dem erforderlichen Realismus.</a:t>
            </a:r>
            <a:endParaRPr lang="en-US" sz="1300" dirty="0"/>
          </a:p>
        </p:txBody>
      </p:sp>
      <p:sp>
        <p:nvSpPr>
          <p:cNvPr id="12" name="Text 10"/>
          <p:cNvSpPr/>
          <p:nvPr/>
        </p:nvSpPr>
        <p:spPr>
          <a:xfrm>
            <a:off x="640080" y="2395728"/>
            <a:ext cx="2194560" cy="246888"/>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USE CASE</a:t>
            </a:r>
            <a:endParaRPr lang="en-US" sz="1000" dirty="0"/>
          </a:p>
        </p:txBody>
      </p:sp>
      <p:sp>
        <p:nvSpPr>
          <p:cNvPr id="13" name="Text 11"/>
          <p:cNvSpPr/>
          <p:nvPr/>
        </p:nvSpPr>
        <p:spPr>
          <a:xfrm>
            <a:off x="2871216" y="2395728"/>
            <a:ext cx="3017520" cy="246888"/>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MINDEST-STARTPUNKT</a:t>
            </a:r>
            <a:endParaRPr lang="en-US" sz="1000" dirty="0"/>
          </a:p>
        </p:txBody>
      </p:sp>
      <p:sp>
        <p:nvSpPr>
          <p:cNvPr id="14" name="Text 12"/>
          <p:cNvSpPr/>
          <p:nvPr/>
        </p:nvSpPr>
        <p:spPr>
          <a:xfrm>
            <a:off x="6144768" y="2395728"/>
            <a:ext cx="3017520" cy="246888"/>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WICHTIGE RISIKEN</a:t>
            </a:r>
            <a:endParaRPr lang="en-US" sz="1000" dirty="0"/>
          </a:p>
        </p:txBody>
      </p:sp>
      <p:sp>
        <p:nvSpPr>
          <p:cNvPr id="15" name="Text 13"/>
          <p:cNvSpPr/>
          <p:nvPr/>
        </p:nvSpPr>
        <p:spPr>
          <a:xfrm>
            <a:off x="9281160" y="2395728"/>
            <a:ext cx="3017520" cy="246888"/>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QUANTLAB-ENTSCHEID</a:t>
            </a:r>
            <a:endParaRPr lang="en-US" sz="1000" dirty="0"/>
          </a:p>
        </p:txBody>
      </p:sp>
      <p:sp>
        <p:nvSpPr>
          <p:cNvPr id="16" name="Shape 14"/>
          <p:cNvSpPr/>
          <p:nvPr/>
        </p:nvSpPr>
        <p:spPr>
          <a:xfrm>
            <a:off x="594360" y="2788920"/>
            <a:ext cx="11027664" cy="603504"/>
          </a:xfrm>
          <a:prstGeom prst="roundRect">
            <a:avLst>
              <a:gd name="adj" fmla="val 21212"/>
            </a:avLst>
          </a:prstGeom>
          <a:solidFill>
            <a:srgbClr val="121A24"/>
          </a:solidFill>
          <a:ln w="8890">
            <a:solidFill>
              <a:srgbClr val="263442"/>
            </a:solidFill>
            <a:prstDash val="solid"/>
          </a:ln>
        </p:spPr>
      </p:sp>
      <p:sp>
        <p:nvSpPr>
          <p:cNvPr id="17" name="Text 15"/>
          <p:cNvSpPr/>
          <p:nvPr/>
        </p:nvSpPr>
        <p:spPr>
          <a:xfrm>
            <a:off x="640080" y="2898648"/>
            <a:ext cx="2057400" cy="356616"/>
          </a:xfrm>
          <a:prstGeom prst="rect">
            <a:avLst/>
          </a:prstGeom>
          <a:noFill/>
          <a:ln/>
        </p:spPr>
        <p:txBody>
          <a:bodyPr wrap="square" lIns="0" tIns="0" rIns="0" bIns="0" rtlCol="0" anchor="ctr">
            <a:normAutofit/>
          </a:bodyPr>
          <a:lstStyle/>
          <a:p>
            <a:pPr indent="0" marL="0">
              <a:buNone/>
            </a:pPr>
            <a:r>
              <a:rPr lang="en-US" sz="1100" b="1" dirty="0">
                <a:solidFill>
                  <a:srgbClr val="94A6B3"/>
                </a:solidFill>
                <a:latin typeface="Inter" pitchFamily="34" charset="0"/>
                <a:ea typeface="Inter" pitchFamily="34" charset="-122"/>
                <a:cs typeface="Inter" pitchFamily="34" charset="-120"/>
              </a:rPr>
              <a:t>Aktien / Swing</a:t>
            </a:r>
            <a:endParaRPr lang="en-US" sz="1100" dirty="0"/>
          </a:p>
        </p:txBody>
      </p:sp>
      <p:sp>
        <p:nvSpPr>
          <p:cNvPr id="18" name="Text 16"/>
          <p:cNvSpPr/>
          <p:nvPr/>
        </p:nvSpPr>
        <p:spPr>
          <a:xfrm>
            <a:off x="2871216" y="2898648"/>
            <a:ext cx="2926080" cy="356616"/>
          </a:xfrm>
          <a:prstGeom prst="rect">
            <a:avLst/>
          </a:prstGeom>
          <a:noFill/>
          <a:ln/>
        </p:spPr>
        <p:txBody>
          <a:bodyPr wrap="square" lIns="0" tIns="0" rIns="0" bIns="0" rtlCol="0" anchor="ctr">
            <a:normAutofit/>
          </a:bodyPr>
          <a:lstStyle/>
          <a:p>
            <a:pPr indent="0" marL="0">
              <a:buNone/>
            </a:pPr>
            <a:r>
              <a:rPr lang="en-US" sz="1050" dirty="0">
                <a:solidFill>
                  <a:srgbClr val="94A6B3"/>
                </a:solidFill>
                <a:latin typeface="Inter" pitchFamily="34" charset="0"/>
                <a:ea typeface="Inter" pitchFamily="34" charset="-122"/>
                <a:cs typeface="Inter" pitchFamily="34" charset="-120"/>
              </a:rPr>
              <a:t>Daily + Corporate Actions</a:t>
            </a:r>
            <a:endParaRPr lang="en-US" sz="1050" dirty="0"/>
          </a:p>
        </p:txBody>
      </p:sp>
      <p:sp>
        <p:nvSpPr>
          <p:cNvPr id="19" name="Text 17"/>
          <p:cNvSpPr/>
          <p:nvPr/>
        </p:nvSpPr>
        <p:spPr>
          <a:xfrm>
            <a:off x="6144768" y="2898648"/>
            <a:ext cx="2926080" cy="356616"/>
          </a:xfrm>
          <a:prstGeom prst="rect">
            <a:avLst/>
          </a:prstGeom>
          <a:noFill/>
          <a:ln/>
        </p:spPr>
        <p:txBody>
          <a:bodyPr wrap="square" lIns="0" tIns="0" rIns="0" bIns="0" rtlCol="0" anchor="ctr">
            <a:normAutofit/>
          </a:bodyPr>
          <a:lstStyle/>
          <a:p>
            <a:pPr indent="0" marL="0">
              <a:buNone/>
            </a:pPr>
            <a:r>
              <a:rPr lang="en-US" sz="1050" dirty="0">
                <a:solidFill>
                  <a:srgbClr val="94A6B3"/>
                </a:solidFill>
                <a:latin typeface="Inter" pitchFamily="34" charset="0"/>
                <a:ea typeface="Inter" pitchFamily="34" charset="-122"/>
                <a:cs typeface="Inter" pitchFamily="34" charset="-120"/>
              </a:rPr>
              <a:t>Survivorship, Splits, Dividenden</a:t>
            </a:r>
            <a:endParaRPr lang="en-US" sz="1050" dirty="0"/>
          </a:p>
        </p:txBody>
      </p:sp>
      <p:sp>
        <p:nvSpPr>
          <p:cNvPr id="20" name="Text 18"/>
          <p:cNvSpPr/>
          <p:nvPr/>
        </p:nvSpPr>
        <p:spPr>
          <a:xfrm>
            <a:off x="9281160" y="2898648"/>
            <a:ext cx="2011680" cy="356616"/>
          </a:xfrm>
          <a:prstGeom prst="rect">
            <a:avLst/>
          </a:prstGeom>
          <a:noFill/>
          <a:ln/>
        </p:spPr>
        <p:txBody>
          <a:bodyPr wrap="square" lIns="0" tIns="0" rIns="0" bIns="0" rtlCol="0" anchor="ctr">
            <a:normAutofit/>
          </a:bodyPr>
          <a:lstStyle/>
          <a:p>
            <a:pPr indent="0" marL="0">
              <a:buNone/>
            </a:pPr>
            <a:r>
              <a:rPr lang="en-US" sz="1050" dirty="0">
                <a:solidFill>
                  <a:srgbClr val="EDF5F7"/>
                </a:solidFill>
                <a:latin typeface="Inter" pitchFamily="34" charset="0"/>
                <a:ea typeface="Inter" pitchFamily="34" charset="-122"/>
                <a:cs typeface="Inter" pitchFamily="34" charset="-120"/>
              </a:rPr>
              <a:t>Geeignet bei EOD-Signalen</a:t>
            </a:r>
            <a:endParaRPr lang="en-US" sz="1050" dirty="0"/>
          </a:p>
        </p:txBody>
      </p:sp>
      <p:sp>
        <p:nvSpPr>
          <p:cNvPr id="21" name="Shape 19"/>
          <p:cNvSpPr/>
          <p:nvPr/>
        </p:nvSpPr>
        <p:spPr>
          <a:xfrm>
            <a:off x="594360" y="3493008"/>
            <a:ext cx="11027664" cy="603504"/>
          </a:xfrm>
          <a:prstGeom prst="roundRect">
            <a:avLst>
              <a:gd name="adj" fmla="val 21212"/>
            </a:avLst>
          </a:prstGeom>
          <a:solidFill>
            <a:srgbClr val="0E141C"/>
          </a:solidFill>
          <a:ln w="8890">
            <a:solidFill>
              <a:srgbClr val="263442"/>
            </a:solidFill>
            <a:prstDash val="solid"/>
          </a:ln>
        </p:spPr>
      </p:sp>
      <p:sp>
        <p:nvSpPr>
          <p:cNvPr id="22" name="Text 20"/>
          <p:cNvSpPr/>
          <p:nvPr/>
        </p:nvSpPr>
        <p:spPr>
          <a:xfrm>
            <a:off x="640080" y="3602736"/>
            <a:ext cx="2057400" cy="356616"/>
          </a:xfrm>
          <a:prstGeom prst="rect">
            <a:avLst/>
          </a:prstGeom>
          <a:noFill/>
          <a:ln/>
        </p:spPr>
        <p:txBody>
          <a:bodyPr wrap="square" lIns="0" tIns="0" rIns="0" bIns="0" rtlCol="0" anchor="ctr">
            <a:normAutofit/>
          </a:bodyPr>
          <a:lstStyle/>
          <a:p>
            <a:pPr indent="0" marL="0">
              <a:buNone/>
            </a:pPr>
            <a:r>
              <a:rPr lang="en-US" sz="1100" b="1" dirty="0">
                <a:solidFill>
                  <a:srgbClr val="94A6B3"/>
                </a:solidFill>
                <a:latin typeface="Inter" pitchFamily="34" charset="0"/>
                <a:ea typeface="Inter" pitchFamily="34" charset="-122"/>
                <a:cs typeface="Inter" pitchFamily="34" charset="-120"/>
              </a:rPr>
              <a:t>Intraday Breakout</a:t>
            </a:r>
            <a:endParaRPr lang="en-US" sz="1100" dirty="0"/>
          </a:p>
        </p:txBody>
      </p:sp>
      <p:sp>
        <p:nvSpPr>
          <p:cNvPr id="23" name="Text 21"/>
          <p:cNvSpPr/>
          <p:nvPr/>
        </p:nvSpPr>
        <p:spPr>
          <a:xfrm>
            <a:off x="2871216" y="3602736"/>
            <a:ext cx="2926080" cy="356616"/>
          </a:xfrm>
          <a:prstGeom prst="rect">
            <a:avLst/>
          </a:prstGeom>
          <a:noFill/>
          <a:ln/>
        </p:spPr>
        <p:txBody>
          <a:bodyPr wrap="square" lIns="0" tIns="0" rIns="0" bIns="0" rtlCol="0" anchor="ctr">
            <a:normAutofit/>
          </a:bodyPr>
          <a:lstStyle/>
          <a:p>
            <a:pPr indent="0" marL="0">
              <a:buNone/>
            </a:pPr>
            <a:r>
              <a:rPr lang="en-US" sz="1050" dirty="0">
                <a:solidFill>
                  <a:srgbClr val="94A6B3"/>
                </a:solidFill>
                <a:latin typeface="Inter" pitchFamily="34" charset="0"/>
                <a:ea typeface="Inter" pitchFamily="34" charset="-122"/>
                <a:cs typeface="Inter" pitchFamily="34" charset="-120"/>
              </a:rPr>
              <a:t>1m / Sekunden / Trades</a:t>
            </a:r>
            <a:endParaRPr lang="en-US" sz="1050" dirty="0"/>
          </a:p>
        </p:txBody>
      </p:sp>
      <p:sp>
        <p:nvSpPr>
          <p:cNvPr id="24" name="Text 22"/>
          <p:cNvSpPr/>
          <p:nvPr/>
        </p:nvSpPr>
        <p:spPr>
          <a:xfrm>
            <a:off x="6144768" y="3602736"/>
            <a:ext cx="2926080" cy="356616"/>
          </a:xfrm>
          <a:prstGeom prst="rect">
            <a:avLst/>
          </a:prstGeom>
          <a:noFill/>
          <a:ln/>
        </p:spPr>
        <p:txBody>
          <a:bodyPr wrap="square" lIns="0" tIns="0" rIns="0" bIns="0" rtlCol="0" anchor="ctr">
            <a:normAutofit/>
          </a:bodyPr>
          <a:lstStyle/>
          <a:p>
            <a:pPr indent="0" marL="0">
              <a:buNone/>
            </a:pPr>
            <a:r>
              <a:rPr lang="en-US" sz="1050" dirty="0">
                <a:solidFill>
                  <a:srgbClr val="94A6B3"/>
                </a:solidFill>
                <a:latin typeface="Inter" pitchFamily="34" charset="0"/>
                <a:ea typeface="Inter" pitchFamily="34" charset="-122"/>
                <a:cs typeface="Inter" pitchFamily="34" charset="-120"/>
              </a:rPr>
              <a:t>OHLC-Reihenfolge, Session / DST</a:t>
            </a:r>
            <a:endParaRPr lang="en-US" sz="1050" dirty="0"/>
          </a:p>
        </p:txBody>
      </p:sp>
      <p:sp>
        <p:nvSpPr>
          <p:cNvPr id="25" name="Text 23"/>
          <p:cNvSpPr/>
          <p:nvPr/>
        </p:nvSpPr>
        <p:spPr>
          <a:xfrm>
            <a:off x="9281160" y="3602736"/>
            <a:ext cx="2011680" cy="356616"/>
          </a:xfrm>
          <a:prstGeom prst="rect">
            <a:avLst/>
          </a:prstGeom>
          <a:noFill/>
          <a:ln/>
        </p:spPr>
        <p:txBody>
          <a:bodyPr wrap="square" lIns="0" tIns="0" rIns="0" bIns="0" rtlCol="0" anchor="ctr">
            <a:normAutofit/>
          </a:bodyPr>
          <a:lstStyle/>
          <a:p>
            <a:pPr indent="0" marL="0">
              <a:buNone/>
            </a:pPr>
            <a:r>
              <a:rPr lang="en-US" sz="1050" dirty="0">
                <a:solidFill>
                  <a:srgbClr val="EDF5F7"/>
                </a:solidFill>
                <a:latin typeface="Inter" pitchFamily="34" charset="0"/>
                <a:ea typeface="Inter" pitchFamily="34" charset="-122"/>
                <a:cs typeface="Inter" pitchFamily="34" charset="-120"/>
              </a:rPr>
              <a:t>Granularität bedingt gültig</a:t>
            </a:r>
            <a:endParaRPr lang="en-US" sz="1050" dirty="0"/>
          </a:p>
        </p:txBody>
      </p:sp>
      <p:sp>
        <p:nvSpPr>
          <p:cNvPr id="26" name="Shape 24"/>
          <p:cNvSpPr/>
          <p:nvPr/>
        </p:nvSpPr>
        <p:spPr>
          <a:xfrm>
            <a:off x="594360" y="4197096"/>
            <a:ext cx="11027664" cy="603504"/>
          </a:xfrm>
          <a:prstGeom prst="roundRect">
            <a:avLst>
              <a:gd name="adj" fmla="val 21212"/>
            </a:avLst>
          </a:prstGeom>
          <a:solidFill>
            <a:srgbClr val="121A24"/>
          </a:solidFill>
          <a:ln w="8890">
            <a:solidFill>
              <a:srgbClr val="263442"/>
            </a:solidFill>
            <a:prstDash val="solid"/>
          </a:ln>
        </p:spPr>
      </p:sp>
      <p:sp>
        <p:nvSpPr>
          <p:cNvPr id="27" name="Text 25"/>
          <p:cNvSpPr/>
          <p:nvPr/>
        </p:nvSpPr>
        <p:spPr>
          <a:xfrm>
            <a:off x="640080" y="4306824"/>
            <a:ext cx="2057400" cy="356616"/>
          </a:xfrm>
          <a:prstGeom prst="rect">
            <a:avLst/>
          </a:prstGeom>
          <a:noFill/>
          <a:ln/>
        </p:spPr>
        <p:txBody>
          <a:bodyPr wrap="square" lIns="0" tIns="0" rIns="0" bIns="0" rtlCol="0" anchor="ctr">
            <a:normAutofit/>
          </a:bodyPr>
          <a:lstStyle/>
          <a:p>
            <a:pPr indent="0" marL="0">
              <a:buNone/>
            </a:pPr>
            <a:r>
              <a:rPr lang="en-US" sz="1100" b="1" dirty="0">
                <a:solidFill>
                  <a:srgbClr val="94A6B3"/>
                </a:solidFill>
                <a:latin typeface="Inter" pitchFamily="34" charset="0"/>
                <a:ea typeface="Inter" pitchFamily="34" charset="-122"/>
                <a:cs typeface="Inter" pitchFamily="34" charset="-120"/>
              </a:rPr>
              <a:t>Scalping / enger SL</a:t>
            </a:r>
            <a:endParaRPr lang="en-US" sz="1100" dirty="0"/>
          </a:p>
        </p:txBody>
      </p:sp>
      <p:sp>
        <p:nvSpPr>
          <p:cNvPr id="28" name="Text 26"/>
          <p:cNvSpPr/>
          <p:nvPr/>
        </p:nvSpPr>
        <p:spPr>
          <a:xfrm>
            <a:off x="2871216" y="4306824"/>
            <a:ext cx="2926080" cy="356616"/>
          </a:xfrm>
          <a:prstGeom prst="rect">
            <a:avLst/>
          </a:prstGeom>
          <a:noFill/>
          <a:ln/>
        </p:spPr>
        <p:txBody>
          <a:bodyPr wrap="square" lIns="0" tIns="0" rIns="0" bIns="0" rtlCol="0" anchor="ctr">
            <a:normAutofit/>
          </a:bodyPr>
          <a:lstStyle/>
          <a:p>
            <a:pPr indent="0" marL="0">
              <a:buNone/>
            </a:pPr>
            <a:r>
              <a:rPr lang="en-US" sz="1050" dirty="0">
                <a:solidFill>
                  <a:srgbClr val="94A6B3"/>
                </a:solidFill>
                <a:latin typeface="Inter" pitchFamily="34" charset="0"/>
                <a:ea typeface="Inter" pitchFamily="34" charset="-122"/>
                <a:cs typeface="Inter" pitchFamily="34" charset="-120"/>
              </a:rPr>
              <a:t>Trades + Quotes / Tick</a:t>
            </a:r>
            <a:endParaRPr lang="en-US" sz="1050" dirty="0"/>
          </a:p>
        </p:txBody>
      </p:sp>
      <p:sp>
        <p:nvSpPr>
          <p:cNvPr id="29" name="Text 27"/>
          <p:cNvSpPr/>
          <p:nvPr/>
        </p:nvSpPr>
        <p:spPr>
          <a:xfrm>
            <a:off x="6144768" y="4306824"/>
            <a:ext cx="2926080" cy="356616"/>
          </a:xfrm>
          <a:prstGeom prst="rect">
            <a:avLst/>
          </a:prstGeom>
          <a:noFill/>
          <a:ln/>
        </p:spPr>
        <p:txBody>
          <a:bodyPr wrap="square" lIns="0" tIns="0" rIns="0" bIns="0" rtlCol="0" anchor="ctr">
            <a:normAutofit/>
          </a:bodyPr>
          <a:lstStyle/>
          <a:p>
            <a:pPr indent="0" marL="0">
              <a:buNone/>
            </a:pPr>
            <a:r>
              <a:rPr lang="en-US" sz="1050" dirty="0">
                <a:solidFill>
                  <a:srgbClr val="94A6B3"/>
                </a:solidFill>
                <a:latin typeface="Inter" pitchFamily="34" charset="0"/>
                <a:ea typeface="Inter" pitchFamily="34" charset="-122"/>
                <a:cs typeface="Inter" pitchFamily="34" charset="-120"/>
              </a:rPr>
              <a:t>Bid/Ask, Slippage, Queue</a:t>
            </a:r>
            <a:endParaRPr lang="en-US" sz="1050" dirty="0"/>
          </a:p>
        </p:txBody>
      </p:sp>
      <p:sp>
        <p:nvSpPr>
          <p:cNvPr id="30" name="Text 28"/>
          <p:cNvSpPr/>
          <p:nvPr/>
        </p:nvSpPr>
        <p:spPr>
          <a:xfrm>
            <a:off x="9281160" y="4306824"/>
            <a:ext cx="2011680" cy="356616"/>
          </a:xfrm>
          <a:prstGeom prst="rect">
            <a:avLst/>
          </a:prstGeom>
          <a:noFill/>
          <a:ln/>
        </p:spPr>
        <p:txBody>
          <a:bodyPr wrap="square" lIns="0" tIns="0" rIns="0" bIns="0" rtlCol="0" anchor="ctr">
            <a:normAutofit/>
          </a:bodyPr>
          <a:lstStyle/>
          <a:p>
            <a:pPr indent="0" marL="0">
              <a:buNone/>
            </a:pPr>
            <a:r>
              <a:rPr lang="en-US" sz="1050" dirty="0">
                <a:solidFill>
                  <a:srgbClr val="EDF5F7"/>
                </a:solidFill>
                <a:latin typeface="Inter" pitchFamily="34" charset="0"/>
                <a:ea typeface="Inter" pitchFamily="34" charset="-122"/>
                <a:cs typeface="Inter" pitchFamily="34" charset="-120"/>
              </a:rPr>
              <a:t>1m-Daten nicht ausreichend</a:t>
            </a:r>
            <a:endParaRPr lang="en-US" sz="1050" dirty="0"/>
          </a:p>
        </p:txBody>
      </p:sp>
      <p:sp>
        <p:nvSpPr>
          <p:cNvPr id="31" name="Shape 29"/>
          <p:cNvSpPr/>
          <p:nvPr/>
        </p:nvSpPr>
        <p:spPr>
          <a:xfrm>
            <a:off x="594360" y="4901184"/>
            <a:ext cx="11027664" cy="603504"/>
          </a:xfrm>
          <a:prstGeom prst="roundRect">
            <a:avLst>
              <a:gd name="adj" fmla="val 21212"/>
            </a:avLst>
          </a:prstGeom>
          <a:solidFill>
            <a:srgbClr val="0E141C"/>
          </a:solidFill>
          <a:ln w="8890">
            <a:solidFill>
              <a:srgbClr val="263442"/>
            </a:solidFill>
            <a:prstDash val="solid"/>
          </a:ln>
        </p:spPr>
      </p:sp>
      <p:sp>
        <p:nvSpPr>
          <p:cNvPr id="32" name="Text 30"/>
          <p:cNvSpPr/>
          <p:nvPr/>
        </p:nvSpPr>
        <p:spPr>
          <a:xfrm>
            <a:off x="640080" y="5010912"/>
            <a:ext cx="2057400" cy="356616"/>
          </a:xfrm>
          <a:prstGeom prst="rect">
            <a:avLst/>
          </a:prstGeom>
          <a:noFill/>
          <a:ln/>
        </p:spPr>
        <p:txBody>
          <a:bodyPr wrap="square" lIns="0" tIns="0" rIns="0" bIns="0" rtlCol="0" anchor="ctr">
            <a:normAutofit/>
          </a:bodyPr>
          <a:lstStyle/>
          <a:p>
            <a:pPr indent="0" marL="0">
              <a:buNone/>
            </a:pPr>
            <a:r>
              <a:rPr lang="en-US" sz="1100" b="1" dirty="0">
                <a:solidFill>
                  <a:srgbClr val="94A6B3"/>
                </a:solidFill>
                <a:latin typeface="Inter" pitchFamily="34" charset="0"/>
                <a:ea typeface="Inter" pitchFamily="34" charset="-122"/>
                <a:cs typeface="Inter" pitchFamily="34" charset="-120"/>
              </a:rPr>
              <a:t>Futures</a:t>
            </a:r>
            <a:endParaRPr lang="en-US" sz="1100" dirty="0"/>
          </a:p>
        </p:txBody>
      </p:sp>
      <p:sp>
        <p:nvSpPr>
          <p:cNvPr id="33" name="Text 31"/>
          <p:cNvSpPr/>
          <p:nvPr/>
        </p:nvSpPr>
        <p:spPr>
          <a:xfrm>
            <a:off x="2871216" y="5010912"/>
            <a:ext cx="2926080" cy="356616"/>
          </a:xfrm>
          <a:prstGeom prst="rect">
            <a:avLst/>
          </a:prstGeom>
          <a:noFill/>
          <a:ln/>
        </p:spPr>
        <p:txBody>
          <a:bodyPr wrap="square" lIns="0" tIns="0" rIns="0" bIns="0" rtlCol="0" anchor="ctr">
            <a:normAutofit/>
          </a:bodyPr>
          <a:lstStyle/>
          <a:p>
            <a:pPr indent="0" marL="0">
              <a:buNone/>
            </a:pPr>
            <a:r>
              <a:rPr lang="en-US" sz="1050" dirty="0">
                <a:solidFill>
                  <a:srgbClr val="94A6B3"/>
                </a:solidFill>
                <a:latin typeface="Inter" pitchFamily="34" charset="0"/>
                <a:ea typeface="Inter" pitchFamily="34" charset="-122"/>
                <a:cs typeface="Inter" pitchFamily="34" charset="-120"/>
              </a:rPr>
              <a:t>Kontrakte + Roll-Mapping</a:t>
            </a:r>
            <a:endParaRPr lang="en-US" sz="1050" dirty="0"/>
          </a:p>
        </p:txBody>
      </p:sp>
      <p:sp>
        <p:nvSpPr>
          <p:cNvPr id="34" name="Text 32"/>
          <p:cNvSpPr/>
          <p:nvPr/>
        </p:nvSpPr>
        <p:spPr>
          <a:xfrm>
            <a:off x="6144768" y="5010912"/>
            <a:ext cx="2926080" cy="356616"/>
          </a:xfrm>
          <a:prstGeom prst="rect">
            <a:avLst/>
          </a:prstGeom>
          <a:noFill/>
          <a:ln/>
        </p:spPr>
        <p:txBody>
          <a:bodyPr wrap="square" lIns="0" tIns="0" rIns="0" bIns="0" rtlCol="0" anchor="ctr">
            <a:normAutofit/>
          </a:bodyPr>
          <a:lstStyle/>
          <a:p>
            <a:pPr indent="0" marL="0">
              <a:buNone/>
            </a:pPr>
            <a:r>
              <a:rPr lang="en-US" sz="1050" dirty="0">
                <a:solidFill>
                  <a:srgbClr val="94A6B3"/>
                </a:solidFill>
                <a:latin typeface="Inter" pitchFamily="34" charset="0"/>
                <a:ea typeface="Inter" pitchFamily="34" charset="-122"/>
                <a:cs typeface="Inter" pitchFamily="34" charset="-120"/>
              </a:rPr>
              <a:t>Rollover, Tick Value, Margin</a:t>
            </a:r>
            <a:endParaRPr lang="en-US" sz="1050" dirty="0"/>
          </a:p>
        </p:txBody>
      </p:sp>
      <p:sp>
        <p:nvSpPr>
          <p:cNvPr id="35" name="Text 33"/>
          <p:cNvSpPr/>
          <p:nvPr/>
        </p:nvSpPr>
        <p:spPr>
          <a:xfrm>
            <a:off x="9281160" y="5010912"/>
            <a:ext cx="2011680" cy="356616"/>
          </a:xfrm>
          <a:prstGeom prst="rect">
            <a:avLst/>
          </a:prstGeom>
          <a:noFill/>
          <a:ln/>
        </p:spPr>
        <p:txBody>
          <a:bodyPr wrap="square" lIns="0" tIns="0" rIns="0" bIns="0" rtlCol="0" anchor="ctr">
            <a:normAutofit/>
          </a:bodyPr>
          <a:lstStyle/>
          <a:p>
            <a:pPr indent="0" marL="0">
              <a:buNone/>
            </a:pPr>
            <a:r>
              <a:rPr lang="en-US" sz="1050" dirty="0">
                <a:solidFill>
                  <a:srgbClr val="EDF5F7"/>
                </a:solidFill>
                <a:latin typeface="Inter" pitchFamily="34" charset="0"/>
                <a:ea typeface="Inter" pitchFamily="34" charset="-122"/>
                <a:cs typeface="Inter" pitchFamily="34" charset="-120"/>
              </a:rPr>
              <a:t>Fills auf echten Kontrakten</a:t>
            </a:r>
            <a:endParaRPr lang="en-US" sz="1050" dirty="0"/>
          </a:p>
        </p:txBody>
      </p:sp>
      <p:sp>
        <p:nvSpPr>
          <p:cNvPr id="36" name="Text 34"/>
          <p:cNvSpPr/>
          <p:nvPr/>
        </p:nvSpPr>
        <p:spPr>
          <a:xfrm>
            <a:off x="566928" y="6291072"/>
            <a:ext cx="10972800" cy="128016"/>
          </a:xfrm>
          <a:prstGeom prst="rect">
            <a:avLst/>
          </a:prstGeom>
          <a:noFill/>
          <a:ln/>
        </p:spPr>
        <p:txBody>
          <a:bodyPr wrap="square" lIns="0" tIns="0" rIns="0" bIns="0" rtlCol="0" anchor="ctr">
            <a:normAutofit/>
          </a:bodyPr>
          <a:lstStyle/>
          <a:p>
            <a:pPr indent="0" marL="0">
              <a:buNone/>
            </a:pPr>
            <a:r>
              <a:rPr lang="en-US" sz="700" dirty="0">
                <a:solidFill>
                  <a:srgbClr val="607584"/>
                </a:solidFill>
                <a:latin typeface="Inter" pitchFamily="34" charset="0"/>
                <a:ea typeface="Inter" pitchFamily="34" charset="-122"/>
                <a:cs typeface="Inter" pitchFamily="34" charset="-120"/>
              </a:rPr>
              <a:t>Datenabdeckung, Lizenz, Corporate Actions, Futures-Rolls und Ausführungsdaten müssen geprüft werden.</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DATA INTELLIGENCE</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09</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08 / DATA TRUST</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Daten werden nicht nur geladen – sie werden zertifiziert.</a:t>
            </a:r>
            <a:endParaRPr lang="en-US" sz="2900" dirty="0"/>
          </a:p>
        </p:txBody>
      </p:sp>
      <p:sp>
        <p:nvSpPr>
          <p:cNvPr id="11" name="Shape 9"/>
          <p:cNvSpPr/>
          <p:nvPr/>
        </p:nvSpPr>
        <p:spPr>
          <a:xfrm>
            <a:off x="566928" y="2423160"/>
            <a:ext cx="2121408" cy="1252728"/>
          </a:xfrm>
          <a:prstGeom prst="roundRect">
            <a:avLst>
              <a:gd name="adj" fmla="val 10219"/>
            </a:avLst>
          </a:prstGeom>
          <a:solidFill>
            <a:srgbClr val="121A24"/>
          </a:solidFill>
          <a:ln w="8890">
            <a:solidFill>
              <a:srgbClr val="263442"/>
            </a:solidFill>
            <a:prstDash val="solid"/>
          </a:ln>
        </p:spPr>
      </p:sp>
      <p:sp>
        <p:nvSpPr>
          <p:cNvPr id="12" name="Text 10"/>
          <p:cNvSpPr/>
          <p:nvPr/>
        </p:nvSpPr>
        <p:spPr>
          <a:xfrm>
            <a:off x="731520" y="2587752"/>
            <a:ext cx="457200" cy="246888"/>
          </a:xfrm>
          <a:prstGeom prst="rect">
            <a:avLst/>
          </a:prstGeom>
          <a:noFill/>
          <a:ln/>
        </p:spPr>
        <p:txBody>
          <a:bodyPr wrap="square" lIns="0" tIns="0" rIns="0" bIns="0" rtlCol="0" anchor="ctr">
            <a:normAutofit/>
          </a:bodyPr>
          <a:lstStyle/>
          <a:p>
            <a:pPr indent="0" marL="0">
              <a:buNone/>
            </a:pPr>
            <a:r>
              <a:rPr lang="en-US" sz="1800" b="1" dirty="0">
                <a:solidFill>
                  <a:srgbClr val="69DDCF"/>
                </a:solidFill>
                <a:latin typeface="Inter" pitchFamily="34" charset="0"/>
                <a:ea typeface="Inter" pitchFamily="34" charset="-122"/>
                <a:cs typeface="Inter" pitchFamily="34" charset="-120"/>
              </a:rPr>
              <a:t>01</a:t>
            </a:r>
            <a:endParaRPr lang="en-US" sz="1800" dirty="0"/>
          </a:p>
        </p:txBody>
      </p:sp>
      <p:sp>
        <p:nvSpPr>
          <p:cNvPr id="13" name="Text 11"/>
          <p:cNvSpPr/>
          <p:nvPr/>
        </p:nvSpPr>
        <p:spPr>
          <a:xfrm>
            <a:off x="731520" y="2907792"/>
            <a:ext cx="1828800" cy="228600"/>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SOURCE</a:t>
            </a:r>
            <a:endParaRPr lang="en-US" sz="1200" dirty="0"/>
          </a:p>
        </p:txBody>
      </p:sp>
      <p:sp>
        <p:nvSpPr>
          <p:cNvPr id="14" name="Text 12"/>
          <p:cNvSpPr/>
          <p:nvPr/>
        </p:nvSpPr>
        <p:spPr>
          <a:xfrm>
            <a:off x="731520" y="3227832"/>
            <a:ext cx="1874520" cy="182880"/>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Vendor/API/Import</a:t>
            </a:r>
            <a:endParaRPr lang="en-US" sz="1000" dirty="0"/>
          </a:p>
        </p:txBody>
      </p:sp>
      <p:sp>
        <p:nvSpPr>
          <p:cNvPr id="15" name="Shape 13"/>
          <p:cNvSpPr/>
          <p:nvPr/>
        </p:nvSpPr>
        <p:spPr>
          <a:xfrm>
            <a:off x="2688336" y="3017520"/>
            <a:ext cx="155448" cy="0"/>
          </a:xfrm>
          <a:prstGeom prst="line">
            <a:avLst/>
          </a:prstGeom>
          <a:noFill/>
          <a:ln w="21590">
            <a:solidFill>
              <a:srgbClr val="69DDCF"/>
            </a:solidFill>
            <a:prstDash val="solid"/>
            <a:tailEnd type="triangle"/>
          </a:ln>
        </p:spPr>
      </p:sp>
      <p:sp>
        <p:nvSpPr>
          <p:cNvPr id="16" name="Shape 14"/>
          <p:cNvSpPr/>
          <p:nvPr/>
        </p:nvSpPr>
        <p:spPr>
          <a:xfrm>
            <a:off x="2898648" y="2423160"/>
            <a:ext cx="2121408" cy="1252728"/>
          </a:xfrm>
          <a:prstGeom prst="roundRect">
            <a:avLst>
              <a:gd name="adj" fmla="val 10219"/>
            </a:avLst>
          </a:prstGeom>
          <a:solidFill>
            <a:srgbClr val="121A24"/>
          </a:solidFill>
          <a:ln w="8890">
            <a:solidFill>
              <a:srgbClr val="263442"/>
            </a:solidFill>
            <a:prstDash val="solid"/>
          </a:ln>
        </p:spPr>
      </p:sp>
      <p:sp>
        <p:nvSpPr>
          <p:cNvPr id="17" name="Text 15"/>
          <p:cNvSpPr/>
          <p:nvPr/>
        </p:nvSpPr>
        <p:spPr>
          <a:xfrm>
            <a:off x="3063240" y="2587752"/>
            <a:ext cx="457200" cy="246888"/>
          </a:xfrm>
          <a:prstGeom prst="rect">
            <a:avLst/>
          </a:prstGeom>
          <a:noFill/>
          <a:ln/>
        </p:spPr>
        <p:txBody>
          <a:bodyPr wrap="square" lIns="0" tIns="0" rIns="0" bIns="0" rtlCol="0" anchor="ctr">
            <a:normAutofit/>
          </a:bodyPr>
          <a:lstStyle/>
          <a:p>
            <a:pPr indent="0" marL="0">
              <a:buNone/>
            </a:pPr>
            <a:r>
              <a:rPr lang="en-US" sz="1800" b="1" dirty="0">
                <a:solidFill>
                  <a:srgbClr val="69DDCF"/>
                </a:solidFill>
                <a:latin typeface="Inter" pitchFamily="34" charset="0"/>
                <a:ea typeface="Inter" pitchFamily="34" charset="-122"/>
                <a:cs typeface="Inter" pitchFamily="34" charset="-120"/>
              </a:rPr>
              <a:t>02</a:t>
            </a:r>
            <a:endParaRPr lang="en-US" sz="1800" dirty="0"/>
          </a:p>
        </p:txBody>
      </p:sp>
      <p:sp>
        <p:nvSpPr>
          <p:cNvPr id="18" name="Text 16"/>
          <p:cNvSpPr/>
          <p:nvPr/>
        </p:nvSpPr>
        <p:spPr>
          <a:xfrm>
            <a:off x="3063240" y="2907792"/>
            <a:ext cx="1828800" cy="228600"/>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NORMALIZE</a:t>
            </a:r>
            <a:endParaRPr lang="en-US" sz="1200" dirty="0"/>
          </a:p>
        </p:txBody>
      </p:sp>
      <p:sp>
        <p:nvSpPr>
          <p:cNvPr id="19" name="Text 17"/>
          <p:cNvSpPr/>
          <p:nvPr/>
        </p:nvSpPr>
        <p:spPr>
          <a:xfrm>
            <a:off x="3063240" y="3227832"/>
            <a:ext cx="1874520" cy="182880"/>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UTC + Venue TZ</a:t>
            </a:r>
            <a:endParaRPr lang="en-US" sz="1000" dirty="0"/>
          </a:p>
        </p:txBody>
      </p:sp>
      <p:sp>
        <p:nvSpPr>
          <p:cNvPr id="20" name="Shape 18"/>
          <p:cNvSpPr/>
          <p:nvPr/>
        </p:nvSpPr>
        <p:spPr>
          <a:xfrm>
            <a:off x="5020056" y="3017520"/>
            <a:ext cx="155448" cy="0"/>
          </a:xfrm>
          <a:prstGeom prst="line">
            <a:avLst/>
          </a:prstGeom>
          <a:noFill/>
          <a:ln w="21590">
            <a:solidFill>
              <a:srgbClr val="69DDCF"/>
            </a:solidFill>
            <a:prstDash val="solid"/>
            <a:tailEnd type="triangle"/>
          </a:ln>
        </p:spPr>
      </p:sp>
      <p:sp>
        <p:nvSpPr>
          <p:cNvPr id="21" name="Shape 19"/>
          <p:cNvSpPr/>
          <p:nvPr/>
        </p:nvSpPr>
        <p:spPr>
          <a:xfrm>
            <a:off x="5230368" y="2423160"/>
            <a:ext cx="2121408" cy="1252728"/>
          </a:xfrm>
          <a:prstGeom prst="roundRect">
            <a:avLst>
              <a:gd name="adj" fmla="val 10219"/>
            </a:avLst>
          </a:prstGeom>
          <a:solidFill>
            <a:srgbClr val="121A24"/>
          </a:solidFill>
          <a:ln w="8890">
            <a:solidFill>
              <a:srgbClr val="263442"/>
            </a:solidFill>
            <a:prstDash val="solid"/>
          </a:ln>
        </p:spPr>
      </p:sp>
      <p:sp>
        <p:nvSpPr>
          <p:cNvPr id="22" name="Text 20"/>
          <p:cNvSpPr/>
          <p:nvPr/>
        </p:nvSpPr>
        <p:spPr>
          <a:xfrm>
            <a:off x="5394960" y="2587752"/>
            <a:ext cx="457200" cy="246888"/>
          </a:xfrm>
          <a:prstGeom prst="rect">
            <a:avLst/>
          </a:prstGeom>
          <a:noFill/>
          <a:ln/>
        </p:spPr>
        <p:txBody>
          <a:bodyPr wrap="square" lIns="0" tIns="0" rIns="0" bIns="0" rtlCol="0" anchor="ctr">
            <a:normAutofit/>
          </a:bodyPr>
          <a:lstStyle/>
          <a:p>
            <a:pPr indent="0" marL="0">
              <a:buNone/>
            </a:pPr>
            <a:r>
              <a:rPr lang="en-US" sz="1800" b="1" dirty="0">
                <a:solidFill>
                  <a:srgbClr val="69DDCF"/>
                </a:solidFill>
                <a:latin typeface="Inter" pitchFamily="34" charset="0"/>
                <a:ea typeface="Inter" pitchFamily="34" charset="-122"/>
                <a:cs typeface="Inter" pitchFamily="34" charset="-120"/>
              </a:rPr>
              <a:t>03</a:t>
            </a:r>
            <a:endParaRPr lang="en-US" sz="1800" dirty="0"/>
          </a:p>
        </p:txBody>
      </p:sp>
      <p:sp>
        <p:nvSpPr>
          <p:cNvPr id="23" name="Text 21"/>
          <p:cNvSpPr/>
          <p:nvPr/>
        </p:nvSpPr>
        <p:spPr>
          <a:xfrm>
            <a:off x="5394960" y="2907792"/>
            <a:ext cx="1828800" cy="228600"/>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AUDIT</a:t>
            </a:r>
            <a:endParaRPr lang="en-US" sz="1200" dirty="0"/>
          </a:p>
        </p:txBody>
      </p:sp>
      <p:sp>
        <p:nvSpPr>
          <p:cNvPr id="24" name="Text 22"/>
          <p:cNvSpPr/>
          <p:nvPr/>
        </p:nvSpPr>
        <p:spPr>
          <a:xfrm>
            <a:off x="5394960" y="3227832"/>
            <a:ext cx="1874520" cy="182880"/>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Gaps / Duplicates</a:t>
            </a:r>
            <a:endParaRPr lang="en-US" sz="1000" dirty="0"/>
          </a:p>
        </p:txBody>
      </p:sp>
      <p:sp>
        <p:nvSpPr>
          <p:cNvPr id="25" name="Shape 23"/>
          <p:cNvSpPr/>
          <p:nvPr/>
        </p:nvSpPr>
        <p:spPr>
          <a:xfrm>
            <a:off x="7351776" y="3017520"/>
            <a:ext cx="155448" cy="0"/>
          </a:xfrm>
          <a:prstGeom prst="line">
            <a:avLst/>
          </a:prstGeom>
          <a:noFill/>
          <a:ln w="21590">
            <a:solidFill>
              <a:srgbClr val="69DDCF"/>
            </a:solidFill>
            <a:prstDash val="solid"/>
            <a:tailEnd type="triangle"/>
          </a:ln>
        </p:spPr>
      </p:sp>
      <p:sp>
        <p:nvSpPr>
          <p:cNvPr id="26" name="Shape 24"/>
          <p:cNvSpPr/>
          <p:nvPr/>
        </p:nvSpPr>
        <p:spPr>
          <a:xfrm>
            <a:off x="7562088" y="2423160"/>
            <a:ext cx="2121408" cy="1252728"/>
          </a:xfrm>
          <a:prstGeom prst="roundRect">
            <a:avLst>
              <a:gd name="adj" fmla="val 10219"/>
            </a:avLst>
          </a:prstGeom>
          <a:solidFill>
            <a:srgbClr val="121A24"/>
          </a:solidFill>
          <a:ln w="8890">
            <a:solidFill>
              <a:srgbClr val="263442"/>
            </a:solidFill>
            <a:prstDash val="solid"/>
          </a:ln>
        </p:spPr>
      </p:sp>
      <p:sp>
        <p:nvSpPr>
          <p:cNvPr id="27" name="Text 25"/>
          <p:cNvSpPr/>
          <p:nvPr/>
        </p:nvSpPr>
        <p:spPr>
          <a:xfrm>
            <a:off x="7726680" y="2587752"/>
            <a:ext cx="457200" cy="246888"/>
          </a:xfrm>
          <a:prstGeom prst="rect">
            <a:avLst/>
          </a:prstGeom>
          <a:noFill/>
          <a:ln/>
        </p:spPr>
        <p:txBody>
          <a:bodyPr wrap="square" lIns="0" tIns="0" rIns="0" bIns="0" rtlCol="0" anchor="ctr">
            <a:normAutofit/>
          </a:bodyPr>
          <a:lstStyle/>
          <a:p>
            <a:pPr indent="0" marL="0">
              <a:buNone/>
            </a:pPr>
            <a:r>
              <a:rPr lang="en-US" sz="1800" b="1" dirty="0">
                <a:solidFill>
                  <a:srgbClr val="69DDCF"/>
                </a:solidFill>
                <a:latin typeface="Inter" pitchFamily="34" charset="0"/>
                <a:ea typeface="Inter" pitchFamily="34" charset="-122"/>
                <a:cs typeface="Inter" pitchFamily="34" charset="-120"/>
              </a:rPr>
              <a:t>04</a:t>
            </a:r>
            <a:endParaRPr lang="en-US" sz="1800" dirty="0"/>
          </a:p>
        </p:txBody>
      </p:sp>
      <p:sp>
        <p:nvSpPr>
          <p:cNvPr id="28" name="Text 26"/>
          <p:cNvSpPr/>
          <p:nvPr/>
        </p:nvSpPr>
        <p:spPr>
          <a:xfrm>
            <a:off x="7726680" y="2907792"/>
            <a:ext cx="1828800" cy="228600"/>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RESOLVE</a:t>
            </a:r>
            <a:endParaRPr lang="en-US" sz="1200" dirty="0"/>
          </a:p>
        </p:txBody>
      </p:sp>
      <p:sp>
        <p:nvSpPr>
          <p:cNvPr id="29" name="Text 27"/>
          <p:cNvSpPr/>
          <p:nvPr/>
        </p:nvSpPr>
        <p:spPr>
          <a:xfrm>
            <a:off x="7726680" y="3227832"/>
            <a:ext cx="1874520" cy="182880"/>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Symbols / Rolls</a:t>
            </a:r>
            <a:endParaRPr lang="en-US" sz="1000" dirty="0"/>
          </a:p>
        </p:txBody>
      </p:sp>
      <p:sp>
        <p:nvSpPr>
          <p:cNvPr id="30" name="Shape 28"/>
          <p:cNvSpPr/>
          <p:nvPr/>
        </p:nvSpPr>
        <p:spPr>
          <a:xfrm>
            <a:off x="9683496" y="3017520"/>
            <a:ext cx="155448" cy="0"/>
          </a:xfrm>
          <a:prstGeom prst="line">
            <a:avLst/>
          </a:prstGeom>
          <a:noFill/>
          <a:ln w="21590">
            <a:solidFill>
              <a:srgbClr val="69DDCF"/>
            </a:solidFill>
            <a:prstDash val="solid"/>
            <a:tailEnd type="triangle"/>
          </a:ln>
        </p:spPr>
      </p:sp>
      <p:sp>
        <p:nvSpPr>
          <p:cNvPr id="31" name="Shape 29"/>
          <p:cNvSpPr/>
          <p:nvPr/>
        </p:nvSpPr>
        <p:spPr>
          <a:xfrm>
            <a:off x="9893808" y="2423160"/>
            <a:ext cx="2121408" cy="1252728"/>
          </a:xfrm>
          <a:prstGeom prst="roundRect">
            <a:avLst>
              <a:gd name="adj" fmla="val 10219"/>
            </a:avLst>
          </a:prstGeom>
          <a:solidFill>
            <a:srgbClr val="121A24"/>
          </a:solidFill>
          <a:ln w="8890">
            <a:solidFill>
              <a:srgbClr val="263442"/>
            </a:solidFill>
            <a:prstDash val="solid"/>
          </a:ln>
        </p:spPr>
      </p:sp>
      <p:sp>
        <p:nvSpPr>
          <p:cNvPr id="32" name="Text 30"/>
          <p:cNvSpPr/>
          <p:nvPr/>
        </p:nvSpPr>
        <p:spPr>
          <a:xfrm>
            <a:off x="10058400" y="2587752"/>
            <a:ext cx="457200" cy="246888"/>
          </a:xfrm>
          <a:prstGeom prst="rect">
            <a:avLst/>
          </a:prstGeom>
          <a:noFill/>
          <a:ln/>
        </p:spPr>
        <p:txBody>
          <a:bodyPr wrap="square" lIns="0" tIns="0" rIns="0" bIns="0" rtlCol="0" anchor="ctr">
            <a:normAutofit/>
          </a:bodyPr>
          <a:lstStyle/>
          <a:p>
            <a:pPr indent="0" marL="0">
              <a:buNone/>
            </a:pPr>
            <a:r>
              <a:rPr lang="en-US" sz="1800" b="1" dirty="0">
                <a:solidFill>
                  <a:srgbClr val="69DDCF"/>
                </a:solidFill>
                <a:latin typeface="Inter" pitchFamily="34" charset="0"/>
                <a:ea typeface="Inter" pitchFamily="34" charset="-122"/>
                <a:cs typeface="Inter" pitchFamily="34" charset="-120"/>
              </a:rPr>
              <a:t>05</a:t>
            </a:r>
            <a:endParaRPr lang="en-US" sz="1800" dirty="0"/>
          </a:p>
        </p:txBody>
      </p:sp>
      <p:sp>
        <p:nvSpPr>
          <p:cNvPr id="33" name="Text 31"/>
          <p:cNvSpPr/>
          <p:nvPr/>
        </p:nvSpPr>
        <p:spPr>
          <a:xfrm>
            <a:off x="10058400" y="2907792"/>
            <a:ext cx="1828800" cy="228600"/>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FREEZE</a:t>
            </a:r>
            <a:endParaRPr lang="en-US" sz="1200" dirty="0"/>
          </a:p>
        </p:txBody>
      </p:sp>
      <p:sp>
        <p:nvSpPr>
          <p:cNvPr id="34" name="Text 32"/>
          <p:cNvSpPr/>
          <p:nvPr/>
        </p:nvSpPr>
        <p:spPr>
          <a:xfrm>
            <a:off x="10058400" y="3227832"/>
            <a:ext cx="1874520" cy="182880"/>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Immutable snapshot</a:t>
            </a:r>
            <a:endParaRPr lang="en-US" sz="1000" dirty="0"/>
          </a:p>
        </p:txBody>
      </p:sp>
      <p:sp>
        <p:nvSpPr>
          <p:cNvPr id="35" name="Shape 33"/>
          <p:cNvSpPr/>
          <p:nvPr/>
        </p:nvSpPr>
        <p:spPr>
          <a:xfrm>
            <a:off x="667512" y="4105656"/>
            <a:ext cx="10844784" cy="1152144"/>
          </a:xfrm>
          <a:prstGeom prst="roundRect">
            <a:avLst>
              <a:gd name="adj" fmla="val 11111"/>
            </a:avLst>
          </a:prstGeom>
          <a:solidFill>
            <a:srgbClr val="16212C"/>
          </a:solidFill>
          <a:ln w="8890">
            <a:solidFill>
              <a:srgbClr val="263442"/>
            </a:solidFill>
            <a:prstDash val="solid"/>
          </a:ln>
        </p:spPr>
      </p:sp>
      <p:sp>
        <p:nvSpPr>
          <p:cNvPr id="36" name="Text 34"/>
          <p:cNvSpPr/>
          <p:nvPr/>
        </p:nvSpPr>
        <p:spPr>
          <a:xfrm>
            <a:off x="914400" y="4370832"/>
            <a:ext cx="2057400" cy="219456"/>
          </a:xfrm>
          <a:prstGeom prst="rect">
            <a:avLst/>
          </a:prstGeom>
          <a:noFill/>
          <a:ln/>
        </p:spPr>
        <p:txBody>
          <a:bodyPr wrap="square" lIns="0" tIns="0" rIns="0" bIns="0" rtlCol="0" anchor="ctr">
            <a:normAutofit/>
          </a:bodyPr>
          <a:lstStyle/>
          <a:p>
            <a:pPr indent="0" marL="0">
              <a:buNone/>
            </a:pPr>
            <a:r>
              <a:rPr lang="en-US" sz="1300" b="1" dirty="0">
                <a:solidFill>
                  <a:srgbClr val="69DDCF"/>
                </a:solidFill>
                <a:latin typeface="Inter" pitchFamily="34" charset="0"/>
                <a:ea typeface="Inter" pitchFamily="34" charset="-122"/>
                <a:cs typeface="Inter" pitchFamily="34" charset="-120"/>
              </a:rPr>
              <a:t>DATA PASSPORT</a:t>
            </a:r>
            <a:endParaRPr lang="en-US" sz="1300" dirty="0"/>
          </a:p>
        </p:txBody>
      </p:sp>
      <p:sp>
        <p:nvSpPr>
          <p:cNvPr id="37" name="Text 35"/>
          <p:cNvSpPr/>
          <p:nvPr/>
        </p:nvSpPr>
        <p:spPr>
          <a:xfrm>
            <a:off x="914400" y="4791456"/>
            <a:ext cx="10250424" cy="21031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Provider  ·  Dataset  ·  Coverage  ·  Schema  ·  Instrument IDs  ·  License  ·  QA findings  ·  SHA-256</a:t>
            </a:r>
            <a:endParaRPr lang="en-US" sz="1200" dirty="0"/>
          </a:p>
        </p:txBody>
      </p:sp>
      <p:sp>
        <p:nvSpPr>
          <p:cNvPr id="38" name="Text 36"/>
          <p:cNvSpPr/>
          <p:nvPr/>
        </p:nvSpPr>
        <p:spPr>
          <a:xfrm>
            <a:off x="676656" y="5641848"/>
            <a:ext cx="10744200" cy="310896"/>
          </a:xfrm>
          <a:prstGeom prst="rect">
            <a:avLst/>
          </a:prstGeom>
          <a:noFill/>
          <a:ln/>
        </p:spPr>
        <p:txBody>
          <a:bodyPr wrap="square" lIns="0" tIns="0" rIns="0" bIns="0" rtlCol="0" anchor="ctr">
            <a:normAutofit/>
          </a:bodyPr>
          <a:lstStyle/>
          <a:p>
            <a:pPr indent="0" marL="0">
              <a:buNone/>
            </a:pPr>
            <a:r>
              <a:rPr lang="en-US" sz="1400" b="1" dirty="0">
                <a:solidFill>
                  <a:srgbClr val="F1C479"/>
                </a:solidFill>
                <a:latin typeface="Inter" pitchFamily="34" charset="0"/>
                <a:ea typeface="Inter" pitchFamily="34" charset="-122"/>
                <a:cs typeface="Inter" pitchFamily="34" charset="-120"/>
              </a:rPr>
              <a:t>Fail closed: kritische Datenfehler stoppen den Test – statt Performance zu erfinden.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EXECUTION MODEL</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10</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09 / CRITICAL MECHANIC</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Eine grüne Kerze beweist keinen profitablen Trade.</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Signalqualität ≠ Ausführungsqualität. Der Simulator braucht echte zeitliche Kausalität.</a:t>
            </a:r>
            <a:endParaRPr lang="en-US" sz="1300" dirty="0"/>
          </a:p>
        </p:txBody>
      </p:sp>
      <p:sp>
        <p:nvSpPr>
          <p:cNvPr id="12" name="Shape 10"/>
          <p:cNvSpPr/>
          <p:nvPr/>
        </p:nvSpPr>
        <p:spPr>
          <a:xfrm>
            <a:off x="640080" y="2496312"/>
            <a:ext cx="5715000" cy="2615184"/>
          </a:xfrm>
          <a:prstGeom prst="roundRect">
            <a:avLst>
              <a:gd name="adj" fmla="val 4895"/>
            </a:avLst>
          </a:prstGeom>
          <a:solidFill>
            <a:srgbClr val="121A24"/>
          </a:solidFill>
          <a:ln w="8890">
            <a:solidFill>
              <a:srgbClr val="263442"/>
            </a:solidFill>
            <a:prstDash val="solid"/>
          </a:ln>
        </p:spPr>
      </p:sp>
      <p:sp>
        <p:nvSpPr>
          <p:cNvPr id="13" name="Text 11"/>
          <p:cNvSpPr/>
          <p:nvPr/>
        </p:nvSpPr>
        <p:spPr>
          <a:xfrm>
            <a:off x="877824" y="2770632"/>
            <a:ext cx="3200400" cy="182880"/>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EIN 1-MINUTEN-BAR</a:t>
            </a:r>
            <a:endParaRPr lang="en-US" sz="1000" dirty="0"/>
          </a:p>
        </p:txBody>
      </p:sp>
      <p:sp>
        <p:nvSpPr>
          <p:cNvPr id="14" name="Shape 12"/>
          <p:cNvSpPr/>
          <p:nvPr/>
        </p:nvSpPr>
        <p:spPr>
          <a:xfrm>
            <a:off x="2980944" y="3209544"/>
            <a:ext cx="0" cy="1527048"/>
          </a:xfrm>
          <a:prstGeom prst="line">
            <a:avLst/>
          </a:prstGeom>
          <a:noFill/>
          <a:ln w="16510">
            <a:solidFill>
              <a:srgbClr val="607584"/>
            </a:solidFill>
            <a:prstDash val="solid"/>
          </a:ln>
        </p:spPr>
      </p:sp>
      <p:sp>
        <p:nvSpPr>
          <p:cNvPr id="15" name="Shape 13"/>
          <p:cNvSpPr/>
          <p:nvPr/>
        </p:nvSpPr>
        <p:spPr>
          <a:xfrm>
            <a:off x="2788920" y="3602736"/>
            <a:ext cx="365760" cy="649224"/>
          </a:xfrm>
          <a:prstGeom prst="roundRect">
            <a:avLst>
              <a:gd name="adj" fmla="val 35000"/>
            </a:avLst>
          </a:prstGeom>
          <a:solidFill>
            <a:srgbClr val="69DDCF"/>
          </a:solidFill>
          <a:ln w="8890">
            <a:solidFill>
              <a:srgbClr val="69DDCF"/>
            </a:solidFill>
            <a:prstDash val="solid"/>
          </a:ln>
        </p:spPr>
      </p:sp>
      <p:sp>
        <p:nvSpPr>
          <p:cNvPr id="16" name="Shape 14"/>
          <p:cNvSpPr/>
          <p:nvPr/>
        </p:nvSpPr>
        <p:spPr>
          <a:xfrm>
            <a:off x="2414016" y="3355848"/>
            <a:ext cx="1161288" cy="0"/>
          </a:xfrm>
          <a:prstGeom prst="line">
            <a:avLst/>
          </a:prstGeom>
          <a:noFill/>
          <a:ln w="19050">
            <a:solidFill>
              <a:srgbClr val="91DFC0"/>
            </a:solidFill>
            <a:prstDash val="dash"/>
          </a:ln>
        </p:spPr>
      </p:sp>
      <p:sp>
        <p:nvSpPr>
          <p:cNvPr id="17" name="Shape 15"/>
          <p:cNvSpPr/>
          <p:nvPr/>
        </p:nvSpPr>
        <p:spPr>
          <a:xfrm>
            <a:off x="2414016" y="4443984"/>
            <a:ext cx="1161288" cy="0"/>
          </a:xfrm>
          <a:prstGeom prst="line">
            <a:avLst/>
          </a:prstGeom>
          <a:noFill/>
          <a:ln w="19050">
            <a:solidFill>
              <a:srgbClr val="F18E91"/>
            </a:solidFill>
            <a:prstDash val="dash"/>
          </a:ln>
        </p:spPr>
      </p:sp>
      <p:sp>
        <p:nvSpPr>
          <p:cNvPr id="18" name="Text 16"/>
          <p:cNvSpPr/>
          <p:nvPr/>
        </p:nvSpPr>
        <p:spPr>
          <a:xfrm>
            <a:off x="3803904" y="3246120"/>
            <a:ext cx="1280160" cy="210312"/>
          </a:xfrm>
          <a:prstGeom prst="rect">
            <a:avLst/>
          </a:prstGeom>
          <a:noFill/>
          <a:ln/>
        </p:spPr>
        <p:txBody>
          <a:bodyPr wrap="square" lIns="0" tIns="0" rIns="0" bIns="0" rtlCol="0" anchor="ctr">
            <a:normAutofit/>
          </a:bodyPr>
          <a:lstStyle/>
          <a:p>
            <a:pPr indent="0" marL="0">
              <a:buNone/>
            </a:pPr>
            <a:r>
              <a:rPr lang="en-US" sz="1100" b="1" dirty="0">
                <a:solidFill>
                  <a:srgbClr val="91DFC0"/>
                </a:solidFill>
                <a:latin typeface="Inter" pitchFamily="34" charset="0"/>
                <a:ea typeface="Inter" pitchFamily="34" charset="-122"/>
                <a:cs typeface="Inter" pitchFamily="34" charset="-120"/>
              </a:rPr>
              <a:t>TARGET</a:t>
            </a:r>
            <a:endParaRPr lang="en-US" sz="1100" dirty="0"/>
          </a:p>
        </p:txBody>
      </p:sp>
      <p:sp>
        <p:nvSpPr>
          <p:cNvPr id="19" name="Text 17"/>
          <p:cNvSpPr/>
          <p:nvPr/>
        </p:nvSpPr>
        <p:spPr>
          <a:xfrm>
            <a:off x="3803904" y="4343400"/>
            <a:ext cx="1280160" cy="210312"/>
          </a:xfrm>
          <a:prstGeom prst="rect">
            <a:avLst/>
          </a:prstGeom>
          <a:noFill/>
          <a:ln/>
        </p:spPr>
        <p:txBody>
          <a:bodyPr wrap="square" lIns="0" tIns="0" rIns="0" bIns="0" rtlCol="0" anchor="ctr">
            <a:normAutofit/>
          </a:bodyPr>
          <a:lstStyle/>
          <a:p>
            <a:pPr indent="0" marL="0">
              <a:buNone/>
            </a:pPr>
            <a:r>
              <a:rPr lang="en-US" sz="1100" b="1" dirty="0">
                <a:solidFill>
                  <a:srgbClr val="F18E91"/>
                </a:solidFill>
                <a:latin typeface="Inter" pitchFamily="34" charset="0"/>
                <a:ea typeface="Inter" pitchFamily="34" charset="-122"/>
                <a:cs typeface="Inter" pitchFamily="34" charset="-120"/>
              </a:rPr>
              <a:t>STOP</a:t>
            </a:r>
            <a:endParaRPr lang="en-US" sz="1100" dirty="0"/>
          </a:p>
        </p:txBody>
      </p:sp>
      <p:sp>
        <p:nvSpPr>
          <p:cNvPr id="20" name="Text 18"/>
          <p:cNvSpPr/>
          <p:nvPr/>
        </p:nvSpPr>
        <p:spPr>
          <a:xfrm>
            <a:off x="923544" y="4617720"/>
            <a:ext cx="5120640" cy="210312"/>
          </a:xfrm>
          <a:prstGeom prst="rect">
            <a:avLst/>
          </a:prstGeom>
          <a:noFill/>
          <a:ln/>
        </p:spPr>
        <p:txBody>
          <a:bodyPr wrap="square" lIns="0" tIns="0" rIns="0" bIns="0" rtlCol="0" anchor="ctr">
            <a:normAutofit/>
          </a:bodyPr>
          <a:lstStyle/>
          <a:p>
            <a:pPr indent="0" marL="0">
              <a:buNone/>
            </a:pPr>
            <a:r>
              <a:rPr lang="en-US" sz="1000" dirty="0">
                <a:solidFill>
                  <a:srgbClr val="94A6B3"/>
                </a:solidFill>
                <a:latin typeface="Inter" pitchFamily="34" charset="0"/>
                <a:ea typeface="Inter" pitchFamily="34" charset="-122"/>
                <a:cs typeface="Inter" pitchFamily="34" charset="-120"/>
              </a:rPr>
              <a:t>Beide Niveaus erreicht. Welche Reihenfolge?</a:t>
            </a:r>
            <a:endParaRPr lang="en-US" sz="1000" dirty="0"/>
          </a:p>
        </p:txBody>
      </p:sp>
      <p:sp>
        <p:nvSpPr>
          <p:cNvPr id="21" name="Shape 19"/>
          <p:cNvSpPr/>
          <p:nvPr/>
        </p:nvSpPr>
        <p:spPr>
          <a:xfrm>
            <a:off x="6574536" y="2496312"/>
            <a:ext cx="4937760" cy="2615184"/>
          </a:xfrm>
          <a:prstGeom prst="roundRect">
            <a:avLst>
              <a:gd name="adj" fmla="val 4895"/>
            </a:avLst>
          </a:prstGeom>
          <a:solidFill>
            <a:srgbClr val="16212C"/>
          </a:solidFill>
          <a:ln w="8890">
            <a:solidFill>
              <a:srgbClr val="263442"/>
            </a:solidFill>
            <a:prstDash val="solid"/>
          </a:ln>
        </p:spPr>
      </p:sp>
      <p:sp>
        <p:nvSpPr>
          <p:cNvPr id="22" name="Text 20"/>
          <p:cNvSpPr/>
          <p:nvPr/>
        </p:nvSpPr>
        <p:spPr>
          <a:xfrm>
            <a:off x="6839712" y="2798064"/>
            <a:ext cx="3886200" cy="201168"/>
          </a:xfrm>
          <a:prstGeom prst="rect">
            <a:avLst/>
          </a:prstGeom>
          <a:noFill/>
          <a:ln/>
        </p:spPr>
        <p:txBody>
          <a:bodyPr wrap="square" lIns="0" tIns="0" rIns="0" bIns="0" rtlCol="0" anchor="ctr">
            <a:normAutofit/>
          </a:bodyPr>
          <a:lstStyle/>
          <a:p>
            <a:pPr indent="0" marL="0">
              <a:buNone/>
            </a:pPr>
            <a:r>
              <a:rPr lang="en-US" sz="1100" b="1" dirty="0">
                <a:solidFill>
                  <a:srgbClr val="69DDCF"/>
                </a:solidFill>
                <a:latin typeface="Inter" pitchFamily="34" charset="0"/>
                <a:ea typeface="Inter" pitchFamily="34" charset="-122"/>
                <a:cs typeface="Inter" pitchFamily="34" charset="-120"/>
              </a:rPr>
              <a:t>JARVIS RESPONSE</a:t>
            </a:r>
            <a:endParaRPr lang="en-US" sz="1100" dirty="0"/>
          </a:p>
        </p:txBody>
      </p:sp>
      <p:sp>
        <p:nvSpPr>
          <p:cNvPr id="23" name="Text 21"/>
          <p:cNvSpPr/>
          <p:nvPr/>
        </p:nvSpPr>
        <p:spPr>
          <a:xfrm>
            <a:off x="6821424" y="3255264"/>
            <a:ext cx="4224528" cy="1197864"/>
          </a:xfrm>
          <a:prstGeom prst="rect">
            <a:avLst/>
          </a:prstGeom>
          <a:noFill/>
          <a:ln/>
        </p:spPr>
        <p:txBody>
          <a:bodyPr wrap="square" lIns="0" tIns="0" rIns="0" bIns="0" rtlCol="0" anchor="ctr">
            <a:normAutofit/>
          </a:bodyPr>
          <a:lstStyle/>
          <a:p>
            <a:pPr indent="0" marL="0">
              <a:buNone/>
            </a:pPr>
            <a:r>
              <a:rPr lang="en-US" sz="1700" dirty="0">
                <a:solidFill>
                  <a:srgbClr val="EDF5F7"/>
                </a:solidFill>
                <a:latin typeface="Inter" pitchFamily="34" charset="0"/>
                <a:ea typeface="Inter" pitchFamily="34" charset="-122"/>
                <a:cs typeface="Inter" pitchFamily="34" charset="-120"/>
              </a:rPr>
              <a:t>„Reihenfolge nicht bestimmbar. Ich markiere diesen Trade als mehrdeutig und zeige konservative Szenarien oder fordere Tickdaten an.“</a:t>
            </a:r>
            <a:endParaRPr lang="en-US" sz="1700" dirty="0"/>
          </a:p>
        </p:txBody>
      </p:sp>
      <p:sp>
        <p:nvSpPr>
          <p:cNvPr id="24" name="Text 22"/>
          <p:cNvSpPr/>
          <p:nvPr/>
        </p:nvSpPr>
        <p:spPr>
          <a:xfrm>
            <a:off x="566928" y="6291072"/>
            <a:ext cx="10972800" cy="128016"/>
          </a:xfrm>
          <a:prstGeom prst="rect">
            <a:avLst/>
          </a:prstGeom>
          <a:noFill/>
          <a:ln/>
        </p:spPr>
        <p:txBody>
          <a:bodyPr wrap="square" lIns="0" tIns="0" rIns="0" bIns="0" rtlCol="0" anchor="ctr">
            <a:normAutofit/>
          </a:bodyPr>
          <a:lstStyle/>
          <a:p>
            <a:pPr indent="0" marL="0">
              <a:buNone/>
            </a:pPr>
            <a:r>
              <a:rPr lang="en-US" sz="700" dirty="0">
                <a:solidFill>
                  <a:srgbClr val="607584"/>
                </a:solidFill>
                <a:latin typeface="Inter" pitchFamily="34" charset="0"/>
                <a:ea typeface="Inter" pitchFamily="34" charset="-122"/>
                <a:cs typeface="Inter" pitchFamily="34" charset="-120"/>
              </a:rPr>
              <a:t>Weitere Faktoren: Signalzeitpunkt → nächster handelbarer Preis → Spread → Fees → Slippage → Latenz → Fill/No-Fill.</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SIMULATION ENGINE</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11</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10 / ARCHITECTURE</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Zwei Ebenen: Speed für Suche. Genauigkeit für Prüfung.</a:t>
            </a:r>
            <a:endParaRPr lang="en-US" sz="2900" dirty="0"/>
          </a:p>
        </p:txBody>
      </p:sp>
      <p:sp>
        <p:nvSpPr>
          <p:cNvPr id="11" name="Shape 9"/>
          <p:cNvSpPr/>
          <p:nvPr/>
        </p:nvSpPr>
        <p:spPr>
          <a:xfrm>
            <a:off x="667512" y="2532888"/>
            <a:ext cx="5221224" cy="2240280"/>
          </a:xfrm>
          <a:prstGeom prst="roundRect">
            <a:avLst>
              <a:gd name="adj" fmla="val 5714"/>
            </a:avLst>
          </a:prstGeom>
          <a:solidFill>
            <a:srgbClr val="121A24"/>
          </a:solidFill>
          <a:ln w="8890">
            <a:solidFill>
              <a:srgbClr val="263442"/>
            </a:solidFill>
            <a:prstDash val="solid"/>
          </a:ln>
        </p:spPr>
      </p:sp>
      <p:sp>
        <p:nvSpPr>
          <p:cNvPr id="12" name="Shape 10"/>
          <p:cNvSpPr/>
          <p:nvPr/>
        </p:nvSpPr>
        <p:spPr>
          <a:xfrm>
            <a:off x="886968" y="2734056"/>
            <a:ext cx="1655064" cy="265176"/>
          </a:xfrm>
          <a:prstGeom prst="roundRect">
            <a:avLst>
              <a:gd name="adj" fmla="val 27586"/>
            </a:avLst>
          </a:prstGeom>
          <a:solidFill>
            <a:srgbClr val="16212C"/>
          </a:solidFill>
          <a:ln w="6985">
            <a:solidFill>
              <a:srgbClr val="263442"/>
            </a:solidFill>
            <a:prstDash val="solid"/>
          </a:ln>
        </p:spPr>
      </p:sp>
      <p:sp>
        <p:nvSpPr>
          <p:cNvPr id="13" name="Text 11"/>
          <p:cNvSpPr/>
          <p:nvPr/>
        </p:nvSpPr>
        <p:spPr>
          <a:xfrm>
            <a:off x="969264" y="2761488"/>
            <a:ext cx="1490472" cy="173736"/>
          </a:xfrm>
          <a:prstGeom prst="rect">
            <a:avLst/>
          </a:prstGeom>
          <a:noFill/>
          <a:ln/>
        </p:spPr>
        <p:txBody>
          <a:bodyPr wrap="square" lIns="0" tIns="0" rIns="0" bIns="0" rtlCol="0" anchor="ctr">
            <a:normAutofit/>
          </a:bodyPr>
          <a:lstStyle/>
          <a:p>
            <a:pPr indent="0" marL="0">
              <a:buNone/>
            </a:pPr>
            <a:r>
              <a:rPr lang="en-US" sz="800" b="1" spc="110" kern="0" dirty="0">
                <a:solidFill>
                  <a:srgbClr val="69DDCF"/>
                </a:solidFill>
                <a:latin typeface="Inter" pitchFamily="34" charset="0"/>
                <a:ea typeface="Inter" pitchFamily="34" charset="-122"/>
                <a:cs typeface="Inter" pitchFamily="34" charset="-120"/>
              </a:rPr>
              <a:t>RESEARCH ENGINE</a:t>
            </a:r>
            <a:endParaRPr lang="en-US" sz="800" dirty="0"/>
          </a:p>
        </p:txBody>
      </p:sp>
      <p:sp>
        <p:nvSpPr>
          <p:cNvPr id="14" name="Text 12"/>
          <p:cNvSpPr/>
          <p:nvPr/>
        </p:nvSpPr>
        <p:spPr>
          <a:xfrm>
            <a:off x="914400" y="3209544"/>
            <a:ext cx="4572000" cy="365760"/>
          </a:xfrm>
          <a:prstGeom prst="rect">
            <a:avLst/>
          </a:prstGeom>
          <a:noFill/>
          <a:ln/>
        </p:spPr>
        <p:txBody>
          <a:bodyPr wrap="square" lIns="0" tIns="0" rIns="0" bIns="0" rtlCol="0" anchor="ctr">
            <a:normAutofit/>
          </a:bodyPr>
          <a:lstStyle/>
          <a:p>
            <a:pPr indent="0" marL="0">
              <a:buNone/>
            </a:pPr>
            <a:r>
              <a:rPr lang="en-US" sz="2000" b="1" dirty="0">
                <a:solidFill>
                  <a:srgbClr val="EDF5F7"/>
                </a:solidFill>
                <a:latin typeface="Inter" pitchFamily="34" charset="0"/>
                <a:ea typeface="Inter" pitchFamily="34" charset="-122"/>
                <a:cs typeface="Inter" pitchFamily="34" charset="-120"/>
              </a:rPr>
              <a:t>Vectorisierte Backtests</a:t>
            </a:r>
            <a:endParaRPr lang="en-US" sz="2000" dirty="0"/>
          </a:p>
        </p:txBody>
      </p:sp>
      <p:sp>
        <p:nvSpPr>
          <p:cNvPr id="15" name="Text 13"/>
          <p:cNvSpPr/>
          <p:nvPr/>
        </p:nvSpPr>
        <p:spPr>
          <a:xfrm>
            <a:off x="923544" y="3758184"/>
            <a:ext cx="4562856" cy="694944"/>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Viele Konfigurationen schnell vergleichen; Parameterflächen, grobe Hypothesen, Kosten-Szenarien.</a:t>
            </a:r>
            <a:endParaRPr lang="en-US" sz="1200" dirty="0"/>
          </a:p>
        </p:txBody>
      </p:sp>
      <p:sp>
        <p:nvSpPr>
          <p:cNvPr id="16" name="Shape 14"/>
          <p:cNvSpPr/>
          <p:nvPr/>
        </p:nvSpPr>
        <p:spPr>
          <a:xfrm>
            <a:off x="6254496" y="2532888"/>
            <a:ext cx="5230368" cy="2240280"/>
          </a:xfrm>
          <a:prstGeom prst="roundRect">
            <a:avLst>
              <a:gd name="adj" fmla="val 5714"/>
            </a:avLst>
          </a:prstGeom>
          <a:solidFill>
            <a:srgbClr val="16212C"/>
          </a:solidFill>
          <a:ln w="8890">
            <a:solidFill>
              <a:srgbClr val="263442"/>
            </a:solidFill>
            <a:prstDash val="solid"/>
          </a:ln>
        </p:spPr>
      </p:sp>
      <p:sp>
        <p:nvSpPr>
          <p:cNvPr id="17" name="Shape 15"/>
          <p:cNvSpPr/>
          <p:nvPr/>
        </p:nvSpPr>
        <p:spPr>
          <a:xfrm>
            <a:off x="6473952" y="2734056"/>
            <a:ext cx="1691640" cy="265176"/>
          </a:xfrm>
          <a:prstGeom prst="roundRect">
            <a:avLst>
              <a:gd name="adj" fmla="val 27586"/>
            </a:avLst>
          </a:prstGeom>
          <a:solidFill>
            <a:srgbClr val="16212C"/>
          </a:solidFill>
          <a:ln w="6985">
            <a:solidFill>
              <a:srgbClr val="263442"/>
            </a:solidFill>
            <a:prstDash val="solid"/>
          </a:ln>
        </p:spPr>
      </p:sp>
      <p:sp>
        <p:nvSpPr>
          <p:cNvPr id="18" name="Text 16"/>
          <p:cNvSpPr/>
          <p:nvPr/>
        </p:nvSpPr>
        <p:spPr>
          <a:xfrm>
            <a:off x="6556248" y="2761488"/>
            <a:ext cx="1527048" cy="173736"/>
          </a:xfrm>
          <a:prstGeom prst="rect">
            <a:avLst/>
          </a:prstGeom>
          <a:noFill/>
          <a:ln/>
        </p:spPr>
        <p:txBody>
          <a:bodyPr wrap="square" lIns="0" tIns="0" rIns="0" bIns="0" rtlCol="0" anchor="ctr">
            <a:normAutofit/>
          </a:bodyPr>
          <a:lstStyle/>
          <a:p>
            <a:pPr indent="0" marL="0">
              <a:buNone/>
            </a:pPr>
            <a:r>
              <a:rPr lang="en-US" sz="800" b="1" spc="110" kern="0" dirty="0">
                <a:solidFill>
                  <a:srgbClr val="69DDCF"/>
                </a:solidFill>
                <a:latin typeface="Inter" pitchFamily="34" charset="0"/>
                <a:ea typeface="Inter" pitchFamily="34" charset="-122"/>
                <a:cs typeface="Inter" pitchFamily="34" charset="-120"/>
              </a:rPr>
              <a:t>VALIDATION ENGINE</a:t>
            </a:r>
            <a:endParaRPr lang="en-US" sz="800" dirty="0"/>
          </a:p>
        </p:txBody>
      </p:sp>
      <p:sp>
        <p:nvSpPr>
          <p:cNvPr id="19" name="Text 17"/>
          <p:cNvSpPr/>
          <p:nvPr/>
        </p:nvSpPr>
        <p:spPr>
          <a:xfrm>
            <a:off x="6492240" y="3209544"/>
            <a:ext cx="4572000" cy="365760"/>
          </a:xfrm>
          <a:prstGeom prst="rect">
            <a:avLst/>
          </a:prstGeom>
          <a:noFill/>
          <a:ln/>
        </p:spPr>
        <p:txBody>
          <a:bodyPr wrap="square" lIns="0" tIns="0" rIns="0" bIns="0" rtlCol="0" anchor="ctr">
            <a:normAutofit/>
          </a:bodyPr>
          <a:lstStyle/>
          <a:p>
            <a:pPr indent="0" marL="0">
              <a:buNone/>
            </a:pPr>
            <a:r>
              <a:rPr lang="en-US" sz="2000" b="1" dirty="0">
                <a:solidFill>
                  <a:srgbClr val="EDF5F7"/>
                </a:solidFill>
                <a:latin typeface="Inter" pitchFamily="34" charset="0"/>
                <a:ea typeface="Inter" pitchFamily="34" charset="-122"/>
                <a:cs typeface="Inter" pitchFamily="34" charset="-120"/>
              </a:rPr>
              <a:t>Eventgetriebene Simulation</a:t>
            </a:r>
            <a:endParaRPr lang="en-US" sz="2000" dirty="0"/>
          </a:p>
        </p:txBody>
      </p:sp>
      <p:sp>
        <p:nvSpPr>
          <p:cNvPr id="20" name="Text 18"/>
          <p:cNvSpPr/>
          <p:nvPr/>
        </p:nvSpPr>
        <p:spPr>
          <a:xfrm>
            <a:off x="6501384" y="3758184"/>
            <a:ext cx="4562856" cy="694944"/>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Reihenfolge, Orders, Zeit, Fills, Risk Accounting; unabhängige Kontrolle ausgewählter Kandidaten.</a:t>
            </a:r>
            <a:endParaRPr lang="en-US" sz="1200" dirty="0"/>
          </a:p>
        </p:txBody>
      </p:sp>
      <p:sp>
        <p:nvSpPr>
          <p:cNvPr id="21" name="Shape 19"/>
          <p:cNvSpPr/>
          <p:nvPr/>
        </p:nvSpPr>
        <p:spPr>
          <a:xfrm>
            <a:off x="5907024" y="3602736"/>
            <a:ext cx="320040" cy="0"/>
          </a:xfrm>
          <a:prstGeom prst="line">
            <a:avLst/>
          </a:prstGeom>
          <a:noFill/>
          <a:ln w="21590">
            <a:solidFill>
              <a:srgbClr val="69DDCF"/>
            </a:solidFill>
            <a:prstDash val="solid"/>
            <a:tailEnd type="triangle"/>
          </a:ln>
        </p:spPr>
      </p:sp>
      <p:sp>
        <p:nvSpPr>
          <p:cNvPr id="22" name="Text 20"/>
          <p:cNvSpPr/>
          <p:nvPr/>
        </p:nvSpPr>
        <p:spPr>
          <a:xfrm>
            <a:off x="704088" y="5285232"/>
            <a:ext cx="1097280" cy="201168"/>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WICHTIG</a:t>
            </a:r>
            <a:endParaRPr lang="en-US" sz="1000" dirty="0"/>
          </a:p>
        </p:txBody>
      </p:sp>
      <p:sp>
        <p:nvSpPr>
          <p:cNvPr id="23" name="Text 21"/>
          <p:cNvSpPr/>
          <p:nvPr/>
        </p:nvSpPr>
        <p:spPr>
          <a:xfrm>
            <a:off x="1874520" y="5212080"/>
            <a:ext cx="9363456" cy="402336"/>
          </a:xfrm>
          <a:prstGeom prst="rect">
            <a:avLst/>
          </a:prstGeom>
          <a:noFill/>
          <a:ln/>
        </p:spPr>
        <p:txBody>
          <a:bodyPr wrap="square" lIns="0" tIns="0" rIns="0" bIns="0" rtlCol="0" anchor="ctr">
            <a:normAutofit/>
          </a:bodyPr>
          <a:lstStyle/>
          <a:p>
            <a:pPr indent="0" marL="0">
              <a:buNone/>
            </a:pPr>
            <a:r>
              <a:rPr lang="en-US" sz="1400" dirty="0">
                <a:solidFill>
                  <a:srgbClr val="EDF5F7"/>
                </a:solidFill>
                <a:latin typeface="Inter" pitchFamily="34" charset="0"/>
                <a:ea typeface="Inter" pitchFamily="34" charset="-122"/>
                <a:cs typeface="Inter" pitchFamily="34" charset="-120"/>
              </a:rPr>
              <a:t>Für V1 reicht eine korrekt getestete Engine. Die zweite ist ein bewusst geplanter Ausbau.</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VALIDATION</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12</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11 / VALIDATION FRAMEWORK</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Nicht ein Backtest. Ein Testprotokoll.</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JARVIS wählt die passenden Prüfungen – abhängig von Strategie, Daten und Zahl getesteter Varianten.</a:t>
            </a:r>
            <a:endParaRPr lang="en-US" sz="1300" dirty="0"/>
          </a:p>
        </p:txBody>
      </p:sp>
      <p:sp>
        <p:nvSpPr>
          <p:cNvPr id="12" name="Shape 10"/>
          <p:cNvSpPr/>
          <p:nvPr/>
        </p:nvSpPr>
        <p:spPr>
          <a:xfrm>
            <a:off x="676656" y="2258568"/>
            <a:ext cx="10899648" cy="585216"/>
          </a:xfrm>
          <a:prstGeom prst="roundRect">
            <a:avLst>
              <a:gd name="adj" fmla="val 21875"/>
            </a:avLst>
          </a:prstGeom>
          <a:solidFill>
            <a:srgbClr val="121A24"/>
          </a:solidFill>
          <a:ln w="8890">
            <a:solidFill>
              <a:srgbClr val="263442"/>
            </a:solidFill>
            <a:prstDash val="solid"/>
          </a:ln>
        </p:spPr>
      </p:sp>
      <p:sp>
        <p:nvSpPr>
          <p:cNvPr id="13" name="Shape 11"/>
          <p:cNvSpPr/>
          <p:nvPr/>
        </p:nvSpPr>
        <p:spPr>
          <a:xfrm>
            <a:off x="813816" y="2368296"/>
            <a:ext cx="429768" cy="356616"/>
          </a:xfrm>
          <a:prstGeom prst="roundRect">
            <a:avLst>
              <a:gd name="adj" fmla="val 35897"/>
            </a:avLst>
          </a:prstGeom>
          <a:solidFill>
            <a:srgbClr val="1A2733"/>
          </a:solidFill>
          <a:ln w="8890">
            <a:solidFill>
              <a:srgbClr val="263442"/>
            </a:solidFill>
            <a:prstDash val="solid"/>
          </a:ln>
        </p:spPr>
      </p:sp>
      <p:sp>
        <p:nvSpPr>
          <p:cNvPr id="14" name="Text 12"/>
          <p:cNvSpPr/>
          <p:nvPr/>
        </p:nvSpPr>
        <p:spPr>
          <a:xfrm>
            <a:off x="896112" y="2441448"/>
            <a:ext cx="274320" cy="128016"/>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01</a:t>
            </a:r>
            <a:endParaRPr lang="en-US" sz="900" dirty="0"/>
          </a:p>
        </p:txBody>
      </p:sp>
      <p:sp>
        <p:nvSpPr>
          <p:cNvPr id="15" name="Text 13"/>
          <p:cNvSpPr/>
          <p:nvPr/>
        </p:nvSpPr>
        <p:spPr>
          <a:xfrm>
            <a:off x="1490472" y="2386584"/>
            <a:ext cx="2377440" cy="219456"/>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DATA + BIAS</a:t>
            </a:r>
            <a:endParaRPr lang="en-US" sz="1200" dirty="0"/>
          </a:p>
        </p:txBody>
      </p:sp>
      <p:sp>
        <p:nvSpPr>
          <p:cNvPr id="16" name="Text 14"/>
          <p:cNvSpPr/>
          <p:nvPr/>
        </p:nvSpPr>
        <p:spPr>
          <a:xfrm>
            <a:off x="3968496" y="2377440"/>
            <a:ext cx="7269480" cy="301752"/>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Integrity · causal timing · symbol mapping</a:t>
            </a:r>
            <a:endParaRPr lang="en-US" sz="1200" dirty="0"/>
          </a:p>
        </p:txBody>
      </p:sp>
      <p:sp>
        <p:nvSpPr>
          <p:cNvPr id="17" name="Shape 15"/>
          <p:cNvSpPr/>
          <p:nvPr/>
        </p:nvSpPr>
        <p:spPr>
          <a:xfrm>
            <a:off x="676656" y="2935224"/>
            <a:ext cx="10899648" cy="585216"/>
          </a:xfrm>
          <a:prstGeom prst="roundRect">
            <a:avLst>
              <a:gd name="adj" fmla="val 21875"/>
            </a:avLst>
          </a:prstGeom>
          <a:solidFill>
            <a:srgbClr val="121A24"/>
          </a:solidFill>
          <a:ln w="8890">
            <a:solidFill>
              <a:srgbClr val="263442"/>
            </a:solidFill>
            <a:prstDash val="solid"/>
          </a:ln>
        </p:spPr>
      </p:sp>
      <p:sp>
        <p:nvSpPr>
          <p:cNvPr id="18" name="Shape 16"/>
          <p:cNvSpPr/>
          <p:nvPr/>
        </p:nvSpPr>
        <p:spPr>
          <a:xfrm>
            <a:off x="813816" y="3044952"/>
            <a:ext cx="429768" cy="356616"/>
          </a:xfrm>
          <a:prstGeom prst="roundRect">
            <a:avLst>
              <a:gd name="adj" fmla="val 35897"/>
            </a:avLst>
          </a:prstGeom>
          <a:solidFill>
            <a:srgbClr val="1A2733"/>
          </a:solidFill>
          <a:ln w="8890">
            <a:solidFill>
              <a:srgbClr val="263442"/>
            </a:solidFill>
            <a:prstDash val="solid"/>
          </a:ln>
        </p:spPr>
      </p:sp>
      <p:sp>
        <p:nvSpPr>
          <p:cNvPr id="19" name="Text 17"/>
          <p:cNvSpPr/>
          <p:nvPr/>
        </p:nvSpPr>
        <p:spPr>
          <a:xfrm>
            <a:off x="896112" y="3118104"/>
            <a:ext cx="274320" cy="128016"/>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02</a:t>
            </a:r>
            <a:endParaRPr lang="en-US" sz="900" dirty="0"/>
          </a:p>
        </p:txBody>
      </p:sp>
      <p:sp>
        <p:nvSpPr>
          <p:cNvPr id="20" name="Text 18"/>
          <p:cNvSpPr/>
          <p:nvPr/>
        </p:nvSpPr>
        <p:spPr>
          <a:xfrm>
            <a:off x="1490472" y="3063240"/>
            <a:ext cx="2377440" cy="219456"/>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BASELINE</a:t>
            </a:r>
            <a:endParaRPr lang="en-US" sz="1200" dirty="0"/>
          </a:p>
        </p:txBody>
      </p:sp>
      <p:sp>
        <p:nvSpPr>
          <p:cNvPr id="21" name="Text 19"/>
          <p:cNvSpPr/>
          <p:nvPr/>
        </p:nvSpPr>
        <p:spPr>
          <a:xfrm>
            <a:off x="3968496" y="3054096"/>
            <a:ext cx="7269480" cy="301752"/>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PnL · trades · benchmark · net costs</a:t>
            </a:r>
            <a:endParaRPr lang="en-US" sz="1200" dirty="0"/>
          </a:p>
        </p:txBody>
      </p:sp>
      <p:sp>
        <p:nvSpPr>
          <p:cNvPr id="22" name="Shape 20"/>
          <p:cNvSpPr/>
          <p:nvPr/>
        </p:nvSpPr>
        <p:spPr>
          <a:xfrm>
            <a:off x="676656" y="3611880"/>
            <a:ext cx="10899648" cy="585216"/>
          </a:xfrm>
          <a:prstGeom prst="roundRect">
            <a:avLst>
              <a:gd name="adj" fmla="val 21875"/>
            </a:avLst>
          </a:prstGeom>
          <a:solidFill>
            <a:srgbClr val="121A24"/>
          </a:solidFill>
          <a:ln w="8890">
            <a:solidFill>
              <a:srgbClr val="263442"/>
            </a:solidFill>
            <a:prstDash val="solid"/>
          </a:ln>
        </p:spPr>
      </p:sp>
      <p:sp>
        <p:nvSpPr>
          <p:cNvPr id="23" name="Shape 21"/>
          <p:cNvSpPr/>
          <p:nvPr/>
        </p:nvSpPr>
        <p:spPr>
          <a:xfrm>
            <a:off x="813816" y="3721608"/>
            <a:ext cx="429768" cy="356616"/>
          </a:xfrm>
          <a:prstGeom prst="roundRect">
            <a:avLst>
              <a:gd name="adj" fmla="val 35897"/>
            </a:avLst>
          </a:prstGeom>
          <a:solidFill>
            <a:srgbClr val="1A2733"/>
          </a:solidFill>
          <a:ln w="8890">
            <a:solidFill>
              <a:srgbClr val="263442"/>
            </a:solidFill>
            <a:prstDash val="solid"/>
          </a:ln>
        </p:spPr>
      </p:sp>
      <p:sp>
        <p:nvSpPr>
          <p:cNvPr id="24" name="Text 22"/>
          <p:cNvSpPr/>
          <p:nvPr/>
        </p:nvSpPr>
        <p:spPr>
          <a:xfrm>
            <a:off x="896112" y="3794760"/>
            <a:ext cx="274320" cy="128016"/>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03</a:t>
            </a:r>
            <a:endParaRPr lang="en-US" sz="900" dirty="0"/>
          </a:p>
        </p:txBody>
      </p:sp>
      <p:sp>
        <p:nvSpPr>
          <p:cNvPr id="25" name="Text 23"/>
          <p:cNvSpPr/>
          <p:nvPr/>
        </p:nvSpPr>
        <p:spPr>
          <a:xfrm>
            <a:off x="1490472" y="3739896"/>
            <a:ext cx="2377440" cy="219456"/>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GENERALISATION</a:t>
            </a:r>
            <a:endParaRPr lang="en-US" sz="1200" dirty="0"/>
          </a:p>
        </p:txBody>
      </p:sp>
      <p:sp>
        <p:nvSpPr>
          <p:cNvPr id="26" name="Text 24"/>
          <p:cNvSpPr/>
          <p:nvPr/>
        </p:nvSpPr>
        <p:spPr>
          <a:xfrm>
            <a:off x="3968496" y="3730752"/>
            <a:ext cx="7269480" cy="301752"/>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OOS · walk-forward · parameter stability</a:t>
            </a:r>
            <a:endParaRPr lang="en-US" sz="1200" dirty="0"/>
          </a:p>
        </p:txBody>
      </p:sp>
      <p:sp>
        <p:nvSpPr>
          <p:cNvPr id="27" name="Shape 25"/>
          <p:cNvSpPr/>
          <p:nvPr/>
        </p:nvSpPr>
        <p:spPr>
          <a:xfrm>
            <a:off x="676656" y="4288536"/>
            <a:ext cx="10899648" cy="585216"/>
          </a:xfrm>
          <a:prstGeom prst="roundRect">
            <a:avLst>
              <a:gd name="adj" fmla="val 21875"/>
            </a:avLst>
          </a:prstGeom>
          <a:solidFill>
            <a:srgbClr val="121A24"/>
          </a:solidFill>
          <a:ln w="8890">
            <a:solidFill>
              <a:srgbClr val="263442"/>
            </a:solidFill>
            <a:prstDash val="solid"/>
          </a:ln>
        </p:spPr>
      </p:sp>
      <p:sp>
        <p:nvSpPr>
          <p:cNvPr id="28" name="Shape 26"/>
          <p:cNvSpPr/>
          <p:nvPr/>
        </p:nvSpPr>
        <p:spPr>
          <a:xfrm>
            <a:off x="813816" y="4398264"/>
            <a:ext cx="429768" cy="356616"/>
          </a:xfrm>
          <a:prstGeom prst="roundRect">
            <a:avLst>
              <a:gd name="adj" fmla="val 35897"/>
            </a:avLst>
          </a:prstGeom>
          <a:solidFill>
            <a:srgbClr val="1A2733"/>
          </a:solidFill>
          <a:ln w="8890">
            <a:solidFill>
              <a:srgbClr val="263442"/>
            </a:solidFill>
            <a:prstDash val="solid"/>
          </a:ln>
        </p:spPr>
      </p:sp>
      <p:sp>
        <p:nvSpPr>
          <p:cNvPr id="29" name="Text 27"/>
          <p:cNvSpPr/>
          <p:nvPr/>
        </p:nvSpPr>
        <p:spPr>
          <a:xfrm>
            <a:off x="896112" y="4471416"/>
            <a:ext cx="274320" cy="128016"/>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04</a:t>
            </a:r>
            <a:endParaRPr lang="en-US" sz="900" dirty="0"/>
          </a:p>
        </p:txBody>
      </p:sp>
      <p:sp>
        <p:nvSpPr>
          <p:cNvPr id="30" name="Text 28"/>
          <p:cNvSpPr/>
          <p:nvPr/>
        </p:nvSpPr>
        <p:spPr>
          <a:xfrm>
            <a:off x="1490472" y="4416552"/>
            <a:ext cx="2377440" cy="219456"/>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SURVIVABILITY</a:t>
            </a:r>
            <a:endParaRPr lang="en-US" sz="1200" dirty="0"/>
          </a:p>
        </p:txBody>
      </p:sp>
      <p:sp>
        <p:nvSpPr>
          <p:cNvPr id="31" name="Text 29"/>
          <p:cNvSpPr/>
          <p:nvPr/>
        </p:nvSpPr>
        <p:spPr>
          <a:xfrm>
            <a:off x="3968496" y="4407408"/>
            <a:ext cx="7269480" cy="301752"/>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Cost stress · drawdown · tail risk · regimes</a:t>
            </a:r>
            <a:endParaRPr lang="en-US" sz="1200" dirty="0"/>
          </a:p>
        </p:txBody>
      </p:sp>
      <p:sp>
        <p:nvSpPr>
          <p:cNvPr id="32" name="Shape 30"/>
          <p:cNvSpPr/>
          <p:nvPr/>
        </p:nvSpPr>
        <p:spPr>
          <a:xfrm>
            <a:off x="676656" y="4965192"/>
            <a:ext cx="10899648" cy="585216"/>
          </a:xfrm>
          <a:prstGeom prst="roundRect">
            <a:avLst>
              <a:gd name="adj" fmla="val 21875"/>
            </a:avLst>
          </a:prstGeom>
          <a:solidFill>
            <a:srgbClr val="121A24"/>
          </a:solidFill>
          <a:ln w="8890">
            <a:solidFill>
              <a:srgbClr val="263442"/>
            </a:solidFill>
            <a:prstDash val="solid"/>
          </a:ln>
        </p:spPr>
      </p:sp>
      <p:sp>
        <p:nvSpPr>
          <p:cNvPr id="33" name="Shape 31"/>
          <p:cNvSpPr/>
          <p:nvPr/>
        </p:nvSpPr>
        <p:spPr>
          <a:xfrm>
            <a:off x="813816" y="5074920"/>
            <a:ext cx="429768" cy="356616"/>
          </a:xfrm>
          <a:prstGeom prst="roundRect">
            <a:avLst>
              <a:gd name="adj" fmla="val 35897"/>
            </a:avLst>
          </a:prstGeom>
          <a:solidFill>
            <a:srgbClr val="1A2733"/>
          </a:solidFill>
          <a:ln w="8890">
            <a:solidFill>
              <a:srgbClr val="263442"/>
            </a:solidFill>
            <a:prstDash val="solid"/>
          </a:ln>
        </p:spPr>
      </p:sp>
      <p:sp>
        <p:nvSpPr>
          <p:cNvPr id="34" name="Text 32"/>
          <p:cNvSpPr/>
          <p:nvPr/>
        </p:nvSpPr>
        <p:spPr>
          <a:xfrm>
            <a:off x="896112" y="5148072"/>
            <a:ext cx="274320" cy="128016"/>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05</a:t>
            </a:r>
            <a:endParaRPr lang="en-US" sz="900" dirty="0"/>
          </a:p>
        </p:txBody>
      </p:sp>
      <p:sp>
        <p:nvSpPr>
          <p:cNvPr id="35" name="Text 33"/>
          <p:cNvSpPr/>
          <p:nvPr/>
        </p:nvSpPr>
        <p:spPr>
          <a:xfrm>
            <a:off x="1490472" y="5093208"/>
            <a:ext cx="2377440" cy="219456"/>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RESEARCH BIAS</a:t>
            </a:r>
            <a:endParaRPr lang="en-US" sz="1200" dirty="0"/>
          </a:p>
        </p:txBody>
      </p:sp>
      <p:sp>
        <p:nvSpPr>
          <p:cNvPr id="36" name="Text 34"/>
          <p:cNvSpPr/>
          <p:nvPr/>
        </p:nvSpPr>
        <p:spPr>
          <a:xfrm>
            <a:off x="3968496" y="5084064"/>
            <a:ext cx="7269480" cy="301752"/>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Trial registry · selection bias · DSR / PBO*</a:t>
            </a:r>
            <a:endParaRPr lang="en-US" sz="1200" dirty="0"/>
          </a:p>
        </p:txBody>
      </p:sp>
      <p:sp>
        <p:nvSpPr>
          <p:cNvPr id="37" name="Text 35"/>
          <p:cNvSpPr/>
          <p:nvPr/>
        </p:nvSpPr>
        <p:spPr>
          <a:xfrm>
            <a:off x="566928" y="6291072"/>
            <a:ext cx="10972800" cy="128016"/>
          </a:xfrm>
          <a:prstGeom prst="rect">
            <a:avLst/>
          </a:prstGeom>
          <a:noFill/>
          <a:ln/>
        </p:spPr>
        <p:txBody>
          <a:bodyPr wrap="square" lIns="0" tIns="0" rIns="0" bIns="0" rtlCol="0" anchor="ctr">
            <a:normAutofit/>
          </a:bodyPr>
          <a:lstStyle/>
          <a:p>
            <a:pPr indent="0" marL="0">
              <a:buNone/>
            </a:pPr>
            <a:r>
              <a:rPr lang="en-US" sz="700" dirty="0">
                <a:solidFill>
                  <a:srgbClr val="607584"/>
                </a:solidFill>
                <a:latin typeface="Inter" pitchFamily="34" charset="0"/>
                <a:ea typeface="Inter" pitchFamily="34" charset="-122"/>
                <a:cs typeface="Inter" pitchFamily="34" charset="-120"/>
              </a:rPr>
              <a:t>*Deflated Sharpe und PBO nur bei hinreichender Datenlage und angemessenem Versuchsdesign.</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HOLDOUT</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13</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12 / ANTI-OVERFITTING</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Der finale Holdout bleibt wirklich unangetastet.</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Ein sichtbarer „Data Firewall“-Mechanismus schützt den letzten Test vor versehentlichem Optimieren.</a:t>
            </a:r>
            <a:endParaRPr lang="en-US" sz="1300" dirty="0"/>
          </a:p>
        </p:txBody>
      </p:sp>
      <p:sp>
        <p:nvSpPr>
          <p:cNvPr id="12" name="Shape 10"/>
          <p:cNvSpPr/>
          <p:nvPr/>
        </p:nvSpPr>
        <p:spPr>
          <a:xfrm>
            <a:off x="694944" y="2743200"/>
            <a:ext cx="5522976" cy="1078992"/>
          </a:xfrm>
          <a:prstGeom prst="roundRect">
            <a:avLst>
              <a:gd name="adj" fmla="val 11864"/>
            </a:avLst>
          </a:prstGeom>
          <a:solidFill>
            <a:srgbClr val="16212C"/>
          </a:solidFill>
          <a:ln w="8890">
            <a:solidFill>
              <a:srgbClr val="263442"/>
            </a:solidFill>
            <a:prstDash val="solid"/>
          </a:ln>
        </p:spPr>
      </p:sp>
      <p:sp>
        <p:nvSpPr>
          <p:cNvPr id="13" name="Shape 11"/>
          <p:cNvSpPr/>
          <p:nvPr/>
        </p:nvSpPr>
        <p:spPr>
          <a:xfrm>
            <a:off x="6227064" y="2743200"/>
            <a:ext cx="2889504" cy="1078992"/>
          </a:xfrm>
          <a:prstGeom prst="roundRect">
            <a:avLst>
              <a:gd name="adj" fmla="val 11864"/>
            </a:avLst>
          </a:prstGeom>
          <a:solidFill>
            <a:srgbClr val="121A24"/>
          </a:solidFill>
          <a:ln w="8890">
            <a:solidFill>
              <a:srgbClr val="263442"/>
            </a:solidFill>
            <a:prstDash val="solid"/>
          </a:ln>
        </p:spPr>
      </p:sp>
      <p:sp>
        <p:nvSpPr>
          <p:cNvPr id="14" name="Shape 12"/>
          <p:cNvSpPr/>
          <p:nvPr/>
        </p:nvSpPr>
        <p:spPr>
          <a:xfrm>
            <a:off x="9125712" y="2743200"/>
            <a:ext cx="2423160" cy="1078992"/>
          </a:xfrm>
          <a:prstGeom prst="roundRect">
            <a:avLst>
              <a:gd name="adj" fmla="val 11864"/>
            </a:avLst>
          </a:prstGeom>
          <a:solidFill>
            <a:srgbClr val="232326"/>
          </a:solidFill>
          <a:ln w="8890">
            <a:solidFill>
              <a:srgbClr val="F1C479"/>
            </a:solidFill>
            <a:prstDash val="solid"/>
          </a:ln>
        </p:spPr>
      </p:sp>
      <p:sp>
        <p:nvSpPr>
          <p:cNvPr id="15" name="Text 13"/>
          <p:cNvSpPr/>
          <p:nvPr/>
        </p:nvSpPr>
        <p:spPr>
          <a:xfrm>
            <a:off x="914400" y="2971800"/>
            <a:ext cx="5029200" cy="219456"/>
          </a:xfrm>
          <a:prstGeom prst="rect">
            <a:avLst/>
          </a:prstGeom>
          <a:noFill/>
          <a:ln/>
        </p:spPr>
        <p:txBody>
          <a:bodyPr wrap="square" lIns="0" tIns="0" rIns="0" bIns="0" rtlCol="0" anchor="ctr">
            <a:normAutofit/>
          </a:bodyPr>
          <a:lstStyle/>
          <a:p>
            <a:pPr indent="0" marL="0">
              <a:buNone/>
            </a:pPr>
            <a:r>
              <a:rPr lang="en-US" sz="1500" b="1" dirty="0">
                <a:solidFill>
                  <a:srgbClr val="69DDCF"/>
                </a:solidFill>
                <a:latin typeface="Inter" pitchFamily="34" charset="0"/>
                <a:ea typeface="Inter" pitchFamily="34" charset="-122"/>
                <a:cs typeface="Inter" pitchFamily="34" charset="-120"/>
              </a:rPr>
              <a:t>DEVELOPMENT / TRAIN</a:t>
            </a:r>
            <a:endParaRPr lang="en-US" sz="1500" dirty="0"/>
          </a:p>
        </p:txBody>
      </p:sp>
      <p:sp>
        <p:nvSpPr>
          <p:cNvPr id="16" name="Text 14"/>
          <p:cNvSpPr/>
          <p:nvPr/>
        </p:nvSpPr>
        <p:spPr>
          <a:xfrm>
            <a:off x="6437376" y="2971800"/>
            <a:ext cx="2487168" cy="219456"/>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VALIDATION</a:t>
            </a:r>
            <a:endParaRPr lang="en-US" sz="1500" dirty="0"/>
          </a:p>
        </p:txBody>
      </p:sp>
      <p:sp>
        <p:nvSpPr>
          <p:cNvPr id="17" name="Text 15"/>
          <p:cNvSpPr/>
          <p:nvPr/>
        </p:nvSpPr>
        <p:spPr>
          <a:xfrm>
            <a:off x="9345168" y="2971800"/>
            <a:ext cx="1883664" cy="228600"/>
          </a:xfrm>
          <a:prstGeom prst="rect">
            <a:avLst/>
          </a:prstGeom>
          <a:noFill/>
          <a:ln/>
        </p:spPr>
        <p:txBody>
          <a:bodyPr wrap="square" lIns="0" tIns="0" rIns="0" bIns="0" rtlCol="0" anchor="ctr">
            <a:normAutofit/>
          </a:bodyPr>
          <a:lstStyle/>
          <a:p>
            <a:pPr indent="0" marL="0">
              <a:buNone/>
            </a:pPr>
            <a:r>
              <a:rPr lang="en-US" sz="1300" b="1" dirty="0">
                <a:solidFill>
                  <a:srgbClr val="F1C479"/>
                </a:solidFill>
                <a:latin typeface="Inter" pitchFamily="34" charset="0"/>
                <a:ea typeface="Inter" pitchFamily="34" charset="-122"/>
                <a:cs typeface="Inter" pitchFamily="34" charset="-120"/>
              </a:rPr>
              <a:t>FINAL HOLDOUT</a:t>
            </a:r>
            <a:endParaRPr lang="en-US" sz="1300" dirty="0"/>
          </a:p>
        </p:txBody>
      </p:sp>
      <p:sp>
        <p:nvSpPr>
          <p:cNvPr id="18" name="Shape 16"/>
          <p:cNvSpPr/>
          <p:nvPr/>
        </p:nvSpPr>
        <p:spPr>
          <a:xfrm>
            <a:off x="9144000" y="2514600"/>
            <a:ext cx="0" cy="1563624"/>
          </a:xfrm>
          <a:prstGeom prst="line">
            <a:avLst/>
          </a:prstGeom>
          <a:noFill/>
          <a:ln w="25400">
            <a:solidFill>
              <a:srgbClr val="F1C479"/>
            </a:solidFill>
            <a:prstDash val="dash"/>
          </a:ln>
        </p:spPr>
      </p:sp>
      <p:sp>
        <p:nvSpPr>
          <p:cNvPr id="19" name="Shape 17"/>
          <p:cNvSpPr/>
          <p:nvPr/>
        </p:nvSpPr>
        <p:spPr>
          <a:xfrm>
            <a:off x="768096" y="4416552"/>
            <a:ext cx="10552176" cy="0"/>
          </a:xfrm>
          <a:prstGeom prst="line">
            <a:avLst/>
          </a:prstGeom>
          <a:noFill/>
          <a:ln w="21590">
            <a:solidFill>
              <a:srgbClr val="607584"/>
            </a:solidFill>
            <a:prstDash val="solid"/>
            <a:tailEnd type="triangle"/>
          </a:ln>
        </p:spPr>
      </p:sp>
      <p:sp>
        <p:nvSpPr>
          <p:cNvPr id="20" name="Text 18"/>
          <p:cNvSpPr/>
          <p:nvPr/>
        </p:nvSpPr>
        <p:spPr>
          <a:xfrm>
            <a:off x="9985248" y="4590288"/>
            <a:ext cx="1380744" cy="182880"/>
          </a:xfrm>
          <a:prstGeom prst="rect">
            <a:avLst/>
          </a:prstGeom>
          <a:noFill/>
          <a:ln/>
        </p:spPr>
        <p:txBody>
          <a:bodyPr wrap="square" lIns="0" tIns="0" rIns="0" bIns="0" rtlCol="0" anchor="ctr">
            <a:normAutofit/>
          </a:bodyPr>
          <a:lstStyle/>
          <a:p>
            <a:pPr indent="0" marL="0">
              <a:buNone/>
            </a:pPr>
            <a:r>
              <a:rPr lang="en-US" sz="1000" b="1" dirty="0">
                <a:solidFill>
                  <a:srgbClr val="94A6B3"/>
                </a:solidFill>
                <a:latin typeface="Inter" pitchFamily="34" charset="0"/>
                <a:ea typeface="Inter" pitchFamily="34" charset="-122"/>
                <a:cs typeface="Inter" pitchFamily="34" charset="-120"/>
              </a:rPr>
              <a:t>ZEIT  →</a:t>
            </a:r>
            <a:endParaRPr lang="en-US" sz="1000" dirty="0"/>
          </a:p>
        </p:txBody>
      </p:sp>
      <p:sp>
        <p:nvSpPr>
          <p:cNvPr id="21" name="Shape 19"/>
          <p:cNvSpPr/>
          <p:nvPr/>
        </p:nvSpPr>
        <p:spPr>
          <a:xfrm>
            <a:off x="713232" y="4919472"/>
            <a:ext cx="5175504" cy="795528"/>
          </a:xfrm>
          <a:prstGeom prst="roundRect">
            <a:avLst>
              <a:gd name="adj" fmla="val 16092"/>
            </a:avLst>
          </a:prstGeom>
          <a:solidFill>
            <a:srgbClr val="121A24"/>
          </a:solidFill>
          <a:ln w="8890">
            <a:solidFill>
              <a:srgbClr val="263442"/>
            </a:solidFill>
            <a:prstDash val="solid"/>
          </a:ln>
        </p:spPr>
      </p:sp>
      <p:sp>
        <p:nvSpPr>
          <p:cNvPr id="22" name="Shape 20"/>
          <p:cNvSpPr/>
          <p:nvPr/>
        </p:nvSpPr>
        <p:spPr>
          <a:xfrm>
            <a:off x="886968" y="5120640"/>
            <a:ext cx="0" cy="283464"/>
          </a:xfrm>
          <a:prstGeom prst="line">
            <a:avLst/>
          </a:prstGeom>
          <a:noFill/>
          <a:ln w="38100">
            <a:solidFill>
              <a:srgbClr val="69DDCF"/>
            </a:solidFill>
            <a:prstDash val="solid"/>
          </a:ln>
        </p:spPr>
      </p:sp>
      <p:sp>
        <p:nvSpPr>
          <p:cNvPr id="23" name="Text 21"/>
          <p:cNvSpPr/>
          <p:nvPr/>
        </p:nvSpPr>
        <p:spPr>
          <a:xfrm>
            <a:off x="1051560" y="5120640"/>
            <a:ext cx="4672584" cy="32004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PARAMETER SUCHEN</a:t>
            </a:r>
            <a:endParaRPr lang="en-US" sz="1500" dirty="0"/>
          </a:p>
        </p:txBody>
      </p:sp>
      <p:sp>
        <p:nvSpPr>
          <p:cNvPr id="24" name="Text 22"/>
          <p:cNvSpPr/>
          <p:nvPr/>
        </p:nvSpPr>
        <p:spPr>
          <a:xfrm>
            <a:off x="914400" y="5586984"/>
            <a:ext cx="4773168" cy="36576"/>
          </a:xfrm>
          <a:prstGeom prst="rect">
            <a:avLst/>
          </a:prstGeom>
          <a:noFill/>
          <a:ln/>
        </p:spPr>
        <p:txBody>
          <a:bodyPr wrap="square" lIns="0" tIns="0" rIns="0" bIns="0" rtlCol="0" anchor="t">
            <a:normAutofit/>
          </a:bodyPr>
          <a:lstStyle/>
          <a:p>
            <a:pPr indent="0" marL="0">
              <a:buNone/>
            </a:pPr>
            <a:endParaRPr lang="en-US" sz="1150" dirty="0"/>
          </a:p>
        </p:txBody>
      </p:sp>
      <p:sp>
        <p:nvSpPr>
          <p:cNvPr id="25" name="Shape 23"/>
          <p:cNvSpPr/>
          <p:nvPr/>
        </p:nvSpPr>
        <p:spPr>
          <a:xfrm>
            <a:off x="6062472" y="4919472"/>
            <a:ext cx="5212080" cy="795528"/>
          </a:xfrm>
          <a:prstGeom prst="roundRect">
            <a:avLst>
              <a:gd name="adj" fmla="val 16092"/>
            </a:avLst>
          </a:prstGeom>
          <a:solidFill>
            <a:srgbClr val="121A24"/>
          </a:solidFill>
          <a:ln w="8890">
            <a:solidFill>
              <a:srgbClr val="263442"/>
            </a:solidFill>
            <a:prstDash val="solid"/>
          </a:ln>
        </p:spPr>
      </p:sp>
      <p:sp>
        <p:nvSpPr>
          <p:cNvPr id="26" name="Shape 24"/>
          <p:cNvSpPr/>
          <p:nvPr/>
        </p:nvSpPr>
        <p:spPr>
          <a:xfrm>
            <a:off x="6236208" y="5120640"/>
            <a:ext cx="0" cy="283464"/>
          </a:xfrm>
          <a:prstGeom prst="line">
            <a:avLst/>
          </a:prstGeom>
          <a:noFill/>
          <a:ln w="38100">
            <a:solidFill>
              <a:srgbClr val="F1C479"/>
            </a:solidFill>
            <a:prstDash val="solid"/>
          </a:ln>
        </p:spPr>
      </p:sp>
      <p:sp>
        <p:nvSpPr>
          <p:cNvPr id="27" name="Text 25"/>
          <p:cNvSpPr/>
          <p:nvPr/>
        </p:nvSpPr>
        <p:spPr>
          <a:xfrm>
            <a:off x="6400800" y="5120640"/>
            <a:ext cx="4709160" cy="32004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EINMALIGE FINALE BEWERTUNG</a:t>
            </a:r>
            <a:endParaRPr lang="en-US" sz="1500" dirty="0"/>
          </a:p>
        </p:txBody>
      </p:sp>
      <p:sp>
        <p:nvSpPr>
          <p:cNvPr id="28" name="Text 26"/>
          <p:cNvSpPr/>
          <p:nvPr/>
        </p:nvSpPr>
        <p:spPr>
          <a:xfrm>
            <a:off x="6263640" y="5586984"/>
            <a:ext cx="4809744" cy="36576"/>
          </a:xfrm>
          <a:prstGeom prst="rect">
            <a:avLst/>
          </a:prstGeom>
          <a:noFill/>
          <a:ln/>
        </p:spPr>
        <p:txBody>
          <a:bodyPr wrap="square" lIns="0" tIns="0" rIns="0" bIns="0" rtlCol="0" anchor="t">
            <a:normAutofit/>
          </a:bodyPr>
          <a:lstStyle/>
          <a:p>
            <a:pPr indent="0" marL="0">
              <a:buNone/>
            </a:pP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WALK FORWARD</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14</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13 / TIME SERIES VALIDATION</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Trainieren → weiterrollen → ausserhalb der Stichprobe testen.</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Das System bewertet die Stabilität im Zeitverlauf, nicht nur einen perfekten Gesamtschnitt.</a:t>
            </a:r>
            <a:endParaRPr lang="en-US" sz="1300" dirty="0"/>
          </a:p>
        </p:txBody>
      </p:sp>
      <p:sp>
        <p:nvSpPr>
          <p:cNvPr id="12" name="Text 10"/>
          <p:cNvSpPr/>
          <p:nvPr/>
        </p:nvSpPr>
        <p:spPr>
          <a:xfrm>
            <a:off x="704088" y="2679192"/>
            <a:ext cx="950976" cy="219456"/>
          </a:xfrm>
          <a:prstGeom prst="rect">
            <a:avLst/>
          </a:prstGeom>
          <a:noFill/>
          <a:ln/>
        </p:spPr>
        <p:txBody>
          <a:bodyPr wrap="square" lIns="0" tIns="0" rIns="0" bIns="0" rtlCol="0" anchor="ctr">
            <a:normAutofit/>
          </a:bodyPr>
          <a:lstStyle/>
          <a:p>
            <a:pPr indent="0" marL="0">
              <a:buNone/>
            </a:pPr>
            <a:r>
              <a:rPr lang="en-US" sz="1100" b="1" dirty="0">
                <a:solidFill>
                  <a:srgbClr val="94A6B3"/>
                </a:solidFill>
                <a:latin typeface="Inter" pitchFamily="34" charset="0"/>
                <a:ea typeface="Inter" pitchFamily="34" charset="-122"/>
                <a:cs typeface="Inter" pitchFamily="34" charset="-120"/>
              </a:rPr>
              <a:t>FOLD 1</a:t>
            </a:r>
            <a:endParaRPr lang="en-US" sz="1100" dirty="0"/>
          </a:p>
        </p:txBody>
      </p:sp>
      <p:sp>
        <p:nvSpPr>
          <p:cNvPr id="13" name="Shape 11"/>
          <p:cNvSpPr/>
          <p:nvPr/>
        </p:nvSpPr>
        <p:spPr>
          <a:xfrm>
            <a:off x="1719072" y="2496312"/>
            <a:ext cx="978408" cy="530352"/>
          </a:xfrm>
          <a:prstGeom prst="roundRect">
            <a:avLst>
              <a:gd name="adj" fmla="val 5172"/>
            </a:avLst>
          </a:prstGeom>
          <a:solidFill>
            <a:srgbClr val="1A2733"/>
          </a:solidFill>
          <a:ln w="12700">
            <a:solidFill>
              <a:srgbClr val="1A2733"/>
            </a:solidFill>
            <a:prstDash val="solid"/>
          </a:ln>
        </p:spPr>
      </p:sp>
      <p:sp>
        <p:nvSpPr>
          <p:cNvPr id="14" name="Shape 12"/>
          <p:cNvSpPr/>
          <p:nvPr/>
        </p:nvSpPr>
        <p:spPr>
          <a:xfrm>
            <a:off x="2770632" y="2496312"/>
            <a:ext cx="978408" cy="530352"/>
          </a:xfrm>
          <a:prstGeom prst="roundRect">
            <a:avLst>
              <a:gd name="adj" fmla="val 5172"/>
            </a:avLst>
          </a:prstGeom>
          <a:solidFill>
            <a:srgbClr val="1A2733"/>
          </a:solidFill>
          <a:ln w="12700">
            <a:solidFill>
              <a:srgbClr val="1A2733"/>
            </a:solidFill>
            <a:prstDash val="solid"/>
          </a:ln>
        </p:spPr>
      </p:sp>
      <p:sp>
        <p:nvSpPr>
          <p:cNvPr id="15" name="Shape 13"/>
          <p:cNvSpPr/>
          <p:nvPr/>
        </p:nvSpPr>
        <p:spPr>
          <a:xfrm>
            <a:off x="3822192" y="2496312"/>
            <a:ext cx="978408" cy="530352"/>
          </a:xfrm>
          <a:prstGeom prst="roundRect">
            <a:avLst>
              <a:gd name="adj" fmla="val 5172"/>
            </a:avLst>
          </a:prstGeom>
          <a:solidFill>
            <a:srgbClr val="1A2733"/>
          </a:solidFill>
          <a:ln w="12700">
            <a:solidFill>
              <a:srgbClr val="1A2733"/>
            </a:solidFill>
            <a:prstDash val="solid"/>
          </a:ln>
        </p:spPr>
      </p:sp>
      <p:sp>
        <p:nvSpPr>
          <p:cNvPr id="16" name="Shape 14"/>
          <p:cNvSpPr/>
          <p:nvPr/>
        </p:nvSpPr>
        <p:spPr>
          <a:xfrm>
            <a:off x="4873752" y="2496312"/>
            <a:ext cx="978408" cy="530352"/>
          </a:xfrm>
          <a:prstGeom prst="roundRect">
            <a:avLst>
              <a:gd name="adj" fmla="val 5172"/>
            </a:avLst>
          </a:prstGeom>
          <a:solidFill>
            <a:srgbClr val="1A2733"/>
          </a:solidFill>
          <a:ln w="12700">
            <a:solidFill>
              <a:srgbClr val="1A2733"/>
            </a:solidFill>
            <a:prstDash val="solid"/>
          </a:ln>
        </p:spPr>
      </p:sp>
      <p:sp>
        <p:nvSpPr>
          <p:cNvPr id="17" name="Shape 15"/>
          <p:cNvSpPr/>
          <p:nvPr/>
        </p:nvSpPr>
        <p:spPr>
          <a:xfrm>
            <a:off x="5925312" y="2496312"/>
            <a:ext cx="978408" cy="530352"/>
          </a:xfrm>
          <a:prstGeom prst="roundRect">
            <a:avLst>
              <a:gd name="adj" fmla="val 5172"/>
            </a:avLst>
          </a:prstGeom>
          <a:solidFill>
            <a:srgbClr val="69DDCF"/>
          </a:solidFill>
          <a:ln w="12700">
            <a:solidFill>
              <a:srgbClr val="69DDCF"/>
            </a:solidFill>
            <a:prstDash val="solid"/>
          </a:ln>
        </p:spPr>
      </p:sp>
      <p:sp>
        <p:nvSpPr>
          <p:cNvPr id="18" name="Shape 16"/>
          <p:cNvSpPr/>
          <p:nvPr/>
        </p:nvSpPr>
        <p:spPr>
          <a:xfrm>
            <a:off x="6976872" y="2496312"/>
            <a:ext cx="978408" cy="530352"/>
          </a:xfrm>
          <a:prstGeom prst="roundRect">
            <a:avLst>
              <a:gd name="adj" fmla="val 5172"/>
            </a:avLst>
          </a:prstGeom>
          <a:solidFill>
            <a:srgbClr val="10151B"/>
          </a:solidFill>
          <a:ln w="12700">
            <a:solidFill>
              <a:srgbClr val="10151B"/>
            </a:solidFill>
            <a:prstDash val="solid"/>
          </a:ln>
        </p:spPr>
      </p:sp>
      <p:sp>
        <p:nvSpPr>
          <p:cNvPr id="19" name="Shape 17"/>
          <p:cNvSpPr/>
          <p:nvPr/>
        </p:nvSpPr>
        <p:spPr>
          <a:xfrm>
            <a:off x="8028432" y="2496312"/>
            <a:ext cx="978408" cy="530352"/>
          </a:xfrm>
          <a:prstGeom prst="roundRect">
            <a:avLst>
              <a:gd name="adj" fmla="val 5172"/>
            </a:avLst>
          </a:prstGeom>
          <a:solidFill>
            <a:srgbClr val="10151B"/>
          </a:solidFill>
          <a:ln w="12700">
            <a:solidFill>
              <a:srgbClr val="10151B"/>
            </a:solidFill>
            <a:prstDash val="solid"/>
          </a:ln>
        </p:spPr>
      </p:sp>
      <p:sp>
        <p:nvSpPr>
          <p:cNvPr id="20" name="Shape 18"/>
          <p:cNvSpPr/>
          <p:nvPr/>
        </p:nvSpPr>
        <p:spPr>
          <a:xfrm>
            <a:off x="9079992" y="2496312"/>
            <a:ext cx="978408" cy="530352"/>
          </a:xfrm>
          <a:prstGeom prst="roundRect">
            <a:avLst>
              <a:gd name="adj" fmla="val 5172"/>
            </a:avLst>
          </a:prstGeom>
          <a:solidFill>
            <a:srgbClr val="10151B"/>
          </a:solidFill>
          <a:ln w="12700">
            <a:solidFill>
              <a:srgbClr val="10151B"/>
            </a:solidFill>
            <a:prstDash val="solid"/>
          </a:ln>
        </p:spPr>
      </p:sp>
      <p:sp>
        <p:nvSpPr>
          <p:cNvPr id="21" name="Shape 19"/>
          <p:cNvSpPr/>
          <p:nvPr/>
        </p:nvSpPr>
        <p:spPr>
          <a:xfrm>
            <a:off x="10131552" y="2496312"/>
            <a:ext cx="978408" cy="530352"/>
          </a:xfrm>
          <a:prstGeom prst="roundRect">
            <a:avLst>
              <a:gd name="adj" fmla="val 5172"/>
            </a:avLst>
          </a:prstGeom>
          <a:solidFill>
            <a:srgbClr val="10151B"/>
          </a:solidFill>
          <a:ln w="12700">
            <a:solidFill>
              <a:srgbClr val="10151B"/>
            </a:solidFill>
            <a:prstDash val="solid"/>
          </a:ln>
        </p:spPr>
      </p:sp>
      <p:sp>
        <p:nvSpPr>
          <p:cNvPr id="22" name="Text 20"/>
          <p:cNvSpPr/>
          <p:nvPr/>
        </p:nvSpPr>
        <p:spPr>
          <a:xfrm>
            <a:off x="11201400" y="2679192"/>
            <a:ext cx="393192" cy="164592"/>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OOS</a:t>
            </a:r>
            <a:endParaRPr lang="en-US" sz="900" dirty="0"/>
          </a:p>
        </p:txBody>
      </p:sp>
      <p:sp>
        <p:nvSpPr>
          <p:cNvPr id="23" name="Text 21"/>
          <p:cNvSpPr/>
          <p:nvPr/>
        </p:nvSpPr>
        <p:spPr>
          <a:xfrm>
            <a:off x="704088" y="3410712"/>
            <a:ext cx="950976" cy="219456"/>
          </a:xfrm>
          <a:prstGeom prst="rect">
            <a:avLst/>
          </a:prstGeom>
          <a:noFill/>
          <a:ln/>
        </p:spPr>
        <p:txBody>
          <a:bodyPr wrap="square" lIns="0" tIns="0" rIns="0" bIns="0" rtlCol="0" anchor="ctr">
            <a:normAutofit/>
          </a:bodyPr>
          <a:lstStyle/>
          <a:p>
            <a:pPr indent="0" marL="0">
              <a:buNone/>
            </a:pPr>
            <a:r>
              <a:rPr lang="en-US" sz="1100" b="1" dirty="0">
                <a:solidFill>
                  <a:srgbClr val="94A6B3"/>
                </a:solidFill>
                <a:latin typeface="Inter" pitchFamily="34" charset="0"/>
                <a:ea typeface="Inter" pitchFamily="34" charset="-122"/>
                <a:cs typeface="Inter" pitchFamily="34" charset="-120"/>
              </a:rPr>
              <a:t>FOLD 2</a:t>
            </a:r>
            <a:endParaRPr lang="en-US" sz="1100" dirty="0"/>
          </a:p>
        </p:txBody>
      </p:sp>
      <p:sp>
        <p:nvSpPr>
          <p:cNvPr id="24" name="Shape 22"/>
          <p:cNvSpPr/>
          <p:nvPr/>
        </p:nvSpPr>
        <p:spPr>
          <a:xfrm>
            <a:off x="1719072" y="3227832"/>
            <a:ext cx="978408" cy="530352"/>
          </a:xfrm>
          <a:prstGeom prst="roundRect">
            <a:avLst>
              <a:gd name="adj" fmla="val 5172"/>
            </a:avLst>
          </a:prstGeom>
          <a:solidFill>
            <a:srgbClr val="151B22"/>
          </a:solidFill>
          <a:ln w="12700">
            <a:solidFill>
              <a:srgbClr val="151B22"/>
            </a:solidFill>
            <a:prstDash val="solid"/>
          </a:ln>
        </p:spPr>
      </p:sp>
      <p:sp>
        <p:nvSpPr>
          <p:cNvPr id="25" name="Shape 23"/>
          <p:cNvSpPr/>
          <p:nvPr/>
        </p:nvSpPr>
        <p:spPr>
          <a:xfrm>
            <a:off x="2770632" y="3227832"/>
            <a:ext cx="978408" cy="530352"/>
          </a:xfrm>
          <a:prstGeom prst="roundRect">
            <a:avLst>
              <a:gd name="adj" fmla="val 5172"/>
            </a:avLst>
          </a:prstGeom>
          <a:solidFill>
            <a:srgbClr val="1A2733"/>
          </a:solidFill>
          <a:ln w="12700">
            <a:solidFill>
              <a:srgbClr val="1A2733"/>
            </a:solidFill>
            <a:prstDash val="solid"/>
          </a:ln>
        </p:spPr>
      </p:sp>
      <p:sp>
        <p:nvSpPr>
          <p:cNvPr id="26" name="Shape 24"/>
          <p:cNvSpPr/>
          <p:nvPr/>
        </p:nvSpPr>
        <p:spPr>
          <a:xfrm>
            <a:off x="3822192" y="3227832"/>
            <a:ext cx="978408" cy="530352"/>
          </a:xfrm>
          <a:prstGeom prst="roundRect">
            <a:avLst>
              <a:gd name="adj" fmla="val 5172"/>
            </a:avLst>
          </a:prstGeom>
          <a:solidFill>
            <a:srgbClr val="1A2733"/>
          </a:solidFill>
          <a:ln w="12700">
            <a:solidFill>
              <a:srgbClr val="1A2733"/>
            </a:solidFill>
            <a:prstDash val="solid"/>
          </a:ln>
        </p:spPr>
      </p:sp>
      <p:sp>
        <p:nvSpPr>
          <p:cNvPr id="27" name="Shape 25"/>
          <p:cNvSpPr/>
          <p:nvPr/>
        </p:nvSpPr>
        <p:spPr>
          <a:xfrm>
            <a:off x="4873752" y="3227832"/>
            <a:ext cx="978408" cy="530352"/>
          </a:xfrm>
          <a:prstGeom prst="roundRect">
            <a:avLst>
              <a:gd name="adj" fmla="val 5172"/>
            </a:avLst>
          </a:prstGeom>
          <a:solidFill>
            <a:srgbClr val="1A2733"/>
          </a:solidFill>
          <a:ln w="12700">
            <a:solidFill>
              <a:srgbClr val="1A2733"/>
            </a:solidFill>
            <a:prstDash val="solid"/>
          </a:ln>
        </p:spPr>
      </p:sp>
      <p:sp>
        <p:nvSpPr>
          <p:cNvPr id="28" name="Shape 26"/>
          <p:cNvSpPr/>
          <p:nvPr/>
        </p:nvSpPr>
        <p:spPr>
          <a:xfrm>
            <a:off x="5925312" y="3227832"/>
            <a:ext cx="978408" cy="530352"/>
          </a:xfrm>
          <a:prstGeom prst="roundRect">
            <a:avLst>
              <a:gd name="adj" fmla="val 5172"/>
            </a:avLst>
          </a:prstGeom>
          <a:solidFill>
            <a:srgbClr val="1A2733"/>
          </a:solidFill>
          <a:ln w="12700">
            <a:solidFill>
              <a:srgbClr val="1A2733"/>
            </a:solidFill>
            <a:prstDash val="solid"/>
          </a:ln>
        </p:spPr>
      </p:sp>
      <p:sp>
        <p:nvSpPr>
          <p:cNvPr id="29" name="Shape 27"/>
          <p:cNvSpPr/>
          <p:nvPr/>
        </p:nvSpPr>
        <p:spPr>
          <a:xfrm>
            <a:off x="6976872" y="3227832"/>
            <a:ext cx="978408" cy="530352"/>
          </a:xfrm>
          <a:prstGeom prst="roundRect">
            <a:avLst>
              <a:gd name="adj" fmla="val 5172"/>
            </a:avLst>
          </a:prstGeom>
          <a:solidFill>
            <a:srgbClr val="69DDCF"/>
          </a:solidFill>
          <a:ln w="12700">
            <a:solidFill>
              <a:srgbClr val="69DDCF"/>
            </a:solidFill>
            <a:prstDash val="solid"/>
          </a:ln>
        </p:spPr>
      </p:sp>
      <p:sp>
        <p:nvSpPr>
          <p:cNvPr id="30" name="Shape 28"/>
          <p:cNvSpPr/>
          <p:nvPr/>
        </p:nvSpPr>
        <p:spPr>
          <a:xfrm>
            <a:off x="8028432" y="3227832"/>
            <a:ext cx="978408" cy="530352"/>
          </a:xfrm>
          <a:prstGeom prst="roundRect">
            <a:avLst>
              <a:gd name="adj" fmla="val 5172"/>
            </a:avLst>
          </a:prstGeom>
          <a:solidFill>
            <a:srgbClr val="10151B"/>
          </a:solidFill>
          <a:ln w="12700">
            <a:solidFill>
              <a:srgbClr val="10151B"/>
            </a:solidFill>
            <a:prstDash val="solid"/>
          </a:ln>
        </p:spPr>
      </p:sp>
      <p:sp>
        <p:nvSpPr>
          <p:cNvPr id="31" name="Shape 29"/>
          <p:cNvSpPr/>
          <p:nvPr/>
        </p:nvSpPr>
        <p:spPr>
          <a:xfrm>
            <a:off x="9079992" y="3227832"/>
            <a:ext cx="978408" cy="530352"/>
          </a:xfrm>
          <a:prstGeom prst="roundRect">
            <a:avLst>
              <a:gd name="adj" fmla="val 5172"/>
            </a:avLst>
          </a:prstGeom>
          <a:solidFill>
            <a:srgbClr val="10151B"/>
          </a:solidFill>
          <a:ln w="12700">
            <a:solidFill>
              <a:srgbClr val="10151B"/>
            </a:solidFill>
            <a:prstDash val="solid"/>
          </a:ln>
        </p:spPr>
      </p:sp>
      <p:sp>
        <p:nvSpPr>
          <p:cNvPr id="32" name="Shape 30"/>
          <p:cNvSpPr/>
          <p:nvPr/>
        </p:nvSpPr>
        <p:spPr>
          <a:xfrm>
            <a:off x="10131552" y="3227832"/>
            <a:ext cx="978408" cy="530352"/>
          </a:xfrm>
          <a:prstGeom prst="roundRect">
            <a:avLst>
              <a:gd name="adj" fmla="val 5172"/>
            </a:avLst>
          </a:prstGeom>
          <a:solidFill>
            <a:srgbClr val="10151B"/>
          </a:solidFill>
          <a:ln w="12700">
            <a:solidFill>
              <a:srgbClr val="10151B"/>
            </a:solidFill>
            <a:prstDash val="solid"/>
          </a:ln>
        </p:spPr>
      </p:sp>
      <p:sp>
        <p:nvSpPr>
          <p:cNvPr id="33" name="Text 31"/>
          <p:cNvSpPr/>
          <p:nvPr/>
        </p:nvSpPr>
        <p:spPr>
          <a:xfrm>
            <a:off x="11201400" y="3410712"/>
            <a:ext cx="393192" cy="164592"/>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OOS</a:t>
            </a:r>
            <a:endParaRPr lang="en-US" sz="900" dirty="0"/>
          </a:p>
        </p:txBody>
      </p:sp>
      <p:sp>
        <p:nvSpPr>
          <p:cNvPr id="34" name="Text 32"/>
          <p:cNvSpPr/>
          <p:nvPr/>
        </p:nvSpPr>
        <p:spPr>
          <a:xfrm>
            <a:off x="704088" y="4142232"/>
            <a:ext cx="950976" cy="219456"/>
          </a:xfrm>
          <a:prstGeom prst="rect">
            <a:avLst/>
          </a:prstGeom>
          <a:noFill/>
          <a:ln/>
        </p:spPr>
        <p:txBody>
          <a:bodyPr wrap="square" lIns="0" tIns="0" rIns="0" bIns="0" rtlCol="0" anchor="ctr">
            <a:normAutofit/>
          </a:bodyPr>
          <a:lstStyle/>
          <a:p>
            <a:pPr indent="0" marL="0">
              <a:buNone/>
            </a:pPr>
            <a:r>
              <a:rPr lang="en-US" sz="1100" b="1" dirty="0">
                <a:solidFill>
                  <a:srgbClr val="94A6B3"/>
                </a:solidFill>
                <a:latin typeface="Inter" pitchFamily="34" charset="0"/>
                <a:ea typeface="Inter" pitchFamily="34" charset="-122"/>
                <a:cs typeface="Inter" pitchFamily="34" charset="-120"/>
              </a:rPr>
              <a:t>FOLD 3</a:t>
            </a:r>
            <a:endParaRPr lang="en-US" sz="1100" dirty="0"/>
          </a:p>
        </p:txBody>
      </p:sp>
      <p:sp>
        <p:nvSpPr>
          <p:cNvPr id="35" name="Shape 33"/>
          <p:cNvSpPr/>
          <p:nvPr/>
        </p:nvSpPr>
        <p:spPr>
          <a:xfrm>
            <a:off x="1719072" y="3959352"/>
            <a:ext cx="978408" cy="530352"/>
          </a:xfrm>
          <a:prstGeom prst="roundRect">
            <a:avLst>
              <a:gd name="adj" fmla="val 5172"/>
            </a:avLst>
          </a:prstGeom>
          <a:solidFill>
            <a:srgbClr val="151B22"/>
          </a:solidFill>
          <a:ln w="12700">
            <a:solidFill>
              <a:srgbClr val="151B22"/>
            </a:solidFill>
            <a:prstDash val="solid"/>
          </a:ln>
        </p:spPr>
      </p:sp>
      <p:sp>
        <p:nvSpPr>
          <p:cNvPr id="36" name="Shape 34"/>
          <p:cNvSpPr/>
          <p:nvPr/>
        </p:nvSpPr>
        <p:spPr>
          <a:xfrm>
            <a:off x="2770632" y="3959352"/>
            <a:ext cx="978408" cy="530352"/>
          </a:xfrm>
          <a:prstGeom prst="roundRect">
            <a:avLst>
              <a:gd name="adj" fmla="val 5172"/>
            </a:avLst>
          </a:prstGeom>
          <a:solidFill>
            <a:srgbClr val="151B22"/>
          </a:solidFill>
          <a:ln w="12700">
            <a:solidFill>
              <a:srgbClr val="151B22"/>
            </a:solidFill>
            <a:prstDash val="solid"/>
          </a:ln>
        </p:spPr>
      </p:sp>
      <p:sp>
        <p:nvSpPr>
          <p:cNvPr id="37" name="Shape 35"/>
          <p:cNvSpPr/>
          <p:nvPr/>
        </p:nvSpPr>
        <p:spPr>
          <a:xfrm>
            <a:off x="3822192" y="3959352"/>
            <a:ext cx="978408" cy="530352"/>
          </a:xfrm>
          <a:prstGeom prst="roundRect">
            <a:avLst>
              <a:gd name="adj" fmla="val 5172"/>
            </a:avLst>
          </a:prstGeom>
          <a:solidFill>
            <a:srgbClr val="1A2733"/>
          </a:solidFill>
          <a:ln w="12700">
            <a:solidFill>
              <a:srgbClr val="1A2733"/>
            </a:solidFill>
            <a:prstDash val="solid"/>
          </a:ln>
        </p:spPr>
      </p:sp>
      <p:sp>
        <p:nvSpPr>
          <p:cNvPr id="38" name="Shape 36"/>
          <p:cNvSpPr/>
          <p:nvPr/>
        </p:nvSpPr>
        <p:spPr>
          <a:xfrm>
            <a:off x="4873752" y="3959352"/>
            <a:ext cx="978408" cy="530352"/>
          </a:xfrm>
          <a:prstGeom prst="roundRect">
            <a:avLst>
              <a:gd name="adj" fmla="val 5172"/>
            </a:avLst>
          </a:prstGeom>
          <a:solidFill>
            <a:srgbClr val="1A2733"/>
          </a:solidFill>
          <a:ln w="12700">
            <a:solidFill>
              <a:srgbClr val="1A2733"/>
            </a:solidFill>
            <a:prstDash val="solid"/>
          </a:ln>
        </p:spPr>
      </p:sp>
      <p:sp>
        <p:nvSpPr>
          <p:cNvPr id="39" name="Shape 37"/>
          <p:cNvSpPr/>
          <p:nvPr/>
        </p:nvSpPr>
        <p:spPr>
          <a:xfrm>
            <a:off x="5925312" y="3959352"/>
            <a:ext cx="978408" cy="530352"/>
          </a:xfrm>
          <a:prstGeom prst="roundRect">
            <a:avLst>
              <a:gd name="adj" fmla="val 5172"/>
            </a:avLst>
          </a:prstGeom>
          <a:solidFill>
            <a:srgbClr val="1A2733"/>
          </a:solidFill>
          <a:ln w="12700">
            <a:solidFill>
              <a:srgbClr val="1A2733"/>
            </a:solidFill>
            <a:prstDash val="solid"/>
          </a:ln>
        </p:spPr>
      </p:sp>
      <p:sp>
        <p:nvSpPr>
          <p:cNvPr id="40" name="Shape 38"/>
          <p:cNvSpPr/>
          <p:nvPr/>
        </p:nvSpPr>
        <p:spPr>
          <a:xfrm>
            <a:off x="6976872" y="3959352"/>
            <a:ext cx="978408" cy="530352"/>
          </a:xfrm>
          <a:prstGeom prst="roundRect">
            <a:avLst>
              <a:gd name="adj" fmla="val 5172"/>
            </a:avLst>
          </a:prstGeom>
          <a:solidFill>
            <a:srgbClr val="1A2733"/>
          </a:solidFill>
          <a:ln w="12700">
            <a:solidFill>
              <a:srgbClr val="1A2733"/>
            </a:solidFill>
            <a:prstDash val="solid"/>
          </a:ln>
        </p:spPr>
      </p:sp>
      <p:sp>
        <p:nvSpPr>
          <p:cNvPr id="41" name="Shape 39"/>
          <p:cNvSpPr/>
          <p:nvPr/>
        </p:nvSpPr>
        <p:spPr>
          <a:xfrm>
            <a:off x="8028432" y="3959352"/>
            <a:ext cx="978408" cy="530352"/>
          </a:xfrm>
          <a:prstGeom prst="roundRect">
            <a:avLst>
              <a:gd name="adj" fmla="val 5172"/>
            </a:avLst>
          </a:prstGeom>
          <a:solidFill>
            <a:srgbClr val="69DDCF"/>
          </a:solidFill>
          <a:ln w="12700">
            <a:solidFill>
              <a:srgbClr val="69DDCF"/>
            </a:solidFill>
            <a:prstDash val="solid"/>
          </a:ln>
        </p:spPr>
      </p:sp>
      <p:sp>
        <p:nvSpPr>
          <p:cNvPr id="42" name="Shape 40"/>
          <p:cNvSpPr/>
          <p:nvPr/>
        </p:nvSpPr>
        <p:spPr>
          <a:xfrm>
            <a:off x="9079992" y="3959352"/>
            <a:ext cx="978408" cy="530352"/>
          </a:xfrm>
          <a:prstGeom prst="roundRect">
            <a:avLst>
              <a:gd name="adj" fmla="val 5172"/>
            </a:avLst>
          </a:prstGeom>
          <a:solidFill>
            <a:srgbClr val="10151B"/>
          </a:solidFill>
          <a:ln w="12700">
            <a:solidFill>
              <a:srgbClr val="10151B"/>
            </a:solidFill>
            <a:prstDash val="solid"/>
          </a:ln>
        </p:spPr>
      </p:sp>
      <p:sp>
        <p:nvSpPr>
          <p:cNvPr id="43" name="Shape 41"/>
          <p:cNvSpPr/>
          <p:nvPr/>
        </p:nvSpPr>
        <p:spPr>
          <a:xfrm>
            <a:off x="10131552" y="3959352"/>
            <a:ext cx="978408" cy="530352"/>
          </a:xfrm>
          <a:prstGeom prst="roundRect">
            <a:avLst>
              <a:gd name="adj" fmla="val 5172"/>
            </a:avLst>
          </a:prstGeom>
          <a:solidFill>
            <a:srgbClr val="10151B"/>
          </a:solidFill>
          <a:ln w="12700">
            <a:solidFill>
              <a:srgbClr val="10151B"/>
            </a:solidFill>
            <a:prstDash val="solid"/>
          </a:ln>
        </p:spPr>
      </p:sp>
      <p:sp>
        <p:nvSpPr>
          <p:cNvPr id="44" name="Text 42"/>
          <p:cNvSpPr/>
          <p:nvPr/>
        </p:nvSpPr>
        <p:spPr>
          <a:xfrm>
            <a:off x="11201400" y="4142232"/>
            <a:ext cx="393192" cy="164592"/>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OOS</a:t>
            </a:r>
            <a:endParaRPr lang="en-US" sz="900" dirty="0"/>
          </a:p>
        </p:txBody>
      </p:sp>
      <p:sp>
        <p:nvSpPr>
          <p:cNvPr id="45" name="Text 43"/>
          <p:cNvSpPr/>
          <p:nvPr/>
        </p:nvSpPr>
        <p:spPr>
          <a:xfrm>
            <a:off x="704088" y="4873752"/>
            <a:ext cx="950976" cy="219456"/>
          </a:xfrm>
          <a:prstGeom prst="rect">
            <a:avLst/>
          </a:prstGeom>
          <a:noFill/>
          <a:ln/>
        </p:spPr>
        <p:txBody>
          <a:bodyPr wrap="square" lIns="0" tIns="0" rIns="0" bIns="0" rtlCol="0" anchor="ctr">
            <a:normAutofit/>
          </a:bodyPr>
          <a:lstStyle/>
          <a:p>
            <a:pPr indent="0" marL="0">
              <a:buNone/>
            </a:pPr>
            <a:r>
              <a:rPr lang="en-US" sz="1100" b="1" dirty="0">
                <a:solidFill>
                  <a:srgbClr val="94A6B3"/>
                </a:solidFill>
                <a:latin typeface="Inter" pitchFamily="34" charset="0"/>
                <a:ea typeface="Inter" pitchFamily="34" charset="-122"/>
                <a:cs typeface="Inter" pitchFamily="34" charset="-120"/>
              </a:rPr>
              <a:t>FOLD 4</a:t>
            </a:r>
            <a:endParaRPr lang="en-US" sz="1100" dirty="0"/>
          </a:p>
        </p:txBody>
      </p:sp>
      <p:sp>
        <p:nvSpPr>
          <p:cNvPr id="46" name="Shape 44"/>
          <p:cNvSpPr/>
          <p:nvPr/>
        </p:nvSpPr>
        <p:spPr>
          <a:xfrm>
            <a:off x="1719072" y="4690872"/>
            <a:ext cx="978408" cy="530352"/>
          </a:xfrm>
          <a:prstGeom prst="roundRect">
            <a:avLst>
              <a:gd name="adj" fmla="val 5172"/>
            </a:avLst>
          </a:prstGeom>
          <a:solidFill>
            <a:srgbClr val="151B22"/>
          </a:solidFill>
          <a:ln w="12700">
            <a:solidFill>
              <a:srgbClr val="151B22"/>
            </a:solidFill>
            <a:prstDash val="solid"/>
          </a:ln>
        </p:spPr>
      </p:sp>
      <p:sp>
        <p:nvSpPr>
          <p:cNvPr id="47" name="Shape 45"/>
          <p:cNvSpPr/>
          <p:nvPr/>
        </p:nvSpPr>
        <p:spPr>
          <a:xfrm>
            <a:off x="2770632" y="4690872"/>
            <a:ext cx="978408" cy="530352"/>
          </a:xfrm>
          <a:prstGeom prst="roundRect">
            <a:avLst>
              <a:gd name="adj" fmla="val 5172"/>
            </a:avLst>
          </a:prstGeom>
          <a:solidFill>
            <a:srgbClr val="151B22"/>
          </a:solidFill>
          <a:ln w="12700">
            <a:solidFill>
              <a:srgbClr val="151B22"/>
            </a:solidFill>
            <a:prstDash val="solid"/>
          </a:ln>
        </p:spPr>
      </p:sp>
      <p:sp>
        <p:nvSpPr>
          <p:cNvPr id="48" name="Shape 46"/>
          <p:cNvSpPr/>
          <p:nvPr/>
        </p:nvSpPr>
        <p:spPr>
          <a:xfrm>
            <a:off x="3822192" y="4690872"/>
            <a:ext cx="978408" cy="530352"/>
          </a:xfrm>
          <a:prstGeom prst="roundRect">
            <a:avLst>
              <a:gd name="adj" fmla="val 5172"/>
            </a:avLst>
          </a:prstGeom>
          <a:solidFill>
            <a:srgbClr val="151B22"/>
          </a:solidFill>
          <a:ln w="12700">
            <a:solidFill>
              <a:srgbClr val="151B22"/>
            </a:solidFill>
            <a:prstDash val="solid"/>
          </a:ln>
        </p:spPr>
      </p:sp>
      <p:sp>
        <p:nvSpPr>
          <p:cNvPr id="49" name="Shape 47"/>
          <p:cNvSpPr/>
          <p:nvPr/>
        </p:nvSpPr>
        <p:spPr>
          <a:xfrm>
            <a:off x="4873752" y="4690872"/>
            <a:ext cx="978408" cy="530352"/>
          </a:xfrm>
          <a:prstGeom prst="roundRect">
            <a:avLst>
              <a:gd name="adj" fmla="val 5172"/>
            </a:avLst>
          </a:prstGeom>
          <a:solidFill>
            <a:srgbClr val="1A2733"/>
          </a:solidFill>
          <a:ln w="12700">
            <a:solidFill>
              <a:srgbClr val="1A2733"/>
            </a:solidFill>
            <a:prstDash val="solid"/>
          </a:ln>
        </p:spPr>
      </p:sp>
      <p:sp>
        <p:nvSpPr>
          <p:cNvPr id="50" name="Shape 48"/>
          <p:cNvSpPr/>
          <p:nvPr/>
        </p:nvSpPr>
        <p:spPr>
          <a:xfrm>
            <a:off x="5925312" y="4690872"/>
            <a:ext cx="978408" cy="530352"/>
          </a:xfrm>
          <a:prstGeom prst="roundRect">
            <a:avLst>
              <a:gd name="adj" fmla="val 5172"/>
            </a:avLst>
          </a:prstGeom>
          <a:solidFill>
            <a:srgbClr val="1A2733"/>
          </a:solidFill>
          <a:ln w="12700">
            <a:solidFill>
              <a:srgbClr val="1A2733"/>
            </a:solidFill>
            <a:prstDash val="solid"/>
          </a:ln>
        </p:spPr>
      </p:sp>
      <p:sp>
        <p:nvSpPr>
          <p:cNvPr id="51" name="Shape 49"/>
          <p:cNvSpPr/>
          <p:nvPr/>
        </p:nvSpPr>
        <p:spPr>
          <a:xfrm>
            <a:off x="6976872" y="4690872"/>
            <a:ext cx="978408" cy="530352"/>
          </a:xfrm>
          <a:prstGeom prst="roundRect">
            <a:avLst>
              <a:gd name="adj" fmla="val 5172"/>
            </a:avLst>
          </a:prstGeom>
          <a:solidFill>
            <a:srgbClr val="1A2733"/>
          </a:solidFill>
          <a:ln w="12700">
            <a:solidFill>
              <a:srgbClr val="1A2733"/>
            </a:solidFill>
            <a:prstDash val="solid"/>
          </a:ln>
        </p:spPr>
      </p:sp>
      <p:sp>
        <p:nvSpPr>
          <p:cNvPr id="52" name="Shape 50"/>
          <p:cNvSpPr/>
          <p:nvPr/>
        </p:nvSpPr>
        <p:spPr>
          <a:xfrm>
            <a:off x="8028432" y="4690872"/>
            <a:ext cx="978408" cy="530352"/>
          </a:xfrm>
          <a:prstGeom prst="roundRect">
            <a:avLst>
              <a:gd name="adj" fmla="val 5172"/>
            </a:avLst>
          </a:prstGeom>
          <a:solidFill>
            <a:srgbClr val="1A2733"/>
          </a:solidFill>
          <a:ln w="12700">
            <a:solidFill>
              <a:srgbClr val="1A2733"/>
            </a:solidFill>
            <a:prstDash val="solid"/>
          </a:ln>
        </p:spPr>
      </p:sp>
      <p:sp>
        <p:nvSpPr>
          <p:cNvPr id="53" name="Shape 51"/>
          <p:cNvSpPr/>
          <p:nvPr/>
        </p:nvSpPr>
        <p:spPr>
          <a:xfrm>
            <a:off x="9079992" y="4690872"/>
            <a:ext cx="978408" cy="530352"/>
          </a:xfrm>
          <a:prstGeom prst="roundRect">
            <a:avLst>
              <a:gd name="adj" fmla="val 5172"/>
            </a:avLst>
          </a:prstGeom>
          <a:solidFill>
            <a:srgbClr val="69DDCF"/>
          </a:solidFill>
          <a:ln w="12700">
            <a:solidFill>
              <a:srgbClr val="69DDCF"/>
            </a:solidFill>
            <a:prstDash val="solid"/>
          </a:ln>
        </p:spPr>
      </p:sp>
      <p:sp>
        <p:nvSpPr>
          <p:cNvPr id="54" name="Shape 52"/>
          <p:cNvSpPr/>
          <p:nvPr/>
        </p:nvSpPr>
        <p:spPr>
          <a:xfrm>
            <a:off x="10131552" y="4690872"/>
            <a:ext cx="978408" cy="530352"/>
          </a:xfrm>
          <a:prstGeom prst="roundRect">
            <a:avLst>
              <a:gd name="adj" fmla="val 5172"/>
            </a:avLst>
          </a:prstGeom>
          <a:solidFill>
            <a:srgbClr val="10151B"/>
          </a:solidFill>
          <a:ln w="12700">
            <a:solidFill>
              <a:srgbClr val="10151B"/>
            </a:solidFill>
            <a:prstDash val="solid"/>
          </a:ln>
        </p:spPr>
      </p:sp>
      <p:sp>
        <p:nvSpPr>
          <p:cNvPr id="55" name="Text 53"/>
          <p:cNvSpPr/>
          <p:nvPr/>
        </p:nvSpPr>
        <p:spPr>
          <a:xfrm>
            <a:off x="11201400" y="4873752"/>
            <a:ext cx="393192" cy="164592"/>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OOS</a:t>
            </a:r>
            <a:endParaRPr lang="en-US" sz="900" dirty="0"/>
          </a:p>
        </p:txBody>
      </p:sp>
      <p:sp>
        <p:nvSpPr>
          <p:cNvPr id="56" name="Shape 54"/>
          <p:cNvSpPr/>
          <p:nvPr/>
        </p:nvSpPr>
        <p:spPr>
          <a:xfrm>
            <a:off x="795528" y="5678424"/>
            <a:ext cx="10607040" cy="393192"/>
          </a:xfrm>
          <a:prstGeom prst="roundRect">
            <a:avLst>
              <a:gd name="adj" fmla="val 32558"/>
            </a:avLst>
          </a:prstGeom>
          <a:solidFill>
            <a:srgbClr val="16212C"/>
          </a:solidFill>
          <a:ln w="8890">
            <a:solidFill>
              <a:srgbClr val="263442"/>
            </a:solidFill>
            <a:prstDash val="solid"/>
          </a:ln>
        </p:spPr>
      </p:sp>
      <p:sp>
        <p:nvSpPr>
          <p:cNvPr id="57" name="Text 55"/>
          <p:cNvSpPr/>
          <p:nvPr/>
        </p:nvSpPr>
        <p:spPr>
          <a:xfrm>
            <a:off x="1024128" y="5769864"/>
            <a:ext cx="2697480" cy="146304"/>
          </a:xfrm>
          <a:prstGeom prst="rect">
            <a:avLst/>
          </a:prstGeom>
          <a:noFill/>
          <a:ln/>
        </p:spPr>
        <p:txBody>
          <a:bodyPr wrap="square" lIns="0" tIns="0" rIns="0" bIns="0" rtlCol="0" anchor="ctr">
            <a:normAutofit/>
          </a:bodyPr>
          <a:lstStyle/>
          <a:p>
            <a:pPr indent="0" marL="0">
              <a:buNone/>
            </a:pPr>
            <a:r>
              <a:rPr lang="en-US" sz="1000" dirty="0">
                <a:solidFill>
                  <a:srgbClr val="EDF5F7"/>
                </a:solidFill>
                <a:latin typeface="Inter" pitchFamily="34" charset="0"/>
                <a:ea typeface="Inter" pitchFamily="34" charset="-122"/>
                <a:cs typeface="Inter" pitchFamily="34" charset="-120"/>
              </a:rPr>
              <a:t>Development-Fenster</a:t>
            </a:r>
            <a:endParaRPr lang="en-US" sz="1000" dirty="0"/>
          </a:p>
        </p:txBody>
      </p:sp>
      <p:sp>
        <p:nvSpPr>
          <p:cNvPr id="58" name="Shape 56"/>
          <p:cNvSpPr/>
          <p:nvPr/>
        </p:nvSpPr>
        <p:spPr>
          <a:xfrm>
            <a:off x="886968" y="5797296"/>
            <a:ext cx="73152" cy="73152"/>
          </a:xfrm>
          <a:prstGeom prst="ellipse">
            <a:avLst/>
          </a:prstGeom>
          <a:solidFill>
            <a:srgbClr val="1A2733"/>
          </a:solidFill>
          <a:ln w="12700">
            <a:solidFill>
              <a:srgbClr val="1A2733">
                <a:alpha val="0"/>
              </a:srgbClr>
            </a:solidFill>
            <a:prstDash val="solid"/>
          </a:ln>
        </p:spPr>
      </p:sp>
      <p:sp>
        <p:nvSpPr>
          <p:cNvPr id="59" name="Text 57"/>
          <p:cNvSpPr/>
          <p:nvPr/>
        </p:nvSpPr>
        <p:spPr>
          <a:xfrm>
            <a:off x="4754880" y="5769864"/>
            <a:ext cx="2048256" cy="146304"/>
          </a:xfrm>
          <a:prstGeom prst="rect">
            <a:avLst/>
          </a:prstGeom>
          <a:noFill/>
          <a:ln/>
        </p:spPr>
        <p:txBody>
          <a:bodyPr wrap="square" lIns="0" tIns="0" rIns="0" bIns="0" rtlCol="0" anchor="ctr">
            <a:normAutofit/>
          </a:bodyPr>
          <a:lstStyle/>
          <a:p>
            <a:pPr indent="0" marL="0">
              <a:buNone/>
            </a:pPr>
            <a:r>
              <a:rPr lang="en-US" sz="1000" dirty="0">
                <a:solidFill>
                  <a:srgbClr val="69DDCF"/>
                </a:solidFill>
                <a:latin typeface="Inter" pitchFamily="34" charset="0"/>
                <a:ea typeface="Inter" pitchFamily="34" charset="-122"/>
                <a:cs typeface="Inter" pitchFamily="34" charset="-120"/>
              </a:rPr>
              <a:t>Test-Fenster</a:t>
            </a:r>
            <a:endParaRPr lang="en-US" sz="1000" dirty="0"/>
          </a:p>
        </p:txBody>
      </p:sp>
      <p:sp>
        <p:nvSpPr>
          <p:cNvPr id="60" name="Shape 58"/>
          <p:cNvSpPr/>
          <p:nvPr/>
        </p:nvSpPr>
        <p:spPr>
          <a:xfrm>
            <a:off x="4626864" y="5797296"/>
            <a:ext cx="73152" cy="73152"/>
          </a:xfrm>
          <a:prstGeom prst="ellipse">
            <a:avLst/>
          </a:prstGeom>
          <a:solidFill>
            <a:srgbClr val="69DDCF"/>
          </a:solidFill>
          <a:ln w="12700">
            <a:solidFill>
              <a:srgbClr val="69DDCF">
                <a:alpha val="0"/>
              </a:srgbClr>
            </a:solidFill>
            <a:prstDash val="solid"/>
          </a:ln>
        </p:spPr>
      </p:sp>
      <p:sp>
        <p:nvSpPr>
          <p:cNvPr id="61" name="Text 59"/>
          <p:cNvSpPr/>
          <p:nvPr/>
        </p:nvSpPr>
        <p:spPr>
          <a:xfrm>
            <a:off x="7315200" y="5751576"/>
            <a:ext cx="3849624" cy="182880"/>
          </a:xfrm>
          <a:prstGeom prst="rect">
            <a:avLst/>
          </a:prstGeom>
          <a:noFill/>
          <a:ln/>
        </p:spPr>
        <p:txBody>
          <a:bodyPr wrap="square" lIns="0" tIns="0" rIns="0" bIns="0" rtlCol="0" anchor="ctr">
            <a:normAutofit/>
          </a:bodyPr>
          <a:lstStyle/>
          <a:p>
            <a:pPr indent="0" marL="0">
              <a:buNone/>
            </a:pPr>
            <a:r>
              <a:rPr lang="en-US" sz="900" dirty="0">
                <a:solidFill>
                  <a:srgbClr val="94A6B3"/>
                </a:solidFill>
                <a:latin typeface="Inter" pitchFamily="34" charset="0"/>
                <a:ea typeface="Inter" pitchFamily="34" charset="-122"/>
                <a:cs typeface="Inter" pitchFamily="34" charset="-120"/>
              </a:rPr>
              <a:t>Zeitsprung nur nach vorn; keine zufälligen Shuffles.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PARAMETER STABILITY</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15</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14 / ROBUSTNESS</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Ein Edge ist eine Region – kein magischer Parameterpunkt.</a:t>
            </a:r>
            <a:endParaRPr lang="en-US" sz="2900" dirty="0"/>
          </a:p>
        </p:txBody>
      </p:sp>
      <p:sp>
        <p:nvSpPr>
          <p:cNvPr id="11" name="Text 9"/>
          <p:cNvSpPr/>
          <p:nvPr/>
        </p:nvSpPr>
        <p:spPr>
          <a:xfrm>
            <a:off x="841248" y="2423160"/>
            <a:ext cx="4572000" cy="219456"/>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Parameter A  /  Opening range</a:t>
            </a:r>
            <a:endParaRPr lang="en-US" sz="1100" dirty="0"/>
          </a:p>
        </p:txBody>
      </p:sp>
      <p:sp>
        <p:nvSpPr>
          <p:cNvPr id="12" name="Shape 10"/>
          <p:cNvSpPr/>
          <p:nvPr/>
        </p:nvSpPr>
        <p:spPr>
          <a:xfrm>
            <a:off x="978408" y="2807208"/>
            <a:ext cx="740664" cy="512064"/>
          </a:xfrm>
          <a:prstGeom prst="roundRect">
            <a:avLst>
              <a:gd name="adj" fmla="val 3571"/>
            </a:avLst>
          </a:prstGeom>
          <a:solidFill>
            <a:srgbClr val="22313D"/>
          </a:solidFill>
          <a:ln w="12700">
            <a:solidFill>
              <a:srgbClr val="22313D"/>
            </a:solidFill>
            <a:prstDash val="solid"/>
          </a:ln>
        </p:spPr>
      </p:sp>
      <p:sp>
        <p:nvSpPr>
          <p:cNvPr id="13" name="Text 11"/>
          <p:cNvSpPr/>
          <p:nvPr/>
        </p:nvSpPr>
        <p:spPr>
          <a:xfrm>
            <a:off x="978408" y="2962656"/>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20</a:t>
            </a:r>
            <a:endParaRPr lang="en-US" sz="1000" dirty="0"/>
          </a:p>
        </p:txBody>
      </p:sp>
      <p:sp>
        <p:nvSpPr>
          <p:cNvPr id="14" name="Shape 12"/>
          <p:cNvSpPr/>
          <p:nvPr/>
        </p:nvSpPr>
        <p:spPr>
          <a:xfrm>
            <a:off x="1783080" y="2807208"/>
            <a:ext cx="740664" cy="512064"/>
          </a:xfrm>
          <a:prstGeom prst="roundRect">
            <a:avLst>
              <a:gd name="adj" fmla="val 3571"/>
            </a:avLst>
          </a:prstGeom>
          <a:solidFill>
            <a:srgbClr val="22313D"/>
          </a:solidFill>
          <a:ln w="12700">
            <a:solidFill>
              <a:srgbClr val="22313D"/>
            </a:solidFill>
            <a:prstDash val="solid"/>
          </a:ln>
        </p:spPr>
      </p:sp>
      <p:sp>
        <p:nvSpPr>
          <p:cNvPr id="15" name="Text 13"/>
          <p:cNvSpPr/>
          <p:nvPr/>
        </p:nvSpPr>
        <p:spPr>
          <a:xfrm>
            <a:off x="1783080" y="2962656"/>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25</a:t>
            </a:r>
            <a:endParaRPr lang="en-US" sz="1000" dirty="0"/>
          </a:p>
        </p:txBody>
      </p:sp>
      <p:sp>
        <p:nvSpPr>
          <p:cNvPr id="16" name="Shape 14"/>
          <p:cNvSpPr/>
          <p:nvPr/>
        </p:nvSpPr>
        <p:spPr>
          <a:xfrm>
            <a:off x="2587752" y="2807208"/>
            <a:ext cx="740664" cy="512064"/>
          </a:xfrm>
          <a:prstGeom prst="roundRect">
            <a:avLst>
              <a:gd name="adj" fmla="val 3571"/>
            </a:avLst>
          </a:prstGeom>
          <a:solidFill>
            <a:srgbClr val="28484C"/>
          </a:solidFill>
          <a:ln w="12700">
            <a:solidFill>
              <a:srgbClr val="28484C"/>
            </a:solidFill>
            <a:prstDash val="solid"/>
          </a:ln>
        </p:spPr>
      </p:sp>
      <p:sp>
        <p:nvSpPr>
          <p:cNvPr id="17" name="Text 15"/>
          <p:cNvSpPr/>
          <p:nvPr/>
        </p:nvSpPr>
        <p:spPr>
          <a:xfrm>
            <a:off x="2587752" y="2962656"/>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30</a:t>
            </a:r>
            <a:endParaRPr lang="en-US" sz="1000" dirty="0"/>
          </a:p>
        </p:txBody>
      </p:sp>
      <p:sp>
        <p:nvSpPr>
          <p:cNvPr id="18" name="Shape 16"/>
          <p:cNvSpPr/>
          <p:nvPr/>
        </p:nvSpPr>
        <p:spPr>
          <a:xfrm>
            <a:off x="3392424" y="2807208"/>
            <a:ext cx="740664" cy="512064"/>
          </a:xfrm>
          <a:prstGeom prst="roundRect">
            <a:avLst>
              <a:gd name="adj" fmla="val 3571"/>
            </a:avLst>
          </a:prstGeom>
          <a:solidFill>
            <a:srgbClr val="28484C"/>
          </a:solidFill>
          <a:ln w="12700">
            <a:solidFill>
              <a:srgbClr val="28484C"/>
            </a:solidFill>
            <a:prstDash val="solid"/>
          </a:ln>
        </p:spPr>
      </p:sp>
      <p:sp>
        <p:nvSpPr>
          <p:cNvPr id="19" name="Text 17"/>
          <p:cNvSpPr/>
          <p:nvPr/>
        </p:nvSpPr>
        <p:spPr>
          <a:xfrm>
            <a:off x="3392424" y="2962656"/>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30</a:t>
            </a:r>
            <a:endParaRPr lang="en-US" sz="1000" dirty="0"/>
          </a:p>
        </p:txBody>
      </p:sp>
      <p:sp>
        <p:nvSpPr>
          <p:cNvPr id="20" name="Shape 18"/>
          <p:cNvSpPr/>
          <p:nvPr/>
        </p:nvSpPr>
        <p:spPr>
          <a:xfrm>
            <a:off x="4197096" y="2807208"/>
            <a:ext cx="740664" cy="512064"/>
          </a:xfrm>
          <a:prstGeom prst="roundRect">
            <a:avLst>
              <a:gd name="adj" fmla="val 3571"/>
            </a:avLst>
          </a:prstGeom>
          <a:solidFill>
            <a:srgbClr val="28484C"/>
          </a:solidFill>
          <a:ln w="12700">
            <a:solidFill>
              <a:srgbClr val="28484C"/>
            </a:solidFill>
            <a:prstDash val="solid"/>
          </a:ln>
        </p:spPr>
      </p:sp>
      <p:sp>
        <p:nvSpPr>
          <p:cNvPr id="21" name="Text 19"/>
          <p:cNvSpPr/>
          <p:nvPr/>
        </p:nvSpPr>
        <p:spPr>
          <a:xfrm>
            <a:off x="4197096" y="2962656"/>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35</a:t>
            </a:r>
            <a:endParaRPr lang="en-US" sz="1000" dirty="0"/>
          </a:p>
        </p:txBody>
      </p:sp>
      <p:sp>
        <p:nvSpPr>
          <p:cNvPr id="22" name="Shape 20"/>
          <p:cNvSpPr/>
          <p:nvPr/>
        </p:nvSpPr>
        <p:spPr>
          <a:xfrm>
            <a:off x="5001768" y="2807208"/>
            <a:ext cx="740664" cy="512064"/>
          </a:xfrm>
          <a:prstGeom prst="roundRect">
            <a:avLst>
              <a:gd name="adj" fmla="val 3571"/>
            </a:avLst>
          </a:prstGeom>
          <a:solidFill>
            <a:srgbClr val="22313D"/>
          </a:solidFill>
          <a:ln w="12700">
            <a:solidFill>
              <a:srgbClr val="22313D"/>
            </a:solidFill>
            <a:prstDash val="solid"/>
          </a:ln>
        </p:spPr>
      </p:sp>
      <p:sp>
        <p:nvSpPr>
          <p:cNvPr id="23" name="Text 21"/>
          <p:cNvSpPr/>
          <p:nvPr/>
        </p:nvSpPr>
        <p:spPr>
          <a:xfrm>
            <a:off x="5001768" y="2962656"/>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25</a:t>
            </a:r>
            <a:endParaRPr lang="en-US" sz="1000" dirty="0"/>
          </a:p>
        </p:txBody>
      </p:sp>
      <p:sp>
        <p:nvSpPr>
          <p:cNvPr id="24" name="Shape 22"/>
          <p:cNvSpPr/>
          <p:nvPr/>
        </p:nvSpPr>
        <p:spPr>
          <a:xfrm>
            <a:off x="5806440" y="2807208"/>
            <a:ext cx="740664" cy="512064"/>
          </a:xfrm>
          <a:prstGeom prst="roundRect">
            <a:avLst>
              <a:gd name="adj" fmla="val 3571"/>
            </a:avLst>
          </a:prstGeom>
          <a:solidFill>
            <a:srgbClr val="22313D"/>
          </a:solidFill>
          <a:ln w="12700">
            <a:solidFill>
              <a:srgbClr val="22313D"/>
            </a:solidFill>
            <a:prstDash val="solid"/>
          </a:ln>
        </p:spPr>
      </p:sp>
      <p:sp>
        <p:nvSpPr>
          <p:cNvPr id="25" name="Text 23"/>
          <p:cNvSpPr/>
          <p:nvPr/>
        </p:nvSpPr>
        <p:spPr>
          <a:xfrm>
            <a:off x="5806440" y="2962656"/>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16</a:t>
            </a:r>
            <a:endParaRPr lang="en-US" sz="1000" dirty="0"/>
          </a:p>
        </p:txBody>
      </p:sp>
      <p:sp>
        <p:nvSpPr>
          <p:cNvPr id="26" name="Shape 24"/>
          <p:cNvSpPr/>
          <p:nvPr/>
        </p:nvSpPr>
        <p:spPr>
          <a:xfrm>
            <a:off x="978408" y="3383280"/>
            <a:ext cx="740664" cy="512064"/>
          </a:xfrm>
          <a:prstGeom prst="roundRect">
            <a:avLst>
              <a:gd name="adj" fmla="val 3571"/>
            </a:avLst>
          </a:prstGeom>
          <a:solidFill>
            <a:srgbClr val="22313D"/>
          </a:solidFill>
          <a:ln w="12700">
            <a:solidFill>
              <a:srgbClr val="22313D"/>
            </a:solidFill>
            <a:prstDash val="solid"/>
          </a:ln>
        </p:spPr>
      </p:sp>
      <p:sp>
        <p:nvSpPr>
          <p:cNvPr id="27" name="Text 25"/>
          <p:cNvSpPr/>
          <p:nvPr/>
        </p:nvSpPr>
        <p:spPr>
          <a:xfrm>
            <a:off x="978408" y="3538728"/>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23</a:t>
            </a:r>
            <a:endParaRPr lang="en-US" sz="1000" dirty="0"/>
          </a:p>
        </p:txBody>
      </p:sp>
      <p:sp>
        <p:nvSpPr>
          <p:cNvPr id="28" name="Shape 26"/>
          <p:cNvSpPr/>
          <p:nvPr/>
        </p:nvSpPr>
        <p:spPr>
          <a:xfrm>
            <a:off x="1783080" y="3383280"/>
            <a:ext cx="740664" cy="512064"/>
          </a:xfrm>
          <a:prstGeom prst="roundRect">
            <a:avLst>
              <a:gd name="adj" fmla="val 3571"/>
            </a:avLst>
          </a:prstGeom>
          <a:solidFill>
            <a:srgbClr val="28484C"/>
          </a:solidFill>
          <a:ln w="12700">
            <a:solidFill>
              <a:srgbClr val="28484C"/>
            </a:solidFill>
            <a:prstDash val="solid"/>
          </a:ln>
        </p:spPr>
      </p:sp>
      <p:sp>
        <p:nvSpPr>
          <p:cNvPr id="29" name="Text 27"/>
          <p:cNvSpPr/>
          <p:nvPr/>
        </p:nvSpPr>
        <p:spPr>
          <a:xfrm>
            <a:off x="1783080" y="3538728"/>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38</a:t>
            </a:r>
            <a:endParaRPr lang="en-US" sz="1000" dirty="0"/>
          </a:p>
        </p:txBody>
      </p:sp>
      <p:sp>
        <p:nvSpPr>
          <p:cNvPr id="30" name="Shape 28"/>
          <p:cNvSpPr/>
          <p:nvPr/>
        </p:nvSpPr>
        <p:spPr>
          <a:xfrm>
            <a:off x="2587752" y="3383280"/>
            <a:ext cx="740664" cy="512064"/>
          </a:xfrm>
          <a:prstGeom prst="roundRect">
            <a:avLst>
              <a:gd name="adj" fmla="val 3571"/>
            </a:avLst>
          </a:prstGeom>
          <a:solidFill>
            <a:srgbClr val="367C78"/>
          </a:solidFill>
          <a:ln w="12700">
            <a:solidFill>
              <a:srgbClr val="367C78"/>
            </a:solidFill>
            <a:prstDash val="solid"/>
          </a:ln>
        </p:spPr>
      </p:sp>
      <p:sp>
        <p:nvSpPr>
          <p:cNvPr id="31" name="Text 29"/>
          <p:cNvSpPr/>
          <p:nvPr/>
        </p:nvSpPr>
        <p:spPr>
          <a:xfrm>
            <a:off x="2587752" y="3538728"/>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090D12"/>
                </a:solidFill>
                <a:latin typeface="Inter" pitchFamily="34" charset="0"/>
                <a:ea typeface="Inter" pitchFamily="34" charset="-122"/>
                <a:cs typeface="Inter" pitchFamily="34" charset="-120"/>
              </a:rPr>
              <a:t>56</a:t>
            </a:r>
            <a:endParaRPr lang="en-US" sz="1000" dirty="0"/>
          </a:p>
        </p:txBody>
      </p:sp>
      <p:sp>
        <p:nvSpPr>
          <p:cNvPr id="32" name="Shape 30"/>
          <p:cNvSpPr/>
          <p:nvPr/>
        </p:nvSpPr>
        <p:spPr>
          <a:xfrm>
            <a:off x="3392424" y="3383280"/>
            <a:ext cx="740664" cy="512064"/>
          </a:xfrm>
          <a:prstGeom prst="roundRect">
            <a:avLst>
              <a:gd name="adj" fmla="val 3571"/>
            </a:avLst>
          </a:prstGeom>
          <a:solidFill>
            <a:srgbClr val="367C78"/>
          </a:solidFill>
          <a:ln w="12700">
            <a:solidFill>
              <a:srgbClr val="367C78"/>
            </a:solidFill>
            <a:prstDash val="solid"/>
          </a:ln>
        </p:spPr>
      </p:sp>
      <p:sp>
        <p:nvSpPr>
          <p:cNvPr id="33" name="Text 31"/>
          <p:cNvSpPr/>
          <p:nvPr/>
        </p:nvSpPr>
        <p:spPr>
          <a:xfrm>
            <a:off x="3392424" y="3538728"/>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090D12"/>
                </a:solidFill>
                <a:latin typeface="Inter" pitchFamily="34" charset="0"/>
                <a:ea typeface="Inter" pitchFamily="34" charset="-122"/>
                <a:cs typeface="Inter" pitchFamily="34" charset="-120"/>
              </a:rPr>
              <a:t>59</a:t>
            </a:r>
            <a:endParaRPr lang="en-US" sz="1000" dirty="0"/>
          </a:p>
        </p:txBody>
      </p:sp>
      <p:sp>
        <p:nvSpPr>
          <p:cNvPr id="34" name="Shape 32"/>
          <p:cNvSpPr/>
          <p:nvPr/>
        </p:nvSpPr>
        <p:spPr>
          <a:xfrm>
            <a:off x="4197096" y="3383280"/>
            <a:ext cx="740664" cy="512064"/>
          </a:xfrm>
          <a:prstGeom prst="roundRect">
            <a:avLst>
              <a:gd name="adj" fmla="val 3571"/>
            </a:avLst>
          </a:prstGeom>
          <a:solidFill>
            <a:srgbClr val="367C78"/>
          </a:solidFill>
          <a:ln w="12700">
            <a:solidFill>
              <a:srgbClr val="367C78"/>
            </a:solidFill>
            <a:prstDash val="solid"/>
          </a:ln>
        </p:spPr>
      </p:sp>
      <p:sp>
        <p:nvSpPr>
          <p:cNvPr id="35" name="Text 33"/>
          <p:cNvSpPr/>
          <p:nvPr/>
        </p:nvSpPr>
        <p:spPr>
          <a:xfrm>
            <a:off x="4197096" y="3538728"/>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44</a:t>
            </a:r>
            <a:endParaRPr lang="en-US" sz="1000" dirty="0"/>
          </a:p>
        </p:txBody>
      </p:sp>
      <p:sp>
        <p:nvSpPr>
          <p:cNvPr id="36" name="Shape 34"/>
          <p:cNvSpPr/>
          <p:nvPr/>
        </p:nvSpPr>
        <p:spPr>
          <a:xfrm>
            <a:off x="5001768" y="3383280"/>
            <a:ext cx="740664" cy="512064"/>
          </a:xfrm>
          <a:prstGeom prst="roundRect">
            <a:avLst>
              <a:gd name="adj" fmla="val 3571"/>
            </a:avLst>
          </a:prstGeom>
          <a:solidFill>
            <a:srgbClr val="28484C"/>
          </a:solidFill>
          <a:ln w="12700">
            <a:solidFill>
              <a:srgbClr val="28484C"/>
            </a:solidFill>
            <a:prstDash val="solid"/>
          </a:ln>
        </p:spPr>
      </p:sp>
      <p:sp>
        <p:nvSpPr>
          <p:cNvPr id="37" name="Text 35"/>
          <p:cNvSpPr/>
          <p:nvPr/>
        </p:nvSpPr>
        <p:spPr>
          <a:xfrm>
            <a:off x="5001768" y="3538728"/>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30</a:t>
            </a:r>
            <a:endParaRPr lang="en-US" sz="1000" dirty="0"/>
          </a:p>
        </p:txBody>
      </p:sp>
      <p:sp>
        <p:nvSpPr>
          <p:cNvPr id="38" name="Shape 36"/>
          <p:cNvSpPr/>
          <p:nvPr/>
        </p:nvSpPr>
        <p:spPr>
          <a:xfrm>
            <a:off x="5806440" y="3383280"/>
            <a:ext cx="740664" cy="512064"/>
          </a:xfrm>
          <a:prstGeom prst="roundRect">
            <a:avLst>
              <a:gd name="adj" fmla="val 3571"/>
            </a:avLst>
          </a:prstGeom>
          <a:solidFill>
            <a:srgbClr val="22313D"/>
          </a:solidFill>
          <a:ln w="12700">
            <a:solidFill>
              <a:srgbClr val="22313D"/>
            </a:solidFill>
            <a:prstDash val="solid"/>
          </a:ln>
        </p:spPr>
      </p:sp>
      <p:sp>
        <p:nvSpPr>
          <p:cNvPr id="39" name="Text 37"/>
          <p:cNvSpPr/>
          <p:nvPr/>
        </p:nvSpPr>
        <p:spPr>
          <a:xfrm>
            <a:off x="5806440" y="3538728"/>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22</a:t>
            </a:r>
            <a:endParaRPr lang="en-US" sz="1000" dirty="0"/>
          </a:p>
        </p:txBody>
      </p:sp>
      <p:sp>
        <p:nvSpPr>
          <p:cNvPr id="40" name="Shape 38"/>
          <p:cNvSpPr/>
          <p:nvPr/>
        </p:nvSpPr>
        <p:spPr>
          <a:xfrm>
            <a:off x="978408" y="3959352"/>
            <a:ext cx="740664" cy="512064"/>
          </a:xfrm>
          <a:prstGeom prst="roundRect">
            <a:avLst>
              <a:gd name="adj" fmla="val 3571"/>
            </a:avLst>
          </a:prstGeom>
          <a:solidFill>
            <a:srgbClr val="28484C"/>
          </a:solidFill>
          <a:ln w="12700">
            <a:solidFill>
              <a:srgbClr val="28484C"/>
            </a:solidFill>
            <a:prstDash val="solid"/>
          </a:ln>
        </p:spPr>
      </p:sp>
      <p:sp>
        <p:nvSpPr>
          <p:cNvPr id="41" name="Text 39"/>
          <p:cNvSpPr/>
          <p:nvPr/>
        </p:nvSpPr>
        <p:spPr>
          <a:xfrm>
            <a:off x="978408" y="4114800"/>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31</a:t>
            </a:r>
            <a:endParaRPr lang="en-US" sz="1000" dirty="0"/>
          </a:p>
        </p:txBody>
      </p:sp>
      <p:sp>
        <p:nvSpPr>
          <p:cNvPr id="42" name="Shape 40"/>
          <p:cNvSpPr/>
          <p:nvPr/>
        </p:nvSpPr>
        <p:spPr>
          <a:xfrm>
            <a:off x="1783080" y="3959352"/>
            <a:ext cx="740664" cy="512064"/>
          </a:xfrm>
          <a:prstGeom prst="roundRect">
            <a:avLst>
              <a:gd name="adj" fmla="val 3571"/>
            </a:avLst>
          </a:prstGeom>
          <a:solidFill>
            <a:srgbClr val="367C78"/>
          </a:solidFill>
          <a:ln w="12700">
            <a:solidFill>
              <a:srgbClr val="367C78"/>
            </a:solidFill>
            <a:prstDash val="solid"/>
          </a:ln>
        </p:spPr>
      </p:sp>
      <p:sp>
        <p:nvSpPr>
          <p:cNvPr id="43" name="Text 41"/>
          <p:cNvSpPr/>
          <p:nvPr/>
        </p:nvSpPr>
        <p:spPr>
          <a:xfrm>
            <a:off x="1783080" y="4114800"/>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51</a:t>
            </a:r>
            <a:endParaRPr lang="en-US" sz="1000" dirty="0"/>
          </a:p>
        </p:txBody>
      </p:sp>
      <p:sp>
        <p:nvSpPr>
          <p:cNvPr id="44" name="Shape 42"/>
          <p:cNvSpPr/>
          <p:nvPr/>
        </p:nvSpPr>
        <p:spPr>
          <a:xfrm>
            <a:off x="2587752" y="3959352"/>
            <a:ext cx="740664" cy="512064"/>
          </a:xfrm>
          <a:prstGeom prst="roundRect">
            <a:avLst>
              <a:gd name="adj" fmla="val 3571"/>
            </a:avLst>
          </a:prstGeom>
          <a:solidFill>
            <a:srgbClr val="69DDCF"/>
          </a:solidFill>
          <a:ln w="12700">
            <a:solidFill>
              <a:srgbClr val="69DDCF"/>
            </a:solidFill>
            <a:prstDash val="solid"/>
          </a:ln>
        </p:spPr>
      </p:sp>
      <p:sp>
        <p:nvSpPr>
          <p:cNvPr id="45" name="Text 43"/>
          <p:cNvSpPr/>
          <p:nvPr/>
        </p:nvSpPr>
        <p:spPr>
          <a:xfrm>
            <a:off x="2587752" y="4114800"/>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090D12"/>
                </a:solidFill>
                <a:latin typeface="Inter" pitchFamily="34" charset="0"/>
                <a:ea typeface="Inter" pitchFamily="34" charset="-122"/>
                <a:cs typeface="Inter" pitchFamily="34" charset="-120"/>
              </a:rPr>
              <a:t>68</a:t>
            </a:r>
            <a:endParaRPr lang="en-US" sz="1000" dirty="0"/>
          </a:p>
        </p:txBody>
      </p:sp>
      <p:sp>
        <p:nvSpPr>
          <p:cNvPr id="46" name="Shape 44"/>
          <p:cNvSpPr/>
          <p:nvPr/>
        </p:nvSpPr>
        <p:spPr>
          <a:xfrm>
            <a:off x="3392424" y="3959352"/>
            <a:ext cx="740664" cy="512064"/>
          </a:xfrm>
          <a:prstGeom prst="roundRect">
            <a:avLst>
              <a:gd name="adj" fmla="val 3571"/>
            </a:avLst>
          </a:prstGeom>
          <a:solidFill>
            <a:srgbClr val="69DDCF"/>
          </a:solidFill>
          <a:ln w="12700">
            <a:solidFill>
              <a:srgbClr val="69DDCF"/>
            </a:solidFill>
            <a:prstDash val="solid"/>
          </a:ln>
        </p:spPr>
      </p:sp>
      <p:sp>
        <p:nvSpPr>
          <p:cNvPr id="47" name="Text 45"/>
          <p:cNvSpPr/>
          <p:nvPr/>
        </p:nvSpPr>
        <p:spPr>
          <a:xfrm>
            <a:off x="3392424" y="4114800"/>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090D12"/>
                </a:solidFill>
                <a:latin typeface="Inter" pitchFamily="34" charset="0"/>
                <a:ea typeface="Inter" pitchFamily="34" charset="-122"/>
                <a:cs typeface="Inter" pitchFamily="34" charset="-120"/>
              </a:rPr>
              <a:t>72</a:t>
            </a:r>
            <a:endParaRPr lang="en-US" sz="1000" dirty="0"/>
          </a:p>
        </p:txBody>
      </p:sp>
      <p:sp>
        <p:nvSpPr>
          <p:cNvPr id="48" name="Shape 46"/>
          <p:cNvSpPr/>
          <p:nvPr/>
        </p:nvSpPr>
        <p:spPr>
          <a:xfrm>
            <a:off x="4197096" y="3959352"/>
            <a:ext cx="740664" cy="512064"/>
          </a:xfrm>
          <a:prstGeom prst="roundRect">
            <a:avLst>
              <a:gd name="adj" fmla="val 3571"/>
            </a:avLst>
          </a:prstGeom>
          <a:solidFill>
            <a:srgbClr val="367C78"/>
          </a:solidFill>
          <a:ln w="12700">
            <a:solidFill>
              <a:srgbClr val="367C78"/>
            </a:solidFill>
            <a:prstDash val="solid"/>
          </a:ln>
        </p:spPr>
      </p:sp>
      <p:sp>
        <p:nvSpPr>
          <p:cNvPr id="49" name="Text 47"/>
          <p:cNvSpPr/>
          <p:nvPr/>
        </p:nvSpPr>
        <p:spPr>
          <a:xfrm>
            <a:off x="4197096" y="4114800"/>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090D12"/>
                </a:solidFill>
                <a:latin typeface="Inter" pitchFamily="34" charset="0"/>
                <a:ea typeface="Inter" pitchFamily="34" charset="-122"/>
                <a:cs typeface="Inter" pitchFamily="34" charset="-120"/>
              </a:rPr>
              <a:t>61</a:t>
            </a:r>
            <a:endParaRPr lang="en-US" sz="1000" dirty="0"/>
          </a:p>
        </p:txBody>
      </p:sp>
      <p:sp>
        <p:nvSpPr>
          <p:cNvPr id="50" name="Shape 48"/>
          <p:cNvSpPr/>
          <p:nvPr/>
        </p:nvSpPr>
        <p:spPr>
          <a:xfrm>
            <a:off x="5001768" y="3959352"/>
            <a:ext cx="740664" cy="512064"/>
          </a:xfrm>
          <a:prstGeom prst="roundRect">
            <a:avLst>
              <a:gd name="adj" fmla="val 3571"/>
            </a:avLst>
          </a:prstGeom>
          <a:solidFill>
            <a:srgbClr val="28484C"/>
          </a:solidFill>
          <a:ln w="12700">
            <a:solidFill>
              <a:srgbClr val="28484C"/>
            </a:solidFill>
            <a:prstDash val="solid"/>
          </a:ln>
        </p:spPr>
      </p:sp>
      <p:sp>
        <p:nvSpPr>
          <p:cNvPr id="51" name="Text 49"/>
          <p:cNvSpPr/>
          <p:nvPr/>
        </p:nvSpPr>
        <p:spPr>
          <a:xfrm>
            <a:off x="5001768" y="4114800"/>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42</a:t>
            </a:r>
            <a:endParaRPr lang="en-US" sz="1000" dirty="0"/>
          </a:p>
        </p:txBody>
      </p:sp>
      <p:sp>
        <p:nvSpPr>
          <p:cNvPr id="52" name="Shape 50"/>
          <p:cNvSpPr/>
          <p:nvPr/>
        </p:nvSpPr>
        <p:spPr>
          <a:xfrm>
            <a:off x="5806440" y="3959352"/>
            <a:ext cx="740664" cy="512064"/>
          </a:xfrm>
          <a:prstGeom prst="roundRect">
            <a:avLst>
              <a:gd name="adj" fmla="val 3571"/>
            </a:avLst>
          </a:prstGeom>
          <a:solidFill>
            <a:srgbClr val="22313D"/>
          </a:solidFill>
          <a:ln w="12700">
            <a:solidFill>
              <a:srgbClr val="22313D"/>
            </a:solidFill>
            <a:prstDash val="solid"/>
          </a:ln>
        </p:spPr>
      </p:sp>
      <p:sp>
        <p:nvSpPr>
          <p:cNvPr id="53" name="Text 51"/>
          <p:cNvSpPr/>
          <p:nvPr/>
        </p:nvSpPr>
        <p:spPr>
          <a:xfrm>
            <a:off x="5806440" y="4114800"/>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27</a:t>
            </a:r>
            <a:endParaRPr lang="en-US" sz="1000" dirty="0"/>
          </a:p>
        </p:txBody>
      </p:sp>
      <p:sp>
        <p:nvSpPr>
          <p:cNvPr id="54" name="Shape 52"/>
          <p:cNvSpPr/>
          <p:nvPr/>
        </p:nvSpPr>
        <p:spPr>
          <a:xfrm>
            <a:off x="978408" y="4535424"/>
            <a:ext cx="740664" cy="512064"/>
          </a:xfrm>
          <a:prstGeom prst="roundRect">
            <a:avLst>
              <a:gd name="adj" fmla="val 3571"/>
            </a:avLst>
          </a:prstGeom>
          <a:solidFill>
            <a:srgbClr val="22313D"/>
          </a:solidFill>
          <a:ln w="12700">
            <a:solidFill>
              <a:srgbClr val="22313D"/>
            </a:solidFill>
            <a:prstDash val="solid"/>
          </a:ln>
        </p:spPr>
      </p:sp>
      <p:sp>
        <p:nvSpPr>
          <p:cNvPr id="55" name="Text 53"/>
          <p:cNvSpPr/>
          <p:nvPr/>
        </p:nvSpPr>
        <p:spPr>
          <a:xfrm>
            <a:off x="978408" y="4690872"/>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27</a:t>
            </a:r>
            <a:endParaRPr lang="en-US" sz="1000" dirty="0"/>
          </a:p>
        </p:txBody>
      </p:sp>
      <p:sp>
        <p:nvSpPr>
          <p:cNvPr id="56" name="Shape 54"/>
          <p:cNvSpPr/>
          <p:nvPr/>
        </p:nvSpPr>
        <p:spPr>
          <a:xfrm>
            <a:off x="1783080" y="4535424"/>
            <a:ext cx="740664" cy="512064"/>
          </a:xfrm>
          <a:prstGeom prst="roundRect">
            <a:avLst>
              <a:gd name="adj" fmla="val 3571"/>
            </a:avLst>
          </a:prstGeom>
          <a:solidFill>
            <a:srgbClr val="367C78"/>
          </a:solidFill>
          <a:ln w="12700">
            <a:solidFill>
              <a:srgbClr val="367C78"/>
            </a:solidFill>
            <a:prstDash val="solid"/>
          </a:ln>
        </p:spPr>
      </p:sp>
      <p:sp>
        <p:nvSpPr>
          <p:cNvPr id="57" name="Text 55"/>
          <p:cNvSpPr/>
          <p:nvPr/>
        </p:nvSpPr>
        <p:spPr>
          <a:xfrm>
            <a:off x="1783080" y="4690872"/>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49</a:t>
            </a:r>
            <a:endParaRPr lang="en-US" sz="1000" dirty="0"/>
          </a:p>
        </p:txBody>
      </p:sp>
      <p:sp>
        <p:nvSpPr>
          <p:cNvPr id="58" name="Shape 56"/>
          <p:cNvSpPr/>
          <p:nvPr/>
        </p:nvSpPr>
        <p:spPr>
          <a:xfrm>
            <a:off x="2587752" y="4535424"/>
            <a:ext cx="740664" cy="512064"/>
          </a:xfrm>
          <a:prstGeom prst="roundRect">
            <a:avLst>
              <a:gd name="adj" fmla="val 3571"/>
            </a:avLst>
          </a:prstGeom>
          <a:solidFill>
            <a:srgbClr val="69DDCF"/>
          </a:solidFill>
          <a:ln w="12700">
            <a:solidFill>
              <a:srgbClr val="69DDCF"/>
            </a:solidFill>
            <a:prstDash val="solid"/>
          </a:ln>
        </p:spPr>
      </p:sp>
      <p:sp>
        <p:nvSpPr>
          <p:cNvPr id="59" name="Text 57"/>
          <p:cNvSpPr/>
          <p:nvPr/>
        </p:nvSpPr>
        <p:spPr>
          <a:xfrm>
            <a:off x="2587752" y="4690872"/>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090D12"/>
                </a:solidFill>
                <a:latin typeface="Inter" pitchFamily="34" charset="0"/>
                <a:ea typeface="Inter" pitchFamily="34" charset="-122"/>
                <a:cs typeface="Inter" pitchFamily="34" charset="-120"/>
              </a:rPr>
              <a:t>67</a:t>
            </a:r>
            <a:endParaRPr lang="en-US" sz="1000" dirty="0"/>
          </a:p>
        </p:txBody>
      </p:sp>
      <p:sp>
        <p:nvSpPr>
          <p:cNvPr id="60" name="Shape 58"/>
          <p:cNvSpPr/>
          <p:nvPr/>
        </p:nvSpPr>
        <p:spPr>
          <a:xfrm>
            <a:off x="3392424" y="4535424"/>
            <a:ext cx="740664" cy="512064"/>
          </a:xfrm>
          <a:prstGeom prst="roundRect">
            <a:avLst>
              <a:gd name="adj" fmla="val 3571"/>
            </a:avLst>
          </a:prstGeom>
          <a:solidFill>
            <a:srgbClr val="69DDCF"/>
          </a:solidFill>
          <a:ln w="12700">
            <a:solidFill>
              <a:srgbClr val="69DDCF"/>
            </a:solidFill>
            <a:prstDash val="solid"/>
          </a:ln>
        </p:spPr>
      </p:sp>
      <p:sp>
        <p:nvSpPr>
          <p:cNvPr id="61" name="Text 59"/>
          <p:cNvSpPr/>
          <p:nvPr/>
        </p:nvSpPr>
        <p:spPr>
          <a:xfrm>
            <a:off x="3392424" y="4690872"/>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090D12"/>
                </a:solidFill>
                <a:latin typeface="Inter" pitchFamily="34" charset="0"/>
                <a:ea typeface="Inter" pitchFamily="34" charset="-122"/>
                <a:cs typeface="Inter" pitchFamily="34" charset="-120"/>
              </a:rPr>
              <a:t>73</a:t>
            </a:r>
            <a:endParaRPr lang="en-US" sz="1000" dirty="0"/>
          </a:p>
        </p:txBody>
      </p:sp>
      <p:sp>
        <p:nvSpPr>
          <p:cNvPr id="62" name="Shape 60"/>
          <p:cNvSpPr/>
          <p:nvPr/>
        </p:nvSpPr>
        <p:spPr>
          <a:xfrm>
            <a:off x="4197096" y="4535424"/>
            <a:ext cx="740664" cy="512064"/>
          </a:xfrm>
          <a:prstGeom prst="roundRect">
            <a:avLst>
              <a:gd name="adj" fmla="val 3571"/>
            </a:avLst>
          </a:prstGeom>
          <a:solidFill>
            <a:srgbClr val="69DDCF"/>
          </a:solidFill>
          <a:ln w="12700">
            <a:solidFill>
              <a:srgbClr val="69DDCF"/>
            </a:solidFill>
            <a:prstDash val="solid"/>
          </a:ln>
        </p:spPr>
      </p:sp>
      <p:sp>
        <p:nvSpPr>
          <p:cNvPr id="63" name="Text 61"/>
          <p:cNvSpPr/>
          <p:nvPr/>
        </p:nvSpPr>
        <p:spPr>
          <a:xfrm>
            <a:off x="4197096" y="4690872"/>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090D12"/>
                </a:solidFill>
                <a:latin typeface="Inter" pitchFamily="34" charset="0"/>
                <a:ea typeface="Inter" pitchFamily="34" charset="-122"/>
                <a:cs typeface="Inter" pitchFamily="34" charset="-120"/>
              </a:rPr>
              <a:t>65</a:t>
            </a:r>
            <a:endParaRPr lang="en-US" sz="1000" dirty="0"/>
          </a:p>
        </p:txBody>
      </p:sp>
      <p:sp>
        <p:nvSpPr>
          <p:cNvPr id="64" name="Shape 62"/>
          <p:cNvSpPr/>
          <p:nvPr/>
        </p:nvSpPr>
        <p:spPr>
          <a:xfrm>
            <a:off x="5001768" y="4535424"/>
            <a:ext cx="740664" cy="512064"/>
          </a:xfrm>
          <a:prstGeom prst="roundRect">
            <a:avLst>
              <a:gd name="adj" fmla="val 3571"/>
            </a:avLst>
          </a:prstGeom>
          <a:solidFill>
            <a:srgbClr val="28484C"/>
          </a:solidFill>
          <a:ln w="12700">
            <a:solidFill>
              <a:srgbClr val="28484C"/>
            </a:solidFill>
            <a:prstDash val="solid"/>
          </a:ln>
        </p:spPr>
      </p:sp>
      <p:sp>
        <p:nvSpPr>
          <p:cNvPr id="65" name="Text 63"/>
          <p:cNvSpPr/>
          <p:nvPr/>
        </p:nvSpPr>
        <p:spPr>
          <a:xfrm>
            <a:off x="5001768" y="4690872"/>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40</a:t>
            </a:r>
            <a:endParaRPr lang="en-US" sz="1000" dirty="0"/>
          </a:p>
        </p:txBody>
      </p:sp>
      <p:sp>
        <p:nvSpPr>
          <p:cNvPr id="66" name="Shape 64"/>
          <p:cNvSpPr/>
          <p:nvPr/>
        </p:nvSpPr>
        <p:spPr>
          <a:xfrm>
            <a:off x="5806440" y="4535424"/>
            <a:ext cx="740664" cy="512064"/>
          </a:xfrm>
          <a:prstGeom prst="roundRect">
            <a:avLst>
              <a:gd name="adj" fmla="val 3571"/>
            </a:avLst>
          </a:prstGeom>
          <a:solidFill>
            <a:srgbClr val="22313D"/>
          </a:solidFill>
          <a:ln w="12700">
            <a:solidFill>
              <a:srgbClr val="22313D"/>
            </a:solidFill>
            <a:prstDash val="solid"/>
          </a:ln>
        </p:spPr>
      </p:sp>
      <p:sp>
        <p:nvSpPr>
          <p:cNvPr id="67" name="Text 65"/>
          <p:cNvSpPr/>
          <p:nvPr/>
        </p:nvSpPr>
        <p:spPr>
          <a:xfrm>
            <a:off x="5806440" y="4690872"/>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25</a:t>
            </a:r>
            <a:endParaRPr lang="en-US" sz="1000" dirty="0"/>
          </a:p>
        </p:txBody>
      </p:sp>
      <p:sp>
        <p:nvSpPr>
          <p:cNvPr id="68" name="Shape 66"/>
          <p:cNvSpPr/>
          <p:nvPr/>
        </p:nvSpPr>
        <p:spPr>
          <a:xfrm>
            <a:off x="978408" y="5111496"/>
            <a:ext cx="740664" cy="512064"/>
          </a:xfrm>
          <a:prstGeom prst="roundRect">
            <a:avLst>
              <a:gd name="adj" fmla="val 3571"/>
            </a:avLst>
          </a:prstGeom>
          <a:solidFill>
            <a:srgbClr val="22313D"/>
          </a:solidFill>
          <a:ln w="12700">
            <a:solidFill>
              <a:srgbClr val="22313D"/>
            </a:solidFill>
            <a:prstDash val="solid"/>
          </a:ln>
        </p:spPr>
      </p:sp>
      <p:sp>
        <p:nvSpPr>
          <p:cNvPr id="69" name="Text 67"/>
          <p:cNvSpPr/>
          <p:nvPr/>
        </p:nvSpPr>
        <p:spPr>
          <a:xfrm>
            <a:off x="978408" y="5266944"/>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20</a:t>
            </a:r>
            <a:endParaRPr lang="en-US" sz="1000" dirty="0"/>
          </a:p>
        </p:txBody>
      </p:sp>
      <p:sp>
        <p:nvSpPr>
          <p:cNvPr id="70" name="Shape 68"/>
          <p:cNvSpPr/>
          <p:nvPr/>
        </p:nvSpPr>
        <p:spPr>
          <a:xfrm>
            <a:off x="1783080" y="5111496"/>
            <a:ext cx="740664" cy="512064"/>
          </a:xfrm>
          <a:prstGeom prst="roundRect">
            <a:avLst>
              <a:gd name="adj" fmla="val 3571"/>
            </a:avLst>
          </a:prstGeom>
          <a:solidFill>
            <a:srgbClr val="28484C"/>
          </a:solidFill>
          <a:ln w="12700">
            <a:solidFill>
              <a:srgbClr val="28484C"/>
            </a:solidFill>
            <a:prstDash val="solid"/>
          </a:ln>
        </p:spPr>
      </p:sp>
      <p:sp>
        <p:nvSpPr>
          <p:cNvPr id="71" name="Text 69"/>
          <p:cNvSpPr/>
          <p:nvPr/>
        </p:nvSpPr>
        <p:spPr>
          <a:xfrm>
            <a:off x="1783080" y="5266944"/>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39</a:t>
            </a:r>
            <a:endParaRPr lang="en-US" sz="1000" dirty="0"/>
          </a:p>
        </p:txBody>
      </p:sp>
      <p:sp>
        <p:nvSpPr>
          <p:cNvPr id="72" name="Shape 70"/>
          <p:cNvSpPr/>
          <p:nvPr/>
        </p:nvSpPr>
        <p:spPr>
          <a:xfrm>
            <a:off x="2587752" y="5111496"/>
            <a:ext cx="740664" cy="512064"/>
          </a:xfrm>
          <a:prstGeom prst="roundRect">
            <a:avLst>
              <a:gd name="adj" fmla="val 3571"/>
            </a:avLst>
          </a:prstGeom>
          <a:solidFill>
            <a:srgbClr val="367C78"/>
          </a:solidFill>
          <a:ln w="12700">
            <a:solidFill>
              <a:srgbClr val="367C78"/>
            </a:solidFill>
            <a:prstDash val="solid"/>
          </a:ln>
        </p:spPr>
      </p:sp>
      <p:sp>
        <p:nvSpPr>
          <p:cNvPr id="73" name="Text 71"/>
          <p:cNvSpPr/>
          <p:nvPr/>
        </p:nvSpPr>
        <p:spPr>
          <a:xfrm>
            <a:off x="2587752" y="5266944"/>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090D12"/>
                </a:solidFill>
                <a:latin typeface="Inter" pitchFamily="34" charset="0"/>
                <a:ea typeface="Inter" pitchFamily="34" charset="-122"/>
                <a:cs typeface="Inter" pitchFamily="34" charset="-120"/>
              </a:rPr>
              <a:t>58</a:t>
            </a:r>
            <a:endParaRPr lang="en-US" sz="1000" dirty="0"/>
          </a:p>
        </p:txBody>
      </p:sp>
      <p:sp>
        <p:nvSpPr>
          <p:cNvPr id="74" name="Shape 72"/>
          <p:cNvSpPr/>
          <p:nvPr/>
        </p:nvSpPr>
        <p:spPr>
          <a:xfrm>
            <a:off x="3392424" y="5111496"/>
            <a:ext cx="740664" cy="512064"/>
          </a:xfrm>
          <a:prstGeom prst="roundRect">
            <a:avLst>
              <a:gd name="adj" fmla="val 3571"/>
            </a:avLst>
          </a:prstGeom>
          <a:solidFill>
            <a:srgbClr val="367C78"/>
          </a:solidFill>
          <a:ln w="12700">
            <a:solidFill>
              <a:srgbClr val="367C78"/>
            </a:solidFill>
            <a:prstDash val="solid"/>
          </a:ln>
        </p:spPr>
      </p:sp>
      <p:sp>
        <p:nvSpPr>
          <p:cNvPr id="75" name="Text 73"/>
          <p:cNvSpPr/>
          <p:nvPr/>
        </p:nvSpPr>
        <p:spPr>
          <a:xfrm>
            <a:off x="3392424" y="5266944"/>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090D12"/>
                </a:solidFill>
                <a:latin typeface="Inter" pitchFamily="34" charset="0"/>
                <a:ea typeface="Inter" pitchFamily="34" charset="-122"/>
                <a:cs typeface="Inter" pitchFamily="34" charset="-120"/>
              </a:rPr>
              <a:t>62</a:t>
            </a:r>
            <a:endParaRPr lang="en-US" sz="1000" dirty="0"/>
          </a:p>
        </p:txBody>
      </p:sp>
      <p:sp>
        <p:nvSpPr>
          <p:cNvPr id="76" name="Shape 74"/>
          <p:cNvSpPr/>
          <p:nvPr/>
        </p:nvSpPr>
        <p:spPr>
          <a:xfrm>
            <a:off x="4197096" y="5111496"/>
            <a:ext cx="740664" cy="512064"/>
          </a:xfrm>
          <a:prstGeom prst="roundRect">
            <a:avLst>
              <a:gd name="adj" fmla="val 3571"/>
            </a:avLst>
          </a:prstGeom>
          <a:solidFill>
            <a:srgbClr val="367C78"/>
          </a:solidFill>
          <a:ln w="12700">
            <a:solidFill>
              <a:srgbClr val="367C78"/>
            </a:solidFill>
            <a:prstDash val="solid"/>
          </a:ln>
        </p:spPr>
      </p:sp>
      <p:sp>
        <p:nvSpPr>
          <p:cNvPr id="77" name="Text 75"/>
          <p:cNvSpPr/>
          <p:nvPr/>
        </p:nvSpPr>
        <p:spPr>
          <a:xfrm>
            <a:off x="4197096" y="5266944"/>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48</a:t>
            </a:r>
            <a:endParaRPr lang="en-US" sz="1000" dirty="0"/>
          </a:p>
        </p:txBody>
      </p:sp>
      <p:sp>
        <p:nvSpPr>
          <p:cNvPr id="78" name="Shape 76"/>
          <p:cNvSpPr/>
          <p:nvPr/>
        </p:nvSpPr>
        <p:spPr>
          <a:xfrm>
            <a:off x="5001768" y="5111496"/>
            <a:ext cx="740664" cy="512064"/>
          </a:xfrm>
          <a:prstGeom prst="roundRect">
            <a:avLst>
              <a:gd name="adj" fmla="val 3571"/>
            </a:avLst>
          </a:prstGeom>
          <a:solidFill>
            <a:srgbClr val="28484C"/>
          </a:solidFill>
          <a:ln w="12700">
            <a:solidFill>
              <a:srgbClr val="28484C"/>
            </a:solidFill>
            <a:prstDash val="solid"/>
          </a:ln>
        </p:spPr>
      </p:sp>
      <p:sp>
        <p:nvSpPr>
          <p:cNvPr id="79" name="Text 77"/>
          <p:cNvSpPr/>
          <p:nvPr/>
        </p:nvSpPr>
        <p:spPr>
          <a:xfrm>
            <a:off x="5001768" y="5266944"/>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29</a:t>
            </a:r>
            <a:endParaRPr lang="en-US" sz="1000" dirty="0"/>
          </a:p>
        </p:txBody>
      </p:sp>
      <p:sp>
        <p:nvSpPr>
          <p:cNvPr id="80" name="Shape 78"/>
          <p:cNvSpPr/>
          <p:nvPr/>
        </p:nvSpPr>
        <p:spPr>
          <a:xfrm>
            <a:off x="5806440" y="5111496"/>
            <a:ext cx="740664" cy="512064"/>
          </a:xfrm>
          <a:prstGeom prst="roundRect">
            <a:avLst>
              <a:gd name="adj" fmla="val 3571"/>
            </a:avLst>
          </a:prstGeom>
          <a:solidFill>
            <a:srgbClr val="22313D"/>
          </a:solidFill>
          <a:ln w="12700">
            <a:solidFill>
              <a:srgbClr val="22313D"/>
            </a:solidFill>
            <a:prstDash val="solid"/>
          </a:ln>
        </p:spPr>
      </p:sp>
      <p:sp>
        <p:nvSpPr>
          <p:cNvPr id="81" name="Text 79"/>
          <p:cNvSpPr/>
          <p:nvPr/>
        </p:nvSpPr>
        <p:spPr>
          <a:xfrm>
            <a:off x="5806440" y="5266944"/>
            <a:ext cx="731520" cy="164592"/>
          </a:xfrm>
          <a:prstGeom prst="rect">
            <a:avLst/>
          </a:prstGeom>
          <a:noFill/>
          <a:ln/>
        </p:spPr>
        <p:txBody>
          <a:bodyPr wrap="square" lIns="0" tIns="0" rIns="0" bIns="0" rtlCol="0" anchor="ctr">
            <a:normAutofit/>
          </a:bodyPr>
          <a:lstStyle/>
          <a:p>
            <a:pPr algn="ctr" indent="0" marL="0">
              <a:buNone/>
            </a:pPr>
            <a:r>
              <a:rPr lang="en-US" sz="1000" b="1" dirty="0">
                <a:solidFill>
                  <a:srgbClr val="94A6B3"/>
                </a:solidFill>
                <a:latin typeface="Inter" pitchFamily="34" charset="0"/>
                <a:ea typeface="Inter" pitchFamily="34" charset="-122"/>
                <a:cs typeface="Inter" pitchFamily="34" charset="-120"/>
              </a:rPr>
              <a:t>20</a:t>
            </a:r>
            <a:endParaRPr lang="en-US" sz="1000" dirty="0"/>
          </a:p>
        </p:txBody>
      </p:sp>
      <p:sp>
        <p:nvSpPr>
          <p:cNvPr id="82" name="Text 80"/>
          <p:cNvSpPr/>
          <p:nvPr/>
        </p:nvSpPr>
        <p:spPr>
          <a:xfrm>
            <a:off x="6839712" y="2770632"/>
            <a:ext cx="4169664" cy="210312"/>
          </a:xfrm>
          <a:prstGeom prst="rect">
            <a:avLst/>
          </a:prstGeom>
          <a:noFill/>
          <a:ln/>
        </p:spPr>
        <p:txBody>
          <a:bodyPr wrap="square" lIns="0" tIns="0" rIns="0" bIns="0" rtlCol="0" anchor="ctr">
            <a:normAutofit/>
          </a:bodyPr>
          <a:lstStyle/>
          <a:p>
            <a:pPr indent="0" marL="0">
              <a:buNone/>
            </a:pPr>
            <a:r>
              <a:rPr lang="en-US" sz="1300" b="1" dirty="0">
                <a:solidFill>
                  <a:srgbClr val="EDF5F7"/>
                </a:solidFill>
                <a:latin typeface="Inter" pitchFamily="34" charset="0"/>
                <a:ea typeface="Inter" pitchFamily="34" charset="-122"/>
                <a:cs typeface="Inter" pitchFamily="34" charset="-120"/>
              </a:rPr>
              <a:t>Parameter B / Stop width</a:t>
            </a:r>
            <a:endParaRPr lang="en-US" sz="1300" dirty="0"/>
          </a:p>
        </p:txBody>
      </p:sp>
      <p:sp>
        <p:nvSpPr>
          <p:cNvPr id="83" name="Shape 81"/>
          <p:cNvSpPr/>
          <p:nvPr/>
        </p:nvSpPr>
        <p:spPr>
          <a:xfrm>
            <a:off x="6894576" y="3387852"/>
            <a:ext cx="64008" cy="64008"/>
          </a:xfrm>
          <a:prstGeom prst="ellipse">
            <a:avLst/>
          </a:prstGeom>
          <a:solidFill>
            <a:srgbClr val="69DDCF"/>
          </a:solidFill>
          <a:ln w="12700">
            <a:solidFill>
              <a:srgbClr val="69DDCF">
                <a:alpha val="0"/>
              </a:srgbClr>
            </a:solidFill>
            <a:prstDash val="solid"/>
          </a:ln>
        </p:spPr>
      </p:sp>
      <p:sp>
        <p:nvSpPr>
          <p:cNvPr id="84" name="Text 82"/>
          <p:cNvSpPr/>
          <p:nvPr/>
        </p:nvSpPr>
        <p:spPr>
          <a:xfrm>
            <a:off x="7077456" y="3310128"/>
            <a:ext cx="4279392" cy="4114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Breite, zusammenhängende Bereiche bevorzugen</a:t>
            </a:r>
            <a:endParaRPr lang="en-US" sz="1200" dirty="0"/>
          </a:p>
        </p:txBody>
      </p:sp>
      <p:sp>
        <p:nvSpPr>
          <p:cNvPr id="85" name="Shape 83"/>
          <p:cNvSpPr/>
          <p:nvPr/>
        </p:nvSpPr>
        <p:spPr>
          <a:xfrm>
            <a:off x="6894576" y="3936492"/>
            <a:ext cx="64008" cy="64008"/>
          </a:xfrm>
          <a:prstGeom prst="ellipse">
            <a:avLst/>
          </a:prstGeom>
          <a:solidFill>
            <a:srgbClr val="69DDCF"/>
          </a:solidFill>
          <a:ln w="12700">
            <a:solidFill>
              <a:srgbClr val="69DDCF">
                <a:alpha val="0"/>
              </a:srgbClr>
            </a:solidFill>
            <a:prstDash val="solid"/>
          </a:ln>
        </p:spPr>
      </p:sp>
      <p:sp>
        <p:nvSpPr>
          <p:cNvPr id="86" name="Text 84"/>
          <p:cNvSpPr/>
          <p:nvPr/>
        </p:nvSpPr>
        <p:spPr>
          <a:xfrm>
            <a:off x="7077456" y="3858768"/>
            <a:ext cx="4279392" cy="4114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Kleine Änderungen dürfen nicht alles zerstören</a:t>
            </a:r>
            <a:endParaRPr lang="en-US" sz="1200" dirty="0"/>
          </a:p>
        </p:txBody>
      </p:sp>
      <p:sp>
        <p:nvSpPr>
          <p:cNvPr id="87" name="Shape 85"/>
          <p:cNvSpPr/>
          <p:nvPr/>
        </p:nvSpPr>
        <p:spPr>
          <a:xfrm>
            <a:off x="6894576" y="4485132"/>
            <a:ext cx="64008" cy="64008"/>
          </a:xfrm>
          <a:prstGeom prst="ellipse">
            <a:avLst/>
          </a:prstGeom>
          <a:solidFill>
            <a:srgbClr val="69DDCF"/>
          </a:solidFill>
          <a:ln w="12700">
            <a:solidFill>
              <a:srgbClr val="69DDCF">
                <a:alpha val="0"/>
              </a:srgbClr>
            </a:solidFill>
            <a:prstDash val="solid"/>
          </a:ln>
        </p:spPr>
      </p:sp>
      <p:sp>
        <p:nvSpPr>
          <p:cNvPr id="88" name="Text 86"/>
          <p:cNvSpPr/>
          <p:nvPr/>
        </p:nvSpPr>
        <p:spPr>
          <a:xfrm>
            <a:off x="7077456" y="4407408"/>
            <a:ext cx="4279392" cy="4114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Suche nach stabilen Nachbarschaften statt Peaks</a:t>
            </a:r>
            <a:endParaRPr lang="en-US" sz="1200" dirty="0"/>
          </a:p>
        </p:txBody>
      </p:sp>
      <p:sp>
        <p:nvSpPr>
          <p:cNvPr id="89" name="Shape 87"/>
          <p:cNvSpPr/>
          <p:nvPr/>
        </p:nvSpPr>
        <p:spPr>
          <a:xfrm>
            <a:off x="6848856" y="5102352"/>
            <a:ext cx="4297680" cy="557784"/>
          </a:xfrm>
          <a:prstGeom prst="roundRect">
            <a:avLst>
              <a:gd name="adj" fmla="val 22951"/>
            </a:avLst>
          </a:prstGeom>
          <a:solidFill>
            <a:srgbClr val="16212C"/>
          </a:solidFill>
          <a:ln w="8890">
            <a:solidFill>
              <a:srgbClr val="263442"/>
            </a:solidFill>
            <a:prstDash val="solid"/>
          </a:ln>
        </p:spPr>
      </p:sp>
      <p:sp>
        <p:nvSpPr>
          <p:cNvPr id="90" name="Text 88"/>
          <p:cNvSpPr/>
          <p:nvPr/>
        </p:nvSpPr>
        <p:spPr>
          <a:xfrm>
            <a:off x="7114032" y="5294376"/>
            <a:ext cx="3657600" cy="173736"/>
          </a:xfrm>
          <a:prstGeom prst="rect">
            <a:avLst/>
          </a:prstGeom>
          <a:noFill/>
          <a:ln/>
        </p:spPr>
        <p:txBody>
          <a:bodyPr wrap="square" lIns="0" tIns="0" rIns="0" bIns="0" rtlCol="0" anchor="ctr">
            <a:normAutofit/>
          </a:bodyPr>
          <a:lstStyle/>
          <a:p>
            <a:pPr indent="0" marL="0">
              <a:buNone/>
            </a:pPr>
            <a:r>
              <a:rPr lang="en-US" sz="1000" dirty="0">
                <a:solidFill>
                  <a:srgbClr val="F1C479"/>
                </a:solidFill>
                <a:latin typeface="Inter" pitchFamily="34" charset="0"/>
                <a:ea typeface="Inter" pitchFamily="34" charset="-122"/>
                <a:cs typeface="Inter" pitchFamily="34" charset="-120"/>
              </a:rPr>
              <a:t>Heatmap-Werte rein illustrativ</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EXPERIMENT REGISTRY</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16</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15 / SCIENTIFIC TRACEABILITY</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Jeder Versuch zählt – auch die gescheiterten.</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Das Experiment-Register verhindert, dass nur der beste Treffer in Erinnerung bleibt.</a:t>
            </a:r>
            <a:endParaRPr lang="en-US" sz="1300" dirty="0"/>
          </a:p>
        </p:txBody>
      </p:sp>
      <p:sp>
        <p:nvSpPr>
          <p:cNvPr id="12" name="Shape 10"/>
          <p:cNvSpPr/>
          <p:nvPr/>
        </p:nvSpPr>
        <p:spPr>
          <a:xfrm>
            <a:off x="640080" y="2587752"/>
            <a:ext cx="3575304" cy="1143000"/>
          </a:xfrm>
          <a:prstGeom prst="roundRect">
            <a:avLst>
              <a:gd name="adj" fmla="val 11200"/>
            </a:avLst>
          </a:prstGeom>
          <a:solidFill>
            <a:srgbClr val="121A24"/>
          </a:solidFill>
          <a:ln w="8890">
            <a:solidFill>
              <a:srgbClr val="263442"/>
            </a:solidFill>
            <a:prstDash val="solid"/>
          </a:ln>
        </p:spPr>
      </p:sp>
      <p:sp>
        <p:nvSpPr>
          <p:cNvPr id="13" name="Text 11"/>
          <p:cNvSpPr/>
          <p:nvPr/>
        </p:nvSpPr>
        <p:spPr>
          <a:xfrm>
            <a:off x="804672" y="2761488"/>
            <a:ext cx="3191256" cy="219456"/>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EXPERIMENT</a:t>
            </a:r>
            <a:endParaRPr lang="en-US" sz="900" dirty="0"/>
          </a:p>
        </p:txBody>
      </p:sp>
      <p:sp>
        <p:nvSpPr>
          <p:cNvPr id="14" name="Text 12"/>
          <p:cNvSpPr/>
          <p:nvPr/>
        </p:nvSpPr>
        <p:spPr>
          <a:xfrm>
            <a:off x="804672" y="3145536"/>
            <a:ext cx="3191256" cy="27432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ORB-v014</a:t>
            </a:r>
            <a:endParaRPr lang="en-US" sz="1500" dirty="0"/>
          </a:p>
        </p:txBody>
      </p:sp>
      <p:sp>
        <p:nvSpPr>
          <p:cNvPr id="15" name="Shape 13"/>
          <p:cNvSpPr/>
          <p:nvPr/>
        </p:nvSpPr>
        <p:spPr>
          <a:xfrm>
            <a:off x="4416552" y="2587752"/>
            <a:ext cx="3575304" cy="1143000"/>
          </a:xfrm>
          <a:prstGeom prst="roundRect">
            <a:avLst>
              <a:gd name="adj" fmla="val 11200"/>
            </a:avLst>
          </a:prstGeom>
          <a:solidFill>
            <a:srgbClr val="121A24"/>
          </a:solidFill>
          <a:ln w="8890">
            <a:solidFill>
              <a:srgbClr val="263442"/>
            </a:solidFill>
            <a:prstDash val="solid"/>
          </a:ln>
        </p:spPr>
      </p:sp>
      <p:sp>
        <p:nvSpPr>
          <p:cNvPr id="16" name="Text 14"/>
          <p:cNvSpPr/>
          <p:nvPr/>
        </p:nvSpPr>
        <p:spPr>
          <a:xfrm>
            <a:off x="4581144" y="2761488"/>
            <a:ext cx="3191256" cy="219456"/>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STRATEGY HASH</a:t>
            </a:r>
            <a:endParaRPr lang="en-US" sz="900" dirty="0"/>
          </a:p>
        </p:txBody>
      </p:sp>
      <p:sp>
        <p:nvSpPr>
          <p:cNvPr id="17" name="Text 15"/>
          <p:cNvSpPr/>
          <p:nvPr/>
        </p:nvSpPr>
        <p:spPr>
          <a:xfrm>
            <a:off x="4581144" y="3145536"/>
            <a:ext cx="3191256" cy="27432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9f81…c42a</a:t>
            </a:r>
            <a:endParaRPr lang="en-US" sz="1500" dirty="0"/>
          </a:p>
        </p:txBody>
      </p:sp>
      <p:sp>
        <p:nvSpPr>
          <p:cNvPr id="18" name="Shape 16"/>
          <p:cNvSpPr/>
          <p:nvPr/>
        </p:nvSpPr>
        <p:spPr>
          <a:xfrm>
            <a:off x="8193024" y="2587752"/>
            <a:ext cx="3575304" cy="1143000"/>
          </a:xfrm>
          <a:prstGeom prst="roundRect">
            <a:avLst>
              <a:gd name="adj" fmla="val 11200"/>
            </a:avLst>
          </a:prstGeom>
          <a:solidFill>
            <a:srgbClr val="121A24"/>
          </a:solidFill>
          <a:ln w="8890">
            <a:solidFill>
              <a:srgbClr val="263442"/>
            </a:solidFill>
            <a:prstDash val="solid"/>
          </a:ln>
        </p:spPr>
      </p:sp>
      <p:sp>
        <p:nvSpPr>
          <p:cNvPr id="19" name="Text 17"/>
          <p:cNvSpPr/>
          <p:nvPr/>
        </p:nvSpPr>
        <p:spPr>
          <a:xfrm>
            <a:off x="8357616" y="2761488"/>
            <a:ext cx="3191256" cy="219456"/>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DATA SNAPSHOT</a:t>
            </a:r>
            <a:endParaRPr lang="en-US" sz="900" dirty="0"/>
          </a:p>
        </p:txBody>
      </p:sp>
      <p:sp>
        <p:nvSpPr>
          <p:cNvPr id="20" name="Text 18"/>
          <p:cNvSpPr/>
          <p:nvPr/>
        </p:nvSpPr>
        <p:spPr>
          <a:xfrm>
            <a:off x="8357616" y="3145536"/>
            <a:ext cx="3191256" cy="27432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CME.NQ / 2020–25</a:t>
            </a:r>
            <a:endParaRPr lang="en-US" sz="1500" dirty="0"/>
          </a:p>
        </p:txBody>
      </p:sp>
      <p:sp>
        <p:nvSpPr>
          <p:cNvPr id="21" name="Shape 19"/>
          <p:cNvSpPr/>
          <p:nvPr/>
        </p:nvSpPr>
        <p:spPr>
          <a:xfrm>
            <a:off x="640080" y="3977640"/>
            <a:ext cx="3575304" cy="1143000"/>
          </a:xfrm>
          <a:prstGeom prst="roundRect">
            <a:avLst>
              <a:gd name="adj" fmla="val 11200"/>
            </a:avLst>
          </a:prstGeom>
          <a:solidFill>
            <a:srgbClr val="121A24"/>
          </a:solidFill>
          <a:ln w="8890">
            <a:solidFill>
              <a:srgbClr val="263442"/>
            </a:solidFill>
            <a:prstDash val="solid"/>
          </a:ln>
        </p:spPr>
      </p:sp>
      <p:sp>
        <p:nvSpPr>
          <p:cNvPr id="22" name="Text 20"/>
          <p:cNvSpPr/>
          <p:nvPr/>
        </p:nvSpPr>
        <p:spPr>
          <a:xfrm>
            <a:off x="804672" y="4151376"/>
            <a:ext cx="3191256" cy="219456"/>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COST MODEL</a:t>
            </a:r>
            <a:endParaRPr lang="en-US" sz="900" dirty="0"/>
          </a:p>
        </p:txBody>
      </p:sp>
      <p:sp>
        <p:nvSpPr>
          <p:cNvPr id="23" name="Text 21"/>
          <p:cNvSpPr/>
          <p:nvPr/>
        </p:nvSpPr>
        <p:spPr>
          <a:xfrm>
            <a:off x="804672" y="4535424"/>
            <a:ext cx="3191256" cy="27432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fees + spread + stress</a:t>
            </a:r>
            <a:endParaRPr lang="en-US" sz="1500" dirty="0"/>
          </a:p>
        </p:txBody>
      </p:sp>
      <p:sp>
        <p:nvSpPr>
          <p:cNvPr id="24" name="Shape 22"/>
          <p:cNvSpPr/>
          <p:nvPr/>
        </p:nvSpPr>
        <p:spPr>
          <a:xfrm>
            <a:off x="4416552" y="3977640"/>
            <a:ext cx="3575304" cy="1143000"/>
          </a:xfrm>
          <a:prstGeom prst="roundRect">
            <a:avLst>
              <a:gd name="adj" fmla="val 11200"/>
            </a:avLst>
          </a:prstGeom>
          <a:solidFill>
            <a:srgbClr val="121A24"/>
          </a:solidFill>
          <a:ln w="8890">
            <a:solidFill>
              <a:srgbClr val="263442"/>
            </a:solidFill>
            <a:prstDash val="solid"/>
          </a:ln>
        </p:spPr>
      </p:sp>
      <p:sp>
        <p:nvSpPr>
          <p:cNvPr id="25" name="Text 23"/>
          <p:cNvSpPr/>
          <p:nvPr/>
        </p:nvSpPr>
        <p:spPr>
          <a:xfrm>
            <a:off x="4581144" y="4151376"/>
            <a:ext cx="3191256" cy="219456"/>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ENGINE</a:t>
            </a:r>
            <a:endParaRPr lang="en-US" sz="900" dirty="0"/>
          </a:p>
        </p:txBody>
      </p:sp>
      <p:sp>
        <p:nvSpPr>
          <p:cNvPr id="26" name="Text 24"/>
          <p:cNvSpPr/>
          <p:nvPr/>
        </p:nvSpPr>
        <p:spPr>
          <a:xfrm>
            <a:off x="4581144" y="4535424"/>
            <a:ext cx="3191256" cy="27432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sim-v0.3.2</a:t>
            </a:r>
            <a:endParaRPr lang="en-US" sz="1500" dirty="0"/>
          </a:p>
        </p:txBody>
      </p:sp>
      <p:sp>
        <p:nvSpPr>
          <p:cNvPr id="27" name="Shape 25"/>
          <p:cNvSpPr/>
          <p:nvPr/>
        </p:nvSpPr>
        <p:spPr>
          <a:xfrm>
            <a:off x="8193024" y="3977640"/>
            <a:ext cx="3575304" cy="1143000"/>
          </a:xfrm>
          <a:prstGeom prst="roundRect">
            <a:avLst>
              <a:gd name="adj" fmla="val 11200"/>
            </a:avLst>
          </a:prstGeom>
          <a:solidFill>
            <a:srgbClr val="121A24"/>
          </a:solidFill>
          <a:ln w="8890">
            <a:solidFill>
              <a:srgbClr val="263442"/>
            </a:solidFill>
            <a:prstDash val="solid"/>
          </a:ln>
        </p:spPr>
      </p:sp>
      <p:sp>
        <p:nvSpPr>
          <p:cNvPr id="28" name="Text 26"/>
          <p:cNvSpPr/>
          <p:nvPr/>
        </p:nvSpPr>
        <p:spPr>
          <a:xfrm>
            <a:off x="8357616" y="4151376"/>
            <a:ext cx="3191256" cy="219456"/>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RESEARCH STATUS</a:t>
            </a:r>
            <a:endParaRPr lang="en-US" sz="900" dirty="0"/>
          </a:p>
        </p:txBody>
      </p:sp>
      <p:sp>
        <p:nvSpPr>
          <p:cNvPr id="29" name="Text 27"/>
          <p:cNvSpPr/>
          <p:nvPr/>
        </p:nvSpPr>
        <p:spPr>
          <a:xfrm>
            <a:off x="8357616" y="4535424"/>
            <a:ext cx="3191256" cy="27432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OOS failed</a:t>
            </a:r>
            <a:endParaRPr lang="en-US" sz="1500" dirty="0"/>
          </a:p>
        </p:txBody>
      </p:sp>
      <p:sp>
        <p:nvSpPr>
          <p:cNvPr id="30" name="Text 28"/>
          <p:cNvSpPr/>
          <p:nvPr/>
        </p:nvSpPr>
        <p:spPr>
          <a:xfrm>
            <a:off x="667512" y="5641848"/>
            <a:ext cx="10963656" cy="32004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Plus: Parameter-Range · Random Seed · Git Commit · Trade Ledger · Datapassport · Validation Artifacts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RESEARCH DASHBOARD</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17</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16 / RESULTS</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Performance sehen – ohne sich von ihr täuschen zu lassen.</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Alle Zahlen in dieser Visualisierung sind fiktiv und dienen ausschliesslich der Layout-Demonstration.</a:t>
            </a:r>
            <a:endParaRPr lang="en-US" sz="1300" dirty="0"/>
          </a:p>
        </p:txBody>
      </p:sp>
      <p:sp>
        <p:nvSpPr>
          <p:cNvPr id="12" name="Shape 10"/>
          <p:cNvSpPr/>
          <p:nvPr/>
        </p:nvSpPr>
        <p:spPr>
          <a:xfrm>
            <a:off x="667512" y="2322576"/>
            <a:ext cx="7333488" cy="3108960"/>
          </a:xfrm>
          <a:prstGeom prst="roundRect">
            <a:avLst>
              <a:gd name="adj" fmla="val 4118"/>
            </a:avLst>
          </a:prstGeom>
          <a:solidFill>
            <a:srgbClr val="121A24"/>
          </a:solidFill>
          <a:ln w="8890">
            <a:solidFill>
              <a:srgbClr val="263442"/>
            </a:solidFill>
            <a:prstDash val="solid"/>
          </a:ln>
        </p:spPr>
      </p:sp>
      <p:sp>
        <p:nvSpPr>
          <p:cNvPr id="13" name="Text 11"/>
          <p:cNvSpPr/>
          <p:nvPr/>
        </p:nvSpPr>
        <p:spPr>
          <a:xfrm>
            <a:off x="905256" y="2542032"/>
            <a:ext cx="3383280" cy="192024"/>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EQUITY  /  NET OF COSTS</a:t>
            </a:r>
            <a:endParaRPr lang="en-US" sz="1000" dirty="0"/>
          </a:p>
        </p:txBody>
      </p:sp>
      <p:sp>
        <p:nvSpPr>
          <p:cNvPr id="14" name="Shape 12"/>
          <p:cNvSpPr/>
          <p:nvPr/>
        </p:nvSpPr>
        <p:spPr>
          <a:xfrm>
            <a:off x="960120" y="3017520"/>
            <a:ext cx="6793992" cy="0"/>
          </a:xfrm>
          <a:prstGeom prst="line">
            <a:avLst/>
          </a:prstGeom>
          <a:noFill/>
          <a:ln w="5715">
            <a:solidFill>
              <a:srgbClr val="263442"/>
            </a:solidFill>
            <a:prstDash val="solid"/>
          </a:ln>
        </p:spPr>
      </p:sp>
      <p:sp>
        <p:nvSpPr>
          <p:cNvPr id="15" name="Shape 13"/>
          <p:cNvSpPr/>
          <p:nvPr/>
        </p:nvSpPr>
        <p:spPr>
          <a:xfrm>
            <a:off x="960120" y="3456432"/>
            <a:ext cx="6793992" cy="0"/>
          </a:xfrm>
          <a:prstGeom prst="line">
            <a:avLst/>
          </a:prstGeom>
          <a:noFill/>
          <a:ln w="5715">
            <a:solidFill>
              <a:srgbClr val="263442"/>
            </a:solidFill>
            <a:prstDash val="solid"/>
          </a:ln>
        </p:spPr>
      </p:sp>
      <p:sp>
        <p:nvSpPr>
          <p:cNvPr id="16" name="Shape 14"/>
          <p:cNvSpPr/>
          <p:nvPr/>
        </p:nvSpPr>
        <p:spPr>
          <a:xfrm>
            <a:off x="960120" y="3895344"/>
            <a:ext cx="6793992" cy="0"/>
          </a:xfrm>
          <a:prstGeom prst="line">
            <a:avLst/>
          </a:prstGeom>
          <a:noFill/>
          <a:ln w="5715">
            <a:solidFill>
              <a:srgbClr val="263442"/>
            </a:solidFill>
            <a:prstDash val="solid"/>
          </a:ln>
        </p:spPr>
      </p:sp>
      <p:sp>
        <p:nvSpPr>
          <p:cNvPr id="17" name="Shape 15"/>
          <p:cNvSpPr/>
          <p:nvPr/>
        </p:nvSpPr>
        <p:spPr>
          <a:xfrm>
            <a:off x="960120" y="4334256"/>
            <a:ext cx="6793992" cy="0"/>
          </a:xfrm>
          <a:prstGeom prst="line">
            <a:avLst/>
          </a:prstGeom>
          <a:noFill/>
          <a:ln w="5715">
            <a:solidFill>
              <a:srgbClr val="263442"/>
            </a:solidFill>
            <a:prstDash val="solid"/>
          </a:ln>
        </p:spPr>
      </p:sp>
      <p:sp>
        <p:nvSpPr>
          <p:cNvPr id="18" name="Shape 16"/>
          <p:cNvSpPr/>
          <p:nvPr/>
        </p:nvSpPr>
        <p:spPr>
          <a:xfrm>
            <a:off x="960120" y="4773168"/>
            <a:ext cx="6793992" cy="0"/>
          </a:xfrm>
          <a:prstGeom prst="line">
            <a:avLst/>
          </a:prstGeom>
          <a:noFill/>
          <a:ln w="5715">
            <a:solidFill>
              <a:srgbClr val="263442"/>
            </a:solidFill>
            <a:prstDash val="solid"/>
          </a:ln>
        </p:spPr>
      </p:sp>
      <p:sp>
        <p:nvSpPr>
          <p:cNvPr id="19" name="Shape 17"/>
          <p:cNvSpPr/>
          <p:nvPr/>
        </p:nvSpPr>
        <p:spPr>
          <a:xfrm>
            <a:off x="1024128" y="4882896"/>
            <a:ext cx="324612" cy="-54864"/>
          </a:xfrm>
          <a:prstGeom prst="line">
            <a:avLst/>
          </a:prstGeom>
          <a:noFill/>
          <a:ln w="33020">
            <a:solidFill>
              <a:srgbClr val="69DDCF"/>
            </a:solidFill>
            <a:prstDash val="solid"/>
          </a:ln>
        </p:spPr>
      </p:sp>
      <p:sp>
        <p:nvSpPr>
          <p:cNvPr id="20" name="Shape 18"/>
          <p:cNvSpPr/>
          <p:nvPr/>
        </p:nvSpPr>
        <p:spPr>
          <a:xfrm>
            <a:off x="1348740" y="4828032"/>
            <a:ext cx="324612" cy="-173736"/>
          </a:xfrm>
          <a:prstGeom prst="line">
            <a:avLst/>
          </a:prstGeom>
          <a:noFill/>
          <a:ln w="33020">
            <a:solidFill>
              <a:srgbClr val="69DDCF"/>
            </a:solidFill>
            <a:prstDash val="solid"/>
          </a:ln>
        </p:spPr>
      </p:sp>
      <p:sp>
        <p:nvSpPr>
          <p:cNvPr id="21" name="Shape 19"/>
          <p:cNvSpPr/>
          <p:nvPr/>
        </p:nvSpPr>
        <p:spPr>
          <a:xfrm>
            <a:off x="1673352" y="4654296"/>
            <a:ext cx="324612" cy="91440"/>
          </a:xfrm>
          <a:prstGeom prst="line">
            <a:avLst/>
          </a:prstGeom>
          <a:noFill/>
          <a:ln w="33020">
            <a:solidFill>
              <a:srgbClr val="69DDCF"/>
            </a:solidFill>
            <a:prstDash val="solid"/>
          </a:ln>
        </p:spPr>
      </p:sp>
      <p:sp>
        <p:nvSpPr>
          <p:cNvPr id="22" name="Shape 20"/>
          <p:cNvSpPr/>
          <p:nvPr/>
        </p:nvSpPr>
        <p:spPr>
          <a:xfrm>
            <a:off x="1997964" y="4745736"/>
            <a:ext cx="324612" cy="-155448"/>
          </a:xfrm>
          <a:prstGeom prst="line">
            <a:avLst/>
          </a:prstGeom>
          <a:noFill/>
          <a:ln w="33020">
            <a:solidFill>
              <a:srgbClr val="69DDCF"/>
            </a:solidFill>
            <a:prstDash val="solid"/>
          </a:ln>
        </p:spPr>
      </p:sp>
      <p:sp>
        <p:nvSpPr>
          <p:cNvPr id="23" name="Shape 21"/>
          <p:cNvSpPr/>
          <p:nvPr/>
        </p:nvSpPr>
        <p:spPr>
          <a:xfrm>
            <a:off x="2322576" y="4590288"/>
            <a:ext cx="324612" cy="91440"/>
          </a:xfrm>
          <a:prstGeom prst="line">
            <a:avLst/>
          </a:prstGeom>
          <a:noFill/>
          <a:ln w="33020">
            <a:solidFill>
              <a:srgbClr val="69DDCF"/>
            </a:solidFill>
            <a:prstDash val="solid"/>
          </a:ln>
        </p:spPr>
      </p:sp>
      <p:sp>
        <p:nvSpPr>
          <p:cNvPr id="24" name="Shape 22"/>
          <p:cNvSpPr/>
          <p:nvPr/>
        </p:nvSpPr>
        <p:spPr>
          <a:xfrm>
            <a:off x="2647188" y="4681728"/>
            <a:ext cx="324612" cy="-246888"/>
          </a:xfrm>
          <a:prstGeom prst="line">
            <a:avLst/>
          </a:prstGeom>
          <a:noFill/>
          <a:ln w="33020">
            <a:solidFill>
              <a:srgbClr val="69DDCF"/>
            </a:solidFill>
            <a:prstDash val="solid"/>
          </a:ln>
        </p:spPr>
      </p:sp>
      <p:sp>
        <p:nvSpPr>
          <p:cNvPr id="25" name="Shape 23"/>
          <p:cNvSpPr/>
          <p:nvPr/>
        </p:nvSpPr>
        <p:spPr>
          <a:xfrm>
            <a:off x="2971800" y="4434840"/>
            <a:ext cx="324612" cy="73152"/>
          </a:xfrm>
          <a:prstGeom prst="line">
            <a:avLst/>
          </a:prstGeom>
          <a:noFill/>
          <a:ln w="33020">
            <a:solidFill>
              <a:srgbClr val="69DDCF"/>
            </a:solidFill>
            <a:prstDash val="solid"/>
          </a:ln>
        </p:spPr>
      </p:sp>
      <p:sp>
        <p:nvSpPr>
          <p:cNvPr id="26" name="Shape 24"/>
          <p:cNvSpPr/>
          <p:nvPr/>
        </p:nvSpPr>
        <p:spPr>
          <a:xfrm>
            <a:off x="3296412" y="4507992"/>
            <a:ext cx="324612" cy="-219456"/>
          </a:xfrm>
          <a:prstGeom prst="line">
            <a:avLst/>
          </a:prstGeom>
          <a:noFill/>
          <a:ln w="33020">
            <a:solidFill>
              <a:srgbClr val="69DDCF"/>
            </a:solidFill>
            <a:prstDash val="solid"/>
          </a:ln>
        </p:spPr>
      </p:sp>
      <p:sp>
        <p:nvSpPr>
          <p:cNvPr id="27" name="Shape 25"/>
          <p:cNvSpPr/>
          <p:nvPr/>
        </p:nvSpPr>
        <p:spPr>
          <a:xfrm>
            <a:off x="3621024" y="4288536"/>
            <a:ext cx="324612" cy="36576"/>
          </a:xfrm>
          <a:prstGeom prst="line">
            <a:avLst/>
          </a:prstGeom>
          <a:noFill/>
          <a:ln w="33020">
            <a:solidFill>
              <a:srgbClr val="69DDCF"/>
            </a:solidFill>
            <a:prstDash val="solid"/>
          </a:ln>
        </p:spPr>
      </p:sp>
      <p:sp>
        <p:nvSpPr>
          <p:cNvPr id="28" name="Shape 26"/>
          <p:cNvSpPr/>
          <p:nvPr/>
        </p:nvSpPr>
        <p:spPr>
          <a:xfrm>
            <a:off x="3945636" y="4325112"/>
            <a:ext cx="324612" cy="-173736"/>
          </a:xfrm>
          <a:prstGeom prst="line">
            <a:avLst/>
          </a:prstGeom>
          <a:noFill/>
          <a:ln w="33020">
            <a:solidFill>
              <a:srgbClr val="69DDCF"/>
            </a:solidFill>
            <a:prstDash val="solid"/>
          </a:ln>
        </p:spPr>
      </p:sp>
      <p:sp>
        <p:nvSpPr>
          <p:cNvPr id="29" name="Shape 27"/>
          <p:cNvSpPr/>
          <p:nvPr/>
        </p:nvSpPr>
        <p:spPr>
          <a:xfrm>
            <a:off x="4270248" y="4151376"/>
            <a:ext cx="324612" cy="100584"/>
          </a:xfrm>
          <a:prstGeom prst="line">
            <a:avLst/>
          </a:prstGeom>
          <a:noFill/>
          <a:ln w="33020">
            <a:solidFill>
              <a:srgbClr val="69DDCF"/>
            </a:solidFill>
            <a:prstDash val="solid"/>
          </a:ln>
        </p:spPr>
      </p:sp>
      <p:sp>
        <p:nvSpPr>
          <p:cNvPr id="30" name="Shape 28"/>
          <p:cNvSpPr/>
          <p:nvPr/>
        </p:nvSpPr>
        <p:spPr>
          <a:xfrm>
            <a:off x="4594860" y="4251960"/>
            <a:ext cx="324612" cy="-246888"/>
          </a:xfrm>
          <a:prstGeom prst="line">
            <a:avLst/>
          </a:prstGeom>
          <a:noFill/>
          <a:ln w="33020">
            <a:solidFill>
              <a:srgbClr val="69DDCF"/>
            </a:solidFill>
            <a:prstDash val="solid"/>
          </a:ln>
        </p:spPr>
      </p:sp>
      <p:sp>
        <p:nvSpPr>
          <p:cNvPr id="31" name="Shape 29"/>
          <p:cNvSpPr/>
          <p:nvPr/>
        </p:nvSpPr>
        <p:spPr>
          <a:xfrm>
            <a:off x="4919472" y="4005072"/>
            <a:ext cx="324612" cy="155448"/>
          </a:xfrm>
          <a:prstGeom prst="line">
            <a:avLst/>
          </a:prstGeom>
          <a:noFill/>
          <a:ln w="33020">
            <a:solidFill>
              <a:srgbClr val="69DDCF"/>
            </a:solidFill>
            <a:prstDash val="solid"/>
          </a:ln>
        </p:spPr>
      </p:sp>
      <p:sp>
        <p:nvSpPr>
          <p:cNvPr id="32" name="Shape 30"/>
          <p:cNvSpPr/>
          <p:nvPr/>
        </p:nvSpPr>
        <p:spPr>
          <a:xfrm>
            <a:off x="5244084" y="4160520"/>
            <a:ext cx="324612" cy="-82296"/>
          </a:xfrm>
          <a:prstGeom prst="line">
            <a:avLst/>
          </a:prstGeom>
          <a:noFill/>
          <a:ln w="33020">
            <a:solidFill>
              <a:srgbClr val="69DDCF"/>
            </a:solidFill>
            <a:prstDash val="solid"/>
          </a:ln>
        </p:spPr>
      </p:sp>
      <p:sp>
        <p:nvSpPr>
          <p:cNvPr id="33" name="Shape 31"/>
          <p:cNvSpPr/>
          <p:nvPr/>
        </p:nvSpPr>
        <p:spPr>
          <a:xfrm>
            <a:off x="5568696" y="4078224"/>
            <a:ext cx="324612" cy="-182880"/>
          </a:xfrm>
          <a:prstGeom prst="line">
            <a:avLst/>
          </a:prstGeom>
          <a:noFill/>
          <a:ln w="33020">
            <a:solidFill>
              <a:srgbClr val="69DDCF"/>
            </a:solidFill>
            <a:prstDash val="solid"/>
          </a:ln>
        </p:spPr>
      </p:sp>
      <p:sp>
        <p:nvSpPr>
          <p:cNvPr id="34" name="Shape 32"/>
          <p:cNvSpPr/>
          <p:nvPr/>
        </p:nvSpPr>
        <p:spPr>
          <a:xfrm>
            <a:off x="5893308" y="3895344"/>
            <a:ext cx="324612" cy="54864"/>
          </a:xfrm>
          <a:prstGeom prst="line">
            <a:avLst/>
          </a:prstGeom>
          <a:noFill/>
          <a:ln w="33020">
            <a:solidFill>
              <a:srgbClr val="69DDCF"/>
            </a:solidFill>
            <a:prstDash val="solid"/>
          </a:ln>
        </p:spPr>
      </p:sp>
      <p:sp>
        <p:nvSpPr>
          <p:cNvPr id="35" name="Shape 33"/>
          <p:cNvSpPr/>
          <p:nvPr/>
        </p:nvSpPr>
        <p:spPr>
          <a:xfrm>
            <a:off x="6217920" y="3950208"/>
            <a:ext cx="324612" cy="-100584"/>
          </a:xfrm>
          <a:prstGeom prst="line">
            <a:avLst/>
          </a:prstGeom>
          <a:noFill/>
          <a:ln w="33020">
            <a:solidFill>
              <a:srgbClr val="69DDCF"/>
            </a:solidFill>
            <a:prstDash val="solid"/>
          </a:ln>
        </p:spPr>
      </p:sp>
      <p:sp>
        <p:nvSpPr>
          <p:cNvPr id="36" name="Shape 34"/>
          <p:cNvSpPr/>
          <p:nvPr/>
        </p:nvSpPr>
        <p:spPr>
          <a:xfrm>
            <a:off x="6542532" y="3849624"/>
            <a:ext cx="324612" cy="173736"/>
          </a:xfrm>
          <a:prstGeom prst="line">
            <a:avLst/>
          </a:prstGeom>
          <a:noFill/>
          <a:ln w="33020">
            <a:solidFill>
              <a:srgbClr val="69DDCF"/>
            </a:solidFill>
            <a:prstDash val="solid"/>
          </a:ln>
        </p:spPr>
      </p:sp>
      <p:sp>
        <p:nvSpPr>
          <p:cNvPr id="37" name="Shape 35"/>
          <p:cNvSpPr/>
          <p:nvPr/>
        </p:nvSpPr>
        <p:spPr>
          <a:xfrm>
            <a:off x="6867144" y="4023360"/>
            <a:ext cx="324612" cy="-182880"/>
          </a:xfrm>
          <a:prstGeom prst="line">
            <a:avLst/>
          </a:prstGeom>
          <a:noFill/>
          <a:ln w="33020">
            <a:solidFill>
              <a:srgbClr val="69DDCF"/>
            </a:solidFill>
            <a:prstDash val="solid"/>
          </a:ln>
        </p:spPr>
      </p:sp>
      <p:sp>
        <p:nvSpPr>
          <p:cNvPr id="38" name="Shape 36"/>
          <p:cNvSpPr/>
          <p:nvPr/>
        </p:nvSpPr>
        <p:spPr>
          <a:xfrm>
            <a:off x="7191756" y="3840480"/>
            <a:ext cx="324612" cy="-45720"/>
          </a:xfrm>
          <a:prstGeom prst="line">
            <a:avLst/>
          </a:prstGeom>
          <a:noFill/>
          <a:ln w="33020">
            <a:solidFill>
              <a:srgbClr val="69DDCF"/>
            </a:solidFill>
            <a:prstDash val="solid"/>
          </a:ln>
        </p:spPr>
      </p:sp>
      <p:sp>
        <p:nvSpPr>
          <p:cNvPr id="39" name="Text 37"/>
          <p:cNvSpPr/>
          <p:nvPr/>
        </p:nvSpPr>
        <p:spPr>
          <a:xfrm>
            <a:off x="987552" y="5129784"/>
            <a:ext cx="914400" cy="182880"/>
          </a:xfrm>
          <a:prstGeom prst="rect">
            <a:avLst/>
          </a:prstGeom>
          <a:noFill/>
          <a:ln/>
        </p:spPr>
        <p:txBody>
          <a:bodyPr wrap="square" lIns="0" tIns="0" rIns="0" bIns="0" rtlCol="0" anchor="ctr">
            <a:normAutofit/>
          </a:bodyPr>
          <a:lstStyle/>
          <a:p>
            <a:pPr indent="0" marL="0">
              <a:buNone/>
            </a:pPr>
            <a:r>
              <a:rPr lang="en-US" sz="900" b="1" dirty="0">
                <a:solidFill>
                  <a:srgbClr val="94A6B3"/>
                </a:solidFill>
                <a:latin typeface="Inter" pitchFamily="34" charset="0"/>
                <a:ea typeface="Inter" pitchFamily="34" charset="-122"/>
                <a:cs typeface="Inter" pitchFamily="34" charset="-120"/>
              </a:rPr>
              <a:t>TRAIN</a:t>
            </a:r>
            <a:endParaRPr lang="en-US" sz="900" dirty="0"/>
          </a:p>
        </p:txBody>
      </p:sp>
      <p:sp>
        <p:nvSpPr>
          <p:cNvPr id="40" name="Shape 38"/>
          <p:cNvSpPr/>
          <p:nvPr/>
        </p:nvSpPr>
        <p:spPr>
          <a:xfrm>
            <a:off x="5358384" y="2871216"/>
            <a:ext cx="0" cy="2276856"/>
          </a:xfrm>
          <a:prstGeom prst="line">
            <a:avLst/>
          </a:prstGeom>
          <a:noFill/>
          <a:ln w="12700">
            <a:solidFill>
              <a:srgbClr val="F1C479"/>
            </a:solidFill>
            <a:prstDash val="dash"/>
          </a:ln>
        </p:spPr>
      </p:sp>
      <p:sp>
        <p:nvSpPr>
          <p:cNvPr id="41" name="Text 39"/>
          <p:cNvSpPr/>
          <p:nvPr/>
        </p:nvSpPr>
        <p:spPr>
          <a:xfrm>
            <a:off x="5522976" y="5129784"/>
            <a:ext cx="1097280" cy="182880"/>
          </a:xfrm>
          <a:prstGeom prst="rect">
            <a:avLst/>
          </a:prstGeom>
          <a:noFill/>
          <a:ln/>
        </p:spPr>
        <p:txBody>
          <a:bodyPr wrap="square" lIns="0" tIns="0" rIns="0" bIns="0" rtlCol="0" anchor="ctr">
            <a:normAutofit/>
          </a:bodyPr>
          <a:lstStyle/>
          <a:p>
            <a:pPr indent="0" marL="0">
              <a:buNone/>
            </a:pPr>
            <a:r>
              <a:rPr lang="en-US" sz="900" b="1" dirty="0">
                <a:solidFill>
                  <a:srgbClr val="F1C479"/>
                </a:solidFill>
                <a:latin typeface="Inter" pitchFamily="34" charset="0"/>
                <a:ea typeface="Inter" pitchFamily="34" charset="-122"/>
                <a:cs typeface="Inter" pitchFamily="34" charset="-120"/>
              </a:rPr>
              <a:t>OOS</a:t>
            </a:r>
            <a:endParaRPr lang="en-US" sz="900" dirty="0"/>
          </a:p>
        </p:txBody>
      </p:sp>
      <p:sp>
        <p:nvSpPr>
          <p:cNvPr id="42" name="Shape 40"/>
          <p:cNvSpPr/>
          <p:nvPr/>
        </p:nvSpPr>
        <p:spPr>
          <a:xfrm>
            <a:off x="8211312" y="2322576"/>
            <a:ext cx="3328416" cy="3108960"/>
          </a:xfrm>
          <a:prstGeom prst="roundRect">
            <a:avLst>
              <a:gd name="adj" fmla="val 4118"/>
            </a:avLst>
          </a:prstGeom>
          <a:solidFill>
            <a:srgbClr val="16212C"/>
          </a:solidFill>
          <a:ln w="8890">
            <a:solidFill>
              <a:srgbClr val="263442"/>
            </a:solidFill>
            <a:prstDash val="solid"/>
          </a:ln>
        </p:spPr>
      </p:sp>
      <p:sp>
        <p:nvSpPr>
          <p:cNvPr id="43" name="Text 41"/>
          <p:cNvSpPr/>
          <p:nvPr/>
        </p:nvSpPr>
        <p:spPr>
          <a:xfrm>
            <a:off x="8439912" y="2587752"/>
            <a:ext cx="1609344" cy="182880"/>
          </a:xfrm>
          <a:prstGeom prst="rect">
            <a:avLst/>
          </a:prstGeom>
          <a:noFill/>
          <a:ln/>
        </p:spPr>
        <p:txBody>
          <a:bodyPr wrap="square" lIns="0" tIns="0" rIns="0" bIns="0" rtlCol="0" anchor="ctr">
            <a:normAutofit/>
          </a:bodyPr>
          <a:lstStyle/>
          <a:p>
            <a:pPr indent="0" marL="0">
              <a:buNone/>
            </a:pPr>
            <a:r>
              <a:rPr lang="en-US" sz="900" dirty="0">
                <a:solidFill>
                  <a:srgbClr val="94A6B3"/>
                </a:solidFill>
                <a:latin typeface="Inter" pitchFamily="34" charset="0"/>
                <a:ea typeface="Inter" pitchFamily="34" charset="-122"/>
                <a:cs typeface="Inter" pitchFamily="34" charset="-120"/>
              </a:rPr>
              <a:t>TOTAL RETURN</a:t>
            </a:r>
            <a:endParaRPr lang="en-US" sz="900" dirty="0"/>
          </a:p>
        </p:txBody>
      </p:sp>
      <p:sp>
        <p:nvSpPr>
          <p:cNvPr id="44" name="Text 42"/>
          <p:cNvSpPr/>
          <p:nvPr/>
        </p:nvSpPr>
        <p:spPr>
          <a:xfrm>
            <a:off x="10058400" y="2560320"/>
            <a:ext cx="1161288" cy="274320"/>
          </a:xfrm>
          <a:prstGeom prst="rect">
            <a:avLst/>
          </a:prstGeom>
          <a:noFill/>
          <a:ln/>
        </p:spPr>
        <p:txBody>
          <a:bodyPr wrap="square" lIns="0" tIns="0" rIns="0" bIns="0" rtlCol="0" anchor="ctr">
            <a:normAutofit/>
          </a:bodyPr>
          <a:lstStyle/>
          <a:p>
            <a:pPr algn="r" indent="0" marL="0">
              <a:buNone/>
            </a:pPr>
            <a:r>
              <a:rPr lang="en-US" sz="1700" b="1" dirty="0">
                <a:solidFill>
                  <a:srgbClr val="91DFC0"/>
                </a:solidFill>
                <a:latin typeface="Inter" pitchFamily="34" charset="0"/>
                <a:ea typeface="Inter" pitchFamily="34" charset="-122"/>
                <a:cs typeface="Inter" pitchFamily="34" charset="-120"/>
              </a:rPr>
              <a:t>+14.6%</a:t>
            </a:r>
            <a:endParaRPr lang="en-US" sz="1700" dirty="0"/>
          </a:p>
        </p:txBody>
      </p:sp>
      <p:sp>
        <p:nvSpPr>
          <p:cNvPr id="45" name="Text 43"/>
          <p:cNvSpPr/>
          <p:nvPr/>
        </p:nvSpPr>
        <p:spPr>
          <a:xfrm>
            <a:off x="8439912" y="3090672"/>
            <a:ext cx="1609344" cy="182880"/>
          </a:xfrm>
          <a:prstGeom prst="rect">
            <a:avLst/>
          </a:prstGeom>
          <a:noFill/>
          <a:ln/>
        </p:spPr>
        <p:txBody>
          <a:bodyPr wrap="square" lIns="0" tIns="0" rIns="0" bIns="0" rtlCol="0" anchor="ctr">
            <a:normAutofit/>
          </a:bodyPr>
          <a:lstStyle/>
          <a:p>
            <a:pPr indent="0" marL="0">
              <a:buNone/>
            </a:pPr>
            <a:r>
              <a:rPr lang="en-US" sz="900" dirty="0">
                <a:solidFill>
                  <a:srgbClr val="94A6B3"/>
                </a:solidFill>
                <a:latin typeface="Inter" pitchFamily="34" charset="0"/>
                <a:ea typeface="Inter" pitchFamily="34" charset="-122"/>
                <a:cs typeface="Inter" pitchFamily="34" charset="-120"/>
              </a:rPr>
              <a:t>MAX DRAWDOWN</a:t>
            </a:r>
            <a:endParaRPr lang="en-US" sz="900" dirty="0"/>
          </a:p>
        </p:txBody>
      </p:sp>
      <p:sp>
        <p:nvSpPr>
          <p:cNvPr id="46" name="Text 44"/>
          <p:cNvSpPr/>
          <p:nvPr/>
        </p:nvSpPr>
        <p:spPr>
          <a:xfrm>
            <a:off x="10058400" y="3063240"/>
            <a:ext cx="1161288" cy="274320"/>
          </a:xfrm>
          <a:prstGeom prst="rect">
            <a:avLst/>
          </a:prstGeom>
          <a:noFill/>
          <a:ln/>
        </p:spPr>
        <p:txBody>
          <a:bodyPr wrap="square" lIns="0" tIns="0" rIns="0" bIns="0" rtlCol="0" anchor="ctr">
            <a:normAutofit/>
          </a:bodyPr>
          <a:lstStyle/>
          <a:p>
            <a:pPr algn="r" indent="0" marL="0">
              <a:buNone/>
            </a:pPr>
            <a:r>
              <a:rPr lang="en-US" sz="1700" b="1" dirty="0">
                <a:solidFill>
                  <a:srgbClr val="EDF5F7"/>
                </a:solidFill>
                <a:latin typeface="Inter" pitchFamily="34" charset="0"/>
                <a:ea typeface="Inter" pitchFamily="34" charset="-122"/>
                <a:cs typeface="Inter" pitchFamily="34" charset="-120"/>
              </a:rPr>
              <a:t>−11.2%</a:t>
            </a:r>
            <a:endParaRPr lang="en-US" sz="1700" dirty="0"/>
          </a:p>
        </p:txBody>
      </p:sp>
      <p:sp>
        <p:nvSpPr>
          <p:cNvPr id="47" name="Text 45"/>
          <p:cNvSpPr/>
          <p:nvPr/>
        </p:nvSpPr>
        <p:spPr>
          <a:xfrm>
            <a:off x="8439912" y="3593592"/>
            <a:ext cx="1609344" cy="182880"/>
          </a:xfrm>
          <a:prstGeom prst="rect">
            <a:avLst/>
          </a:prstGeom>
          <a:noFill/>
          <a:ln/>
        </p:spPr>
        <p:txBody>
          <a:bodyPr wrap="square" lIns="0" tIns="0" rIns="0" bIns="0" rtlCol="0" anchor="ctr">
            <a:normAutofit/>
          </a:bodyPr>
          <a:lstStyle/>
          <a:p>
            <a:pPr indent="0" marL="0">
              <a:buNone/>
            </a:pPr>
            <a:r>
              <a:rPr lang="en-US" sz="900" dirty="0">
                <a:solidFill>
                  <a:srgbClr val="94A6B3"/>
                </a:solidFill>
                <a:latin typeface="Inter" pitchFamily="34" charset="0"/>
                <a:ea typeface="Inter" pitchFamily="34" charset="-122"/>
                <a:cs typeface="Inter" pitchFamily="34" charset="-120"/>
              </a:rPr>
              <a:t>PROFIT FACTOR</a:t>
            </a:r>
            <a:endParaRPr lang="en-US" sz="900" dirty="0"/>
          </a:p>
        </p:txBody>
      </p:sp>
      <p:sp>
        <p:nvSpPr>
          <p:cNvPr id="48" name="Text 46"/>
          <p:cNvSpPr/>
          <p:nvPr/>
        </p:nvSpPr>
        <p:spPr>
          <a:xfrm>
            <a:off x="10058400" y="3566160"/>
            <a:ext cx="1161288" cy="274320"/>
          </a:xfrm>
          <a:prstGeom prst="rect">
            <a:avLst/>
          </a:prstGeom>
          <a:noFill/>
          <a:ln/>
        </p:spPr>
        <p:txBody>
          <a:bodyPr wrap="square" lIns="0" tIns="0" rIns="0" bIns="0" rtlCol="0" anchor="ctr">
            <a:normAutofit/>
          </a:bodyPr>
          <a:lstStyle/>
          <a:p>
            <a:pPr algn="r" indent="0" marL="0">
              <a:buNone/>
            </a:pPr>
            <a:r>
              <a:rPr lang="en-US" sz="1700" b="1" dirty="0">
                <a:solidFill>
                  <a:srgbClr val="EDF5F7"/>
                </a:solidFill>
                <a:latin typeface="Inter" pitchFamily="34" charset="0"/>
                <a:ea typeface="Inter" pitchFamily="34" charset="-122"/>
                <a:cs typeface="Inter" pitchFamily="34" charset="-120"/>
              </a:rPr>
              <a:t>1.34</a:t>
            </a:r>
            <a:endParaRPr lang="en-US" sz="1700" dirty="0"/>
          </a:p>
        </p:txBody>
      </p:sp>
      <p:sp>
        <p:nvSpPr>
          <p:cNvPr id="49" name="Text 47"/>
          <p:cNvSpPr/>
          <p:nvPr/>
        </p:nvSpPr>
        <p:spPr>
          <a:xfrm>
            <a:off x="8439912" y="4096512"/>
            <a:ext cx="1609344" cy="182880"/>
          </a:xfrm>
          <a:prstGeom prst="rect">
            <a:avLst/>
          </a:prstGeom>
          <a:noFill/>
          <a:ln/>
        </p:spPr>
        <p:txBody>
          <a:bodyPr wrap="square" lIns="0" tIns="0" rIns="0" bIns="0" rtlCol="0" anchor="ctr">
            <a:normAutofit/>
          </a:bodyPr>
          <a:lstStyle/>
          <a:p>
            <a:pPr indent="0" marL="0">
              <a:buNone/>
            </a:pPr>
            <a:r>
              <a:rPr lang="en-US" sz="900" dirty="0">
                <a:solidFill>
                  <a:srgbClr val="94A6B3"/>
                </a:solidFill>
                <a:latin typeface="Inter" pitchFamily="34" charset="0"/>
                <a:ea typeface="Inter" pitchFamily="34" charset="-122"/>
                <a:cs typeface="Inter" pitchFamily="34" charset="-120"/>
              </a:rPr>
              <a:t>OOS SHARPE</a:t>
            </a:r>
            <a:endParaRPr lang="en-US" sz="900" dirty="0"/>
          </a:p>
        </p:txBody>
      </p:sp>
      <p:sp>
        <p:nvSpPr>
          <p:cNvPr id="50" name="Text 48"/>
          <p:cNvSpPr/>
          <p:nvPr/>
        </p:nvSpPr>
        <p:spPr>
          <a:xfrm>
            <a:off x="10058400" y="4069080"/>
            <a:ext cx="1161288" cy="274320"/>
          </a:xfrm>
          <a:prstGeom prst="rect">
            <a:avLst/>
          </a:prstGeom>
          <a:noFill/>
          <a:ln/>
        </p:spPr>
        <p:txBody>
          <a:bodyPr wrap="square" lIns="0" tIns="0" rIns="0" bIns="0" rtlCol="0" anchor="ctr">
            <a:normAutofit/>
          </a:bodyPr>
          <a:lstStyle/>
          <a:p>
            <a:pPr algn="r" indent="0" marL="0">
              <a:buNone/>
            </a:pPr>
            <a:r>
              <a:rPr lang="en-US" sz="1700" b="1" dirty="0">
                <a:solidFill>
                  <a:srgbClr val="F1C479"/>
                </a:solidFill>
                <a:latin typeface="Inter" pitchFamily="34" charset="0"/>
                <a:ea typeface="Inter" pitchFamily="34" charset="-122"/>
                <a:cs typeface="Inter" pitchFamily="34" charset="-120"/>
              </a:rPr>
              <a:t>0.31</a:t>
            </a:r>
            <a:endParaRPr lang="en-US" sz="1700" dirty="0"/>
          </a:p>
        </p:txBody>
      </p:sp>
      <p:sp>
        <p:nvSpPr>
          <p:cNvPr id="51" name="Text 49"/>
          <p:cNvSpPr/>
          <p:nvPr/>
        </p:nvSpPr>
        <p:spPr>
          <a:xfrm>
            <a:off x="8439912" y="4599432"/>
            <a:ext cx="1609344" cy="182880"/>
          </a:xfrm>
          <a:prstGeom prst="rect">
            <a:avLst/>
          </a:prstGeom>
          <a:noFill/>
          <a:ln/>
        </p:spPr>
        <p:txBody>
          <a:bodyPr wrap="square" lIns="0" tIns="0" rIns="0" bIns="0" rtlCol="0" anchor="ctr">
            <a:normAutofit/>
          </a:bodyPr>
          <a:lstStyle/>
          <a:p>
            <a:pPr indent="0" marL="0">
              <a:buNone/>
            </a:pPr>
            <a:r>
              <a:rPr lang="en-US" sz="900" dirty="0">
                <a:solidFill>
                  <a:srgbClr val="94A6B3"/>
                </a:solidFill>
                <a:latin typeface="Inter" pitchFamily="34" charset="0"/>
                <a:ea typeface="Inter" pitchFamily="34" charset="-122"/>
                <a:cs typeface="Inter" pitchFamily="34" charset="-120"/>
              </a:rPr>
              <a:t>TRADES</a:t>
            </a:r>
            <a:endParaRPr lang="en-US" sz="900" dirty="0"/>
          </a:p>
        </p:txBody>
      </p:sp>
      <p:sp>
        <p:nvSpPr>
          <p:cNvPr id="52" name="Text 50"/>
          <p:cNvSpPr/>
          <p:nvPr/>
        </p:nvSpPr>
        <p:spPr>
          <a:xfrm>
            <a:off x="10058400" y="4572000"/>
            <a:ext cx="1161288" cy="274320"/>
          </a:xfrm>
          <a:prstGeom prst="rect">
            <a:avLst/>
          </a:prstGeom>
          <a:noFill/>
          <a:ln/>
        </p:spPr>
        <p:txBody>
          <a:bodyPr wrap="square" lIns="0" tIns="0" rIns="0" bIns="0" rtlCol="0" anchor="ctr">
            <a:normAutofit/>
          </a:bodyPr>
          <a:lstStyle/>
          <a:p>
            <a:pPr algn="r" indent="0" marL="0">
              <a:buNone/>
            </a:pPr>
            <a:r>
              <a:rPr lang="en-US" sz="1700" b="1" dirty="0">
                <a:solidFill>
                  <a:srgbClr val="EDF5F7"/>
                </a:solidFill>
                <a:latin typeface="Inter" pitchFamily="34" charset="0"/>
                <a:ea typeface="Inter" pitchFamily="34" charset="-122"/>
                <a:cs typeface="Inter" pitchFamily="34" charset="-120"/>
              </a:rPr>
              <a:t>218</a:t>
            </a:r>
            <a:endParaRPr lang="en-US" sz="1700" dirty="0"/>
          </a:p>
        </p:txBody>
      </p:sp>
      <p:sp>
        <p:nvSpPr>
          <p:cNvPr id="53" name="Text 51"/>
          <p:cNvSpPr/>
          <p:nvPr/>
        </p:nvSpPr>
        <p:spPr>
          <a:xfrm>
            <a:off x="713232" y="5696712"/>
            <a:ext cx="8595360" cy="265176"/>
          </a:xfrm>
          <a:prstGeom prst="rect">
            <a:avLst/>
          </a:prstGeom>
          <a:noFill/>
          <a:ln/>
        </p:spPr>
        <p:txBody>
          <a:bodyPr wrap="square" lIns="0" tIns="0" rIns="0" bIns="0" rtlCol="0" anchor="ctr">
            <a:normAutofit/>
          </a:bodyPr>
          <a:lstStyle/>
          <a:p>
            <a:pPr indent="0" marL="0">
              <a:buNone/>
            </a:pPr>
            <a:r>
              <a:rPr lang="en-US" sz="1400" b="1" dirty="0">
                <a:solidFill>
                  <a:srgbClr val="F1C479"/>
                </a:solidFill>
                <a:latin typeface="Inter" pitchFamily="34" charset="0"/>
                <a:ea typeface="Inter" pitchFamily="34" charset="-122"/>
                <a:cs typeface="Inter" pitchFamily="34" charset="-120"/>
              </a:rPr>
              <a:t>PROVISORISCH: NICHT VALIDIERT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TRADE EXPLORER</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18</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17 / FORENSICS</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Jeder Trade ist erklärbar und einzeln überprüfbar.</a:t>
            </a:r>
            <a:endParaRPr lang="en-US" sz="2900" dirty="0"/>
          </a:p>
        </p:txBody>
      </p:sp>
      <p:sp>
        <p:nvSpPr>
          <p:cNvPr id="11" name="Shape 9"/>
          <p:cNvSpPr/>
          <p:nvPr/>
        </p:nvSpPr>
        <p:spPr>
          <a:xfrm>
            <a:off x="685800" y="2368296"/>
            <a:ext cx="7287768" cy="3236976"/>
          </a:xfrm>
          <a:prstGeom prst="roundRect">
            <a:avLst>
              <a:gd name="adj" fmla="val 3955"/>
            </a:avLst>
          </a:prstGeom>
          <a:solidFill>
            <a:srgbClr val="121A24"/>
          </a:solidFill>
          <a:ln w="8890">
            <a:solidFill>
              <a:srgbClr val="263442"/>
            </a:solidFill>
            <a:prstDash val="solid"/>
          </a:ln>
        </p:spPr>
      </p:sp>
      <p:sp>
        <p:nvSpPr>
          <p:cNvPr id="12" name="Text 10"/>
          <p:cNvSpPr/>
          <p:nvPr/>
        </p:nvSpPr>
        <p:spPr>
          <a:xfrm>
            <a:off x="886968" y="2660904"/>
            <a:ext cx="950976" cy="192024"/>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TRADE</a:t>
            </a:r>
            <a:endParaRPr lang="en-US" sz="900" dirty="0"/>
          </a:p>
        </p:txBody>
      </p:sp>
      <p:sp>
        <p:nvSpPr>
          <p:cNvPr id="13" name="Text 11"/>
          <p:cNvSpPr/>
          <p:nvPr/>
        </p:nvSpPr>
        <p:spPr>
          <a:xfrm>
            <a:off x="2066544" y="2660904"/>
            <a:ext cx="2377440" cy="192024"/>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ENTRY → EXIT</a:t>
            </a:r>
            <a:endParaRPr lang="en-US" sz="900" dirty="0"/>
          </a:p>
        </p:txBody>
      </p:sp>
      <p:sp>
        <p:nvSpPr>
          <p:cNvPr id="14" name="Text 12"/>
          <p:cNvSpPr/>
          <p:nvPr/>
        </p:nvSpPr>
        <p:spPr>
          <a:xfrm>
            <a:off x="4626864" y="2660904"/>
            <a:ext cx="950976" cy="192024"/>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NET P&amp;L</a:t>
            </a:r>
            <a:endParaRPr lang="en-US" sz="900" dirty="0"/>
          </a:p>
        </p:txBody>
      </p:sp>
      <p:sp>
        <p:nvSpPr>
          <p:cNvPr id="15" name="Text 13"/>
          <p:cNvSpPr/>
          <p:nvPr/>
        </p:nvSpPr>
        <p:spPr>
          <a:xfrm>
            <a:off x="5687568" y="2660904"/>
            <a:ext cx="950976" cy="192024"/>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EXECUTION</a:t>
            </a:r>
            <a:endParaRPr lang="en-US" sz="900" dirty="0"/>
          </a:p>
        </p:txBody>
      </p:sp>
      <p:sp>
        <p:nvSpPr>
          <p:cNvPr id="16" name="Text 14"/>
          <p:cNvSpPr/>
          <p:nvPr/>
        </p:nvSpPr>
        <p:spPr>
          <a:xfrm>
            <a:off x="6995160" y="2660904"/>
            <a:ext cx="950976" cy="192024"/>
          </a:xfrm>
          <a:prstGeom prst="rect">
            <a:avLst/>
          </a:prstGeom>
          <a:noFill/>
          <a:ln/>
        </p:spPr>
        <p:txBody>
          <a:bodyPr wrap="square" lIns="0" tIns="0" rIns="0" bIns="0" rtlCol="0" anchor="ctr">
            <a:normAutofit/>
          </a:bodyPr>
          <a:lstStyle/>
          <a:p>
            <a:pPr indent="0" marL="0">
              <a:buNone/>
            </a:pPr>
            <a:r>
              <a:rPr lang="en-US" sz="900" b="1" dirty="0">
                <a:solidFill>
                  <a:srgbClr val="69DDCF"/>
                </a:solidFill>
                <a:latin typeface="Inter" pitchFamily="34" charset="0"/>
                <a:ea typeface="Inter" pitchFamily="34" charset="-122"/>
                <a:cs typeface="Inter" pitchFamily="34" charset="-120"/>
              </a:rPr>
              <a:t>STATUS</a:t>
            </a:r>
            <a:endParaRPr lang="en-US" sz="900" dirty="0"/>
          </a:p>
        </p:txBody>
      </p:sp>
      <p:sp>
        <p:nvSpPr>
          <p:cNvPr id="17" name="Shape 15"/>
          <p:cNvSpPr/>
          <p:nvPr/>
        </p:nvSpPr>
        <p:spPr>
          <a:xfrm>
            <a:off x="886968" y="2990088"/>
            <a:ext cx="6793992" cy="0"/>
          </a:xfrm>
          <a:prstGeom prst="line">
            <a:avLst/>
          </a:prstGeom>
          <a:noFill/>
          <a:ln w="7620">
            <a:solidFill>
              <a:srgbClr val="263442"/>
            </a:solidFill>
            <a:prstDash val="solid"/>
          </a:ln>
        </p:spPr>
      </p:sp>
      <p:sp>
        <p:nvSpPr>
          <p:cNvPr id="18" name="Text 16"/>
          <p:cNvSpPr/>
          <p:nvPr/>
        </p:nvSpPr>
        <p:spPr>
          <a:xfrm>
            <a:off x="886968" y="3081528"/>
            <a:ext cx="960120" cy="265176"/>
          </a:xfrm>
          <a:prstGeom prst="rect">
            <a:avLst/>
          </a:prstGeom>
          <a:noFill/>
          <a:ln/>
        </p:spPr>
        <p:txBody>
          <a:bodyPr wrap="square" lIns="0" tIns="0" rIns="0" bIns="0" rtlCol="0" anchor="ctr">
            <a:normAutofit/>
          </a:bodyPr>
          <a:lstStyle/>
          <a:p>
            <a:pPr indent="0" marL="0">
              <a:buNone/>
            </a:pPr>
            <a:r>
              <a:rPr lang="en-US" sz="1100" b="1" dirty="0">
                <a:solidFill>
                  <a:srgbClr val="EDF5F7"/>
                </a:solidFill>
                <a:latin typeface="Inter" pitchFamily="34" charset="0"/>
                <a:ea typeface="Inter" pitchFamily="34" charset="-122"/>
                <a:cs typeface="Inter" pitchFamily="34" charset="-120"/>
              </a:rPr>
              <a:t>#108</a:t>
            </a:r>
            <a:endParaRPr lang="en-US" sz="1100" dirty="0"/>
          </a:p>
        </p:txBody>
      </p:sp>
      <p:sp>
        <p:nvSpPr>
          <p:cNvPr id="19" name="Text 17"/>
          <p:cNvSpPr/>
          <p:nvPr/>
        </p:nvSpPr>
        <p:spPr>
          <a:xfrm>
            <a:off x="2066544" y="3081528"/>
            <a:ext cx="237744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09:46 → 10:13</a:t>
            </a:r>
            <a:endParaRPr lang="en-US" sz="1100" dirty="0"/>
          </a:p>
        </p:txBody>
      </p:sp>
      <p:sp>
        <p:nvSpPr>
          <p:cNvPr id="20" name="Text 18"/>
          <p:cNvSpPr/>
          <p:nvPr/>
        </p:nvSpPr>
        <p:spPr>
          <a:xfrm>
            <a:off x="4626864" y="3081528"/>
            <a:ext cx="960120" cy="265176"/>
          </a:xfrm>
          <a:prstGeom prst="rect">
            <a:avLst/>
          </a:prstGeom>
          <a:noFill/>
          <a:ln/>
        </p:spPr>
        <p:txBody>
          <a:bodyPr wrap="square" lIns="0" tIns="0" rIns="0" bIns="0" rtlCol="0" anchor="ctr">
            <a:normAutofit/>
          </a:bodyPr>
          <a:lstStyle/>
          <a:p>
            <a:pPr indent="0" marL="0">
              <a:buNone/>
            </a:pPr>
            <a:r>
              <a:rPr lang="en-US" sz="1100" dirty="0">
                <a:solidFill>
                  <a:srgbClr val="91DFC0"/>
                </a:solidFill>
                <a:latin typeface="Inter" pitchFamily="34" charset="0"/>
                <a:ea typeface="Inter" pitchFamily="34" charset="-122"/>
                <a:cs typeface="Inter" pitchFamily="34" charset="-120"/>
              </a:rPr>
              <a:t>+1.8R</a:t>
            </a:r>
            <a:endParaRPr lang="en-US" sz="1100" dirty="0"/>
          </a:p>
        </p:txBody>
      </p:sp>
      <p:sp>
        <p:nvSpPr>
          <p:cNvPr id="21" name="Text 19"/>
          <p:cNvSpPr/>
          <p:nvPr/>
        </p:nvSpPr>
        <p:spPr>
          <a:xfrm>
            <a:off x="5687568" y="3081528"/>
            <a:ext cx="96012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Limit → stop</a:t>
            </a:r>
            <a:endParaRPr lang="en-US" sz="1100" dirty="0"/>
          </a:p>
        </p:txBody>
      </p:sp>
      <p:sp>
        <p:nvSpPr>
          <p:cNvPr id="22" name="Text 20"/>
          <p:cNvSpPr/>
          <p:nvPr/>
        </p:nvSpPr>
        <p:spPr>
          <a:xfrm>
            <a:off x="6995160" y="3081528"/>
            <a:ext cx="96012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OK</a:t>
            </a:r>
            <a:endParaRPr lang="en-US" sz="1100" dirty="0"/>
          </a:p>
        </p:txBody>
      </p:sp>
      <p:sp>
        <p:nvSpPr>
          <p:cNvPr id="23" name="Shape 21"/>
          <p:cNvSpPr/>
          <p:nvPr/>
        </p:nvSpPr>
        <p:spPr>
          <a:xfrm>
            <a:off x="886968" y="3557016"/>
            <a:ext cx="6793992" cy="0"/>
          </a:xfrm>
          <a:prstGeom prst="line">
            <a:avLst/>
          </a:prstGeom>
          <a:noFill/>
          <a:ln w="7620">
            <a:solidFill>
              <a:srgbClr val="263442"/>
            </a:solidFill>
            <a:prstDash val="solid"/>
          </a:ln>
        </p:spPr>
      </p:sp>
      <p:sp>
        <p:nvSpPr>
          <p:cNvPr id="24" name="Text 22"/>
          <p:cNvSpPr/>
          <p:nvPr/>
        </p:nvSpPr>
        <p:spPr>
          <a:xfrm>
            <a:off x="886968" y="3648456"/>
            <a:ext cx="960120" cy="265176"/>
          </a:xfrm>
          <a:prstGeom prst="rect">
            <a:avLst/>
          </a:prstGeom>
          <a:noFill/>
          <a:ln/>
        </p:spPr>
        <p:txBody>
          <a:bodyPr wrap="square" lIns="0" tIns="0" rIns="0" bIns="0" rtlCol="0" anchor="ctr">
            <a:normAutofit/>
          </a:bodyPr>
          <a:lstStyle/>
          <a:p>
            <a:pPr indent="0" marL="0">
              <a:buNone/>
            </a:pPr>
            <a:r>
              <a:rPr lang="en-US" sz="1100" b="1" dirty="0">
                <a:solidFill>
                  <a:srgbClr val="EDF5F7"/>
                </a:solidFill>
                <a:latin typeface="Inter" pitchFamily="34" charset="0"/>
                <a:ea typeface="Inter" pitchFamily="34" charset="-122"/>
                <a:cs typeface="Inter" pitchFamily="34" charset="-120"/>
              </a:rPr>
              <a:t>#109</a:t>
            </a:r>
            <a:endParaRPr lang="en-US" sz="1100" dirty="0"/>
          </a:p>
        </p:txBody>
      </p:sp>
      <p:sp>
        <p:nvSpPr>
          <p:cNvPr id="25" name="Text 23"/>
          <p:cNvSpPr/>
          <p:nvPr/>
        </p:nvSpPr>
        <p:spPr>
          <a:xfrm>
            <a:off x="2066544" y="3648456"/>
            <a:ext cx="237744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10:04 → 10:07</a:t>
            </a:r>
            <a:endParaRPr lang="en-US" sz="1100" dirty="0"/>
          </a:p>
        </p:txBody>
      </p:sp>
      <p:sp>
        <p:nvSpPr>
          <p:cNvPr id="26" name="Text 24"/>
          <p:cNvSpPr/>
          <p:nvPr/>
        </p:nvSpPr>
        <p:spPr>
          <a:xfrm>
            <a:off x="4626864" y="3648456"/>
            <a:ext cx="96012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−1.0R</a:t>
            </a:r>
            <a:endParaRPr lang="en-US" sz="1100" dirty="0"/>
          </a:p>
        </p:txBody>
      </p:sp>
      <p:sp>
        <p:nvSpPr>
          <p:cNvPr id="27" name="Text 25"/>
          <p:cNvSpPr/>
          <p:nvPr/>
        </p:nvSpPr>
        <p:spPr>
          <a:xfrm>
            <a:off x="5687568" y="3648456"/>
            <a:ext cx="96012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Market → SL</a:t>
            </a:r>
            <a:endParaRPr lang="en-US" sz="1100" dirty="0"/>
          </a:p>
        </p:txBody>
      </p:sp>
      <p:sp>
        <p:nvSpPr>
          <p:cNvPr id="28" name="Text 26"/>
          <p:cNvSpPr/>
          <p:nvPr/>
        </p:nvSpPr>
        <p:spPr>
          <a:xfrm>
            <a:off x="6995160" y="3648456"/>
            <a:ext cx="96012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OK</a:t>
            </a:r>
            <a:endParaRPr lang="en-US" sz="1100" dirty="0"/>
          </a:p>
        </p:txBody>
      </p:sp>
      <p:sp>
        <p:nvSpPr>
          <p:cNvPr id="29" name="Shape 27"/>
          <p:cNvSpPr/>
          <p:nvPr/>
        </p:nvSpPr>
        <p:spPr>
          <a:xfrm>
            <a:off x="886968" y="4123944"/>
            <a:ext cx="6793992" cy="0"/>
          </a:xfrm>
          <a:prstGeom prst="line">
            <a:avLst/>
          </a:prstGeom>
          <a:noFill/>
          <a:ln w="7620">
            <a:solidFill>
              <a:srgbClr val="263442"/>
            </a:solidFill>
            <a:prstDash val="solid"/>
          </a:ln>
        </p:spPr>
      </p:sp>
      <p:sp>
        <p:nvSpPr>
          <p:cNvPr id="30" name="Text 28"/>
          <p:cNvSpPr/>
          <p:nvPr/>
        </p:nvSpPr>
        <p:spPr>
          <a:xfrm>
            <a:off x="886968" y="4215384"/>
            <a:ext cx="960120" cy="265176"/>
          </a:xfrm>
          <a:prstGeom prst="rect">
            <a:avLst/>
          </a:prstGeom>
          <a:noFill/>
          <a:ln/>
        </p:spPr>
        <p:txBody>
          <a:bodyPr wrap="square" lIns="0" tIns="0" rIns="0" bIns="0" rtlCol="0" anchor="ctr">
            <a:normAutofit/>
          </a:bodyPr>
          <a:lstStyle/>
          <a:p>
            <a:pPr indent="0" marL="0">
              <a:buNone/>
            </a:pPr>
            <a:r>
              <a:rPr lang="en-US" sz="1100" b="1" dirty="0">
                <a:solidFill>
                  <a:srgbClr val="EDF5F7"/>
                </a:solidFill>
                <a:latin typeface="Inter" pitchFamily="34" charset="0"/>
                <a:ea typeface="Inter" pitchFamily="34" charset="-122"/>
                <a:cs typeface="Inter" pitchFamily="34" charset="-120"/>
              </a:rPr>
              <a:t>#110</a:t>
            </a:r>
            <a:endParaRPr lang="en-US" sz="1100" dirty="0"/>
          </a:p>
        </p:txBody>
      </p:sp>
      <p:sp>
        <p:nvSpPr>
          <p:cNvPr id="31" name="Text 29"/>
          <p:cNvSpPr/>
          <p:nvPr/>
        </p:nvSpPr>
        <p:spPr>
          <a:xfrm>
            <a:off x="2066544" y="4215384"/>
            <a:ext cx="237744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09:51 → 09:51</a:t>
            </a:r>
            <a:endParaRPr lang="en-US" sz="1100" dirty="0"/>
          </a:p>
        </p:txBody>
      </p:sp>
      <p:sp>
        <p:nvSpPr>
          <p:cNvPr id="32" name="Text 30"/>
          <p:cNvSpPr/>
          <p:nvPr/>
        </p:nvSpPr>
        <p:spPr>
          <a:xfrm>
            <a:off x="4626864" y="4215384"/>
            <a:ext cx="96012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+2.0R?</a:t>
            </a:r>
            <a:endParaRPr lang="en-US" sz="1100" dirty="0"/>
          </a:p>
        </p:txBody>
      </p:sp>
      <p:sp>
        <p:nvSpPr>
          <p:cNvPr id="33" name="Text 31"/>
          <p:cNvSpPr/>
          <p:nvPr/>
        </p:nvSpPr>
        <p:spPr>
          <a:xfrm>
            <a:off x="5687568" y="4215384"/>
            <a:ext cx="96012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Target + SL</a:t>
            </a:r>
            <a:endParaRPr lang="en-US" sz="1100" dirty="0"/>
          </a:p>
        </p:txBody>
      </p:sp>
      <p:sp>
        <p:nvSpPr>
          <p:cNvPr id="34" name="Text 32"/>
          <p:cNvSpPr/>
          <p:nvPr/>
        </p:nvSpPr>
        <p:spPr>
          <a:xfrm>
            <a:off x="6995160" y="4215384"/>
            <a:ext cx="960120" cy="265176"/>
          </a:xfrm>
          <a:prstGeom prst="rect">
            <a:avLst/>
          </a:prstGeom>
          <a:noFill/>
          <a:ln/>
        </p:spPr>
        <p:txBody>
          <a:bodyPr wrap="square" lIns="0" tIns="0" rIns="0" bIns="0" rtlCol="0" anchor="ctr">
            <a:normAutofit/>
          </a:bodyPr>
          <a:lstStyle/>
          <a:p>
            <a:pPr indent="0" marL="0">
              <a:buNone/>
            </a:pPr>
            <a:r>
              <a:rPr lang="en-US" sz="1100" dirty="0">
                <a:solidFill>
                  <a:srgbClr val="F1C479"/>
                </a:solidFill>
                <a:latin typeface="Inter" pitchFamily="34" charset="0"/>
                <a:ea typeface="Inter" pitchFamily="34" charset="-122"/>
                <a:cs typeface="Inter" pitchFamily="34" charset="-120"/>
              </a:rPr>
              <a:t>AMBIG.</a:t>
            </a:r>
            <a:endParaRPr lang="en-US" sz="1100" dirty="0"/>
          </a:p>
        </p:txBody>
      </p:sp>
      <p:sp>
        <p:nvSpPr>
          <p:cNvPr id="35" name="Shape 33"/>
          <p:cNvSpPr/>
          <p:nvPr/>
        </p:nvSpPr>
        <p:spPr>
          <a:xfrm>
            <a:off x="886968" y="4690872"/>
            <a:ext cx="6793992" cy="0"/>
          </a:xfrm>
          <a:prstGeom prst="line">
            <a:avLst/>
          </a:prstGeom>
          <a:noFill/>
          <a:ln w="7620">
            <a:solidFill>
              <a:srgbClr val="263442"/>
            </a:solidFill>
            <a:prstDash val="solid"/>
          </a:ln>
        </p:spPr>
      </p:sp>
      <p:sp>
        <p:nvSpPr>
          <p:cNvPr id="36" name="Text 34"/>
          <p:cNvSpPr/>
          <p:nvPr/>
        </p:nvSpPr>
        <p:spPr>
          <a:xfrm>
            <a:off x="886968" y="4782312"/>
            <a:ext cx="960120" cy="265176"/>
          </a:xfrm>
          <a:prstGeom prst="rect">
            <a:avLst/>
          </a:prstGeom>
          <a:noFill/>
          <a:ln/>
        </p:spPr>
        <p:txBody>
          <a:bodyPr wrap="square" lIns="0" tIns="0" rIns="0" bIns="0" rtlCol="0" anchor="ctr">
            <a:normAutofit/>
          </a:bodyPr>
          <a:lstStyle/>
          <a:p>
            <a:pPr indent="0" marL="0">
              <a:buNone/>
            </a:pPr>
            <a:r>
              <a:rPr lang="en-US" sz="1100" b="1" dirty="0">
                <a:solidFill>
                  <a:srgbClr val="EDF5F7"/>
                </a:solidFill>
                <a:latin typeface="Inter" pitchFamily="34" charset="0"/>
                <a:ea typeface="Inter" pitchFamily="34" charset="-122"/>
                <a:cs typeface="Inter" pitchFamily="34" charset="-120"/>
              </a:rPr>
              <a:t>#111</a:t>
            </a:r>
            <a:endParaRPr lang="en-US" sz="1100" dirty="0"/>
          </a:p>
        </p:txBody>
      </p:sp>
      <p:sp>
        <p:nvSpPr>
          <p:cNvPr id="37" name="Text 35"/>
          <p:cNvSpPr/>
          <p:nvPr/>
        </p:nvSpPr>
        <p:spPr>
          <a:xfrm>
            <a:off x="2066544" y="4782312"/>
            <a:ext cx="237744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11:12 → 11:39</a:t>
            </a:r>
            <a:endParaRPr lang="en-US" sz="1100" dirty="0"/>
          </a:p>
        </p:txBody>
      </p:sp>
      <p:sp>
        <p:nvSpPr>
          <p:cNvPr id="38" name="Text 36"/>
          <p:cNvSpPr/>
          <p:nvPr/>
        </p:nvSpPr>
        <p:spPr>
          <a:xfrm>
            <a:off x="4626864" y="4782312"/>
            <a:ext cx="96012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−0.4R</a:t>
            </a:r>
            <a:endParaRPr lang="en-US" sz="1100" dirty="0"/>
          </a:p>
        </p:txBody>
      </p:sp>
      <p:sp>
        <p:nvSpPr>
          <p:cNvPr id="39" name="Text 37"/>
          <p:cNvSpPr/>
          <p:nvPr/>
        </p:nvSpPr>
        <p:spPr>
          <a:xfrm>
            <a:off x="5687568" y="4782312"/>
            <a:ext cx="960120" cy="265176"/>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Partial fill</a:t>
            </a:r>
            <a:endParaRPr lang="en-US" sz="1100" dirty="0"/>
          </a:p>
        </p:txBody>
      </p:sp>
      <p:sp>
        <p:nvSpPr>
          <p:cNvPr id="40" name="Text 38"/>
          <p:cNvSpPr/>
          <p:nvPr/>
        </p:nvSpPr>
        <p:spPr>
          <a:xfrm>
            <a:off x="6995160" y="4782312"/>
            <a:ext cx="960120" cy="265176"/>
          </a:xfrm>
          <a:prstGeom prst="rect">
            <a:avLst/>
          </a:prstGeom>
          <a:noFill/>
          <a:ln/>
        </p:spPr>
        <p:txBody>
          <a:bodyPr wrap="square" lIns="0" tIns="0" rIns="0" bIns="0" rtlCol="0" anchor="ctr">
            <a:normAutofit/>
          </a:bodyPr>
          <a:lstStyle/>
          <a:p>
            <a:pPr indent="0" marL="0">
              <a:buNone/>
            </a:pPr>
            <a:r>
              <a:rPr lang="en-US" sz="1100" dirty="0">
                <a:solidFill>
                  <a:srgbClr val="F1C479"/>
                </a:solidFill>
                <a:latin typeface="Inter" pitchFamily="34" charset="0"/>
                <a:ea typeface="Inter" pitchFamily="34" charset="-122"/>
                <a:cs typeface="Inter" pitchFamily="34" charset="-120"/>
              </a:rPr>
              <a:t>CHECK</a:t>
            </a:r>
            <a:endParaRPr lang="en-US" sz="1100" dirty="0"/>
          </a:p>
        </p:txBody>
      </p:sp>
      <p:sp>
        <p:nvSpPr>
          <p:cNvPr id="41" name="Shape 39"/>
          <p:cNvSpPr/>
          <p:nvPr/>
        </p:nvSpPr>
        <p:spPr>
          <a:xfrm>
            <a:off x="8174736" y="2368296"/>
            <a:ext cx="3355848" cy="3236976"/>
          </a:xfrm>
          <a:prstGeom prst="roundRect">
            <a:avLst>
              <a:gd name="adj" fmla="val 3955"/>
            </a:avLst>
          </a:prstGeom>
          <a:solidFill>
            <a:srgbClr val="16212C"/>
          </a:solidFill>
          <a:ln w="8890">
            <a:solidFill>
              <a:srgbClr val="263442"/>
            </a:solidFill>
            <a:prstDash val="solid"/>
          </a:ln>
        </p:spPr>
      </p:sp>
      <p:sp>
        <p:nvSpPr>
          <p:cNvPr id="42" name="Text 40"/>
          <p:cNvSpPr/>
          <p:nvPr/>
        </p:nvSpPr>
        <p:spPr>
          <a:xfrm>
            <a:off x="8403336" y="2688336"/>
            <a:ext cx="2734056" cy="201168"/>
          </a:xfrm>
          <a:prstGeom prst="rect">
            <a:avLst/>
          </a:prstGeom>
          <a:noFill/>
          <a:ln/>
        </p:spPr>
        <p:txBody>
          <a:bodyPr wrap="square" lIns="0" tIns="0" rIns="0" bIns="0" rtlCol="0" anchor="ctr">
            <a:normAutofit/>
          </a:bodyPr>
          <a:lstStyle/>
          <a:p>
            <a:pPr indent="0" marL="0">
              <a:buNone/>
            </a:pPr>
            <a:r>
              <a:rPr lang="en-US" sz="1100" b="1" dirty="0">
                <a:solidFill>
                  <a:srgbClr val="69DDCF"/>
                </a:solidFill>
                <a:latin typeface="Inter" pitchFamily="34" charset="0"/>
                <a:ea typeface="Inter" pitchFamily="34" charset="-122"/>
                <a:cs typeface="Inter" pitchFamily="34" charset="-120"/>
              </a:rPr>
              <a:t>TRADE #110</a:t>
            </a:r>
            <a:endParaRPr lang="en-US" sz="1100" dirty="0"/>
          </a:p>
        </p:txBody>
      </p:sp>
      <p:sp>
        <p:nvSpPr>
          <p:cNvPr id="43" name="Text 41"/>
          <p:cNvSpPr/>
          <p:nvPr/>
        </p:nvSpPr>
        <p:spPr>
          <a:xfrm>
            <a:off x="8403336" y="3099816"/>
            <a:ext cx="2715768" cy="292608"/>
          </a:xfrm>
          <a:prstGeom prst="rect">
            <a:avLst/>
          </a:prstGeom>
          <a:noFill/>
          <a:ln/>
        </p:spPr>
        <p:txBody>
          <a:bodyPr wrap="square" lIns="0" tIns="0" rIns="0" bIns="0" rtlCol="0" anchor="ctr">
            <a:normAutofit/>
          </a:bodyPr>
          <a:lstStyle/>
          <a:p>
            <a:pPr indent="0" marL="0">
              <a:buNone/>
            </a:pPr>
            <a:r>
              <a:rPr lang="en-US" sz="1600" b="1" dirty="0">
                <a:solidFill>
                  <a:srgbClr val="F1C479"/>
                </a:solidFill>
                <a:latin typeface="Inter" pitchFamily="34" charset="0"/>
                <a:ea typeface="Inter" pitchFamily="34" charset="-122"/>
                <a:cs typeface="Inter" pitchFamily="34" charset="-120"/>
              </a:rPr>
              <a:t>AMBIGUOUS FILL</a:t>
            </a:r>
            <a:endParaRPr lang="en-US" sz="1600" dirty="0"/>
          </a:p>
        </p:txBody>
      </p:sp>
      <p:sp>
        <p:nvSpPr>
          <p:cNvPr id="44" name="Text 42"/>
          <p:cNvSpPr/>
          <p:nvPr/>
        </p:nvSpPr>
        <p:spPr>
          <a:xfrm>
            <a:off x="8394192" y="3621024"/>
            <a:ext cx="2688336" cy="1133856"/>
          </a:xfrm>
          <a:prstGeom prst="rect">
            <a:avLst/>
          </a:prstGeom>
          <a:noFill/>
          <a:ln/>
        </p:spPr>
        <p:txBody>
          <a:bodyPr wrap="square" lIns="0" tIns="0" rIns="0" bIns="0" rtlCol="0" anchor="ctr">
            <a:normAutofit/>
          </a:bodyPr>
          <a:lstStyle/>
          <a:p>
            <a:pPr indent="0" marL="0">
              <a:buNone/>
            </a:pPr>
            <a:r>
              <a:rPr lang="en-US" sz="1300" dirty="0">
                <a:solidFill>
                  <a:srgbClr val="EDF5F7"/>
                </a:solidFill>
                <a:latin typeface="Inter" pitchFamily="34" charset="0"/>
                <a:ea typeface="Inter" pitchFamily="34" charset="-122"/>
                <a:cs typeface="Inter" pitchFamily="34" charset="-120"/>
              </a:rPr>
              <a:t>Stop und Target liegen innerhalb desselben Bars. Die Daten erlauben keine eindeutige Reihenfolge.</a:t>
            </a:r>
            <a:endParaRPr lang="en-US" sz="1300" dirty="0"/>
          </a:p>
        </p:txBody>
      </p:sp>
      <p:sp>
        <p:nvSpPr>
          <p:cNvPr id="45" name="Text 43"/>
          <p:cNvSpPr/>
          <p:nvPr/>
        </p:nvSpPr>
        <p:spPr>
          <a:xfrm>
            <a:off x="8394192" y="5093208"/>
            <a:ext cx="2770632" cy="21031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REQUEST TICK DATA  ↗</a:t>
            </a:r>
            <a:endParaRPr lang="en-US" sz="1000" dirty="0"/>
          </a:p>
        </p:txBody>
      </p:sp>
      <p:sp>
        <p:nvSpPr>
          <p:cNvPr id="46" name="Text 44"/>
          <p:cNvSpPr/>
          <p:nvPr/>
        </p:nvSpPr>
        <p:spPr>
          <a:xfrm>
            <a:off x="566928" y="6291072"/>
            <a:ext cx="10972800" cy="128016"/>
          </a:xfrm>
          <a:prstGeom prst="rect">
            <a:avLst/>
          </a:prstGeom>
          <a:noFill/>
          <a:ln/>
        </p:spPr>
        <p:txBody>
          <a:bodyPr wrap="square" lIns="0" tIns="0" rIns="0" bIns="0" rtlCol="0" anchor="ctr">
            <a:normAutofit/>
          </a:bodyPr>
          <a:lstStyle/>
          <a:p>
            <a:pPr indent="0" marL="0">
              <a:buNone/>
            </a:pPr>
            <a:r>
              <a:rPr lang="en-US" sz="700" dirty="0">
                <a:solidFill>
                  <a:srgbClr val="607584"/>
                </a:solidFill>
                <a:latin typeface="Inter" pitchFamily="34" charset="0"/>
                <a:ea typeface="Inter" pitchFamily="34" charset="-122"/>
                <a:cs typeface="Inter" pitchFamily="34" charset="-120"/>
              </a:rPr>
              <a:t>Beispielzeilen sind fiktiv. Trade Ledger muss Zeitstempel, Order, Fill, Kosten und verfügbare Daten zeigen.</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AI RESEARCHER</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19</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18 / RESEARCH COPILOT</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JARVIS soll kritisch denken – nicht dich bestätigen.</a:t>
            </a:r>
            <a:endParaRPr lang="en-US" sz="2900" dirty="0"/>
          </a:p>
        </p:txBody>
      </p:sp>
      <p:sp>
        <p:nvSpPr>
          <p:cNvPr id="11" name="Shape 9"/>
          <p:cNvSpPr/>
          <p:nvPr/>
        </p:nvSpPr>
        <p:spPr>
          <a:xfrm>
            <a:off x="667512" y="2459736"/>
            <a:ext cx="5367528" cy="2916936"/>
          </a:xfrm>
          <a:prstGeom prst="roundRect">
            <a:avLst>
              <a:gd name="adj" fmla="val 4389"/>
            </a:avLst>
          </a:prstGeom>
          <a:solidFill>
            <a:srgbClr val="121A24"/>
          </a:solidFill>
          <a:ln w="8890">
            <a:solidFill>
              <a:srgbClr val="263442"/>
            </a:solidFill>
            <a:prstDash val="solid"/>
          </a:ln>
        </p:spPr>
      </p:sp>
      <p:sp>
        <p:nvSpPr>
          <p:cNvPr id="12" name="Shape 10"/>
          <p:cNvSpPr/>
          <p:nvPr/>
        </p:nvSpPr>
        <p:spPr>
          <a:xfrm>
            <a:off x="886968" y="2697480"/>
            <a:ext cx="749808" cy="265176"/>
          </a:xfrm>
          <a:prstGeom prst="roundRect">
            <a:avLst>
              <a:gd name="adj" fmla="val 27586"/>
            </a:avLst>
          </a:prstGeom>
          <a:solidFill>
            <a:srgbClr val="16212C"/>
          </a:solidFill>
          <a:ln w="6985">
            <a:solidFill>
              <a:srgbClr val="263442"/>
            </a:solidFill>
            <a:prstDash val="solid"/>
          </a:ln>
        </p:spPr>
      </p:sp>
      <p:sp>
        <p:nvSpPr>
          <p:cNvPr id="13" name="Text 11"/>
          <p:cNvSpPr/>
          <p:nvPr/>
        </p:nvSpPr>
        <p:spPr>
          <a:xfrm>
            <a:off x="969264" y="2724912"/>
            <a:ext cx="585216" cy="173736"/>
          </a:xfrm>
          <a:prstGeom prst="rect">
            <a:avLst/>
          </a:prstGeom>
          <a:noFill/>
          <a:ln/>
        </p:spPr>
        <p:txBody>
          <a:bodyPr wrap="square" lIns="0" tIns="0" rIns="0" bIns="0" rtlCol="0" anchor="ctr">
            <a:normAutofit/>
          </a:bodyPr>
          <a:lstStyle/>
          <a:p>
            <a:pPr indent="0" marL="0">
              <a:buNone/>
            </a:pPr>
            <a:r>
              <a:rPr lang="en-US" sz="800" b="1" spc="110" kern="0" dirty="0">
                <a:solidFill>
                  <a:srgbClr val="69DDCF"/>
                </a:solidFill>
                <a:latin typeface="Inter" pitchFamily="34" charset="0"/>
                <a:ea typeface="Inter" pitchFamily="34" charset="-122"/>
                <a:cs typeface="Inter" pitchFamily="34" charset="-120"/>
              </a:rPr>
              <a:t>USER</a:t>
            </a:r>
            <a:endParaRPr lang="en-US" sz="800" dirty="0"/>
          </a:p>
        </p:txBody>
      </p:sp>
      <p:sp>
        <p:nvSpPr>
          <p:cNvPr id="14" name="Text 12"/>
          <p:cNvSpPr/>
          <p:nvPr/>
        </p:nvSpPr>
        <p:spPr>
          <a:xfrm>
            <a:off x="914400" y="3209544"/>
            <a:ext cx="4700016" cy="1051560"/>
          </a:xfrm>
          <a:prstGeom prst="rect">
            <a:avLst/>
          </a:prstGeom>
          <a:noFill/>
          <a:ln/>
        </p:spPr>
        <p:txBody>
          <a:bodyPr wrap="square" lIns="0" tIns="0" rIns="0" bIns="0" rtlCol="0" anchor="ctr">
            <a:normAutofit/>
          </a:bodyPr>
          <a:lstStyle/>
          <a:p>
            <a:pPr indent="0" marL="0">
              <a:buNone/>
            </a:pPr>
            <a:r>
              <a:rPr lang="en-US" sz="2100" b="1" dirty="0">
                <a:solidFill>
                  <a:srgbClr val="EDF5F7"/>
                </a:solidFill>
                <a:latin typeface="Inter" pitchFamily="34" charset="0"/>
                <a:ea typeface="Inter" pitchFamily="34" charset="-122"/>
                <a:cs typeface="Inter" pitchFamily="34" charset="-120"/>
              </a:rPr>
              <a:t>„Der Backtest hat +24 %. Ist das eine gute Strategie?“</a:t>
            </a:r>
            <a:endParaRPr lang="en-US" sz="2100" dirty="0"/>
          </a:p>
        </p:txBody>
      </p:sp>
      <p:sp>
        <p:nvSpPr>
          <p:cNvPr id="15" name="Shape 13"/>
          <p:cNvSpPr/>
          <p:nvPr/>
        </p:nvSpPr>
        <p:spPr>
          <a:xfrm>
            <a:off x="6199632" y="2459736"/>
            <a:ext cx="5330952" cy="2916936"/>
          </a:xfrm>
          <a:prstGeom prst="roundRect">
            <a:avLst>
              <a:gd name="adj" fmla="val 4389"/>
            </a:avLst>
          </a:prstGeom>
          <a:solidFill>
            <a:srgbClr val="16212C"/>
          </a:solidFill>
          <a:ln w="8890">
            <a:solidFill>
              <a:srgbClr val="263442"/>
            </a:solidFill>
            <a:prstDash val="solid"/>
          </a:ln>
        </p:spPr>
      </p:sp>
      <p:sp>
        <p:nvSpPr>
          <p:cNvPr id="16" name="Shape 14"/>
          <p:cNvSpPr/>
          <p:nvPr/>
        </p:nvSpPr>
        <p:spPr>
          <a:xfrm>
            <a:off x="6428232" y="2697480"/>
            <a:ext cx="978408" cy="265176"/>
          </a:xfrm>
          <a:prstGeom prst="roundRect">
            <a:avLst>
              <a:gd name="adj" fmla="val 27586"/>
            </a:avLst>
          </a:prstGeom>
          <a:solidFill>
            <a:srgbClr val="16212C"/>
          </a:solidFill>
          <a:ln w="6985">
            <a:solidFill>
              <a:srgbClr val="263442"/>
            </a:solidFill>
            <a:prstDash val="solid"/>
          </a:ln>
        </p:spPr>
      </p:sp>
      <p:sp>
        <p:nvSpPr>
          <p:cNvPr id="17" name="Text 15"/>
          <p:cNvSpPr/>
          <p:nvPr/>
        </p:nvSpPr>
        <p:spPr>
          <a:xfrm>
            <a:off x="6510528" y="2724912"/>
            <a:ext cx="813816" cy="173736"/>
          </a:xfrm>
          <a:prstGeom prst="rect">
            <a:avLst/>
          </a:prstGeom>
          <a:noFill/>
          <a:ln/>
        </p:spPr>
        <p:txBody>
          <a:bodyPr wrap="square" lIns="0" tIns="0" rIns="0" bIns="0" rtlCol="0" anchor="ctr">
            <a:normAutofit/>
          </a:bodyPr>
          <a:lstStyle/>
          <a:p>
            <a:pPr indent="0" marL="0">
              <a:buNone/>
            </a:pPr>
            <a:r>
              <a:rPr lang="en-US" sz="800" b="1" spc="110" kern="0" dirty="0">
                <a:solidFill>
                  <a:srgbClr val="69DDCF"/>
                </a:solidFill>
                <a:latin typeface="Inter" pitchFamily="34" charset="0"/>
                <a:ea typeface="Inter" pitchFamily="34" charset="-122"/>
                <a:cs typeface="Inter" pitchFamily="34" charset="-120"/>
              </a:rPr>
              <a:t>JARVIS</a:t>
            </a:r>
            <a:endParaRPr lang="en-US" sz="800" dirty="0"/>
          </a:p>
        </p:txBody>
      </p:sp>
      <p:sp>
        <p:nvSpPr>
          <p:cNvPr id="18" name="Text 16"/>
          <p:cNvSpPr/>
          <p:nvPr/>
        </p:nvSpPr>
        <p:spPr>
          <a:xfrm>
            <a:off x="6455664" y="3136392"/>
            <a:ext cx="4553712" cy="1426464"/>
          </a:xfrm>
          <a:prstGeom prst="rect">
            <a:avLst/>
          </a:prstGeom>
          <a:noFill/>
          <a:ln/>
        </p:spPr>
        <p:txBody>
          <a:bodyPr wrap="square" lIns="0" tIns="0" rIns="0" bIns="0" rtlCol="0" anchor="ctr">
            <a:normAutofit/>
          </a:bodyPr>
          <a:lstStyle/>
          <a:p>
            <a:pPr indent="0" marL="0">
              <a:buNone/>
            </a:pPr>
            <a:r>
              <a:rPr lang="en-US" sz="1700" dirty="0">
                <a:solidFill>
                  <a:srgbClr val="EDF5F7"/>
                </a:solidFill>
                <a:latin typeface="Inter" pitchFamily="34" charset="0"/>
                <a:ea typeface="Inter" pitchFamily="34" charset="-122"/>
                <a:cs typeface="Inter" pitchFamily="34" charset="-120"/>
              </a:rPr>
              <a:t>„Noch nicht. Der Vorteil ist überwiegend In-Sample; die Strategie fällt bei höheren Kosten auseinander und 29 Varianten wurden geprüft.“</a:t>
            </a:r>
            <a:endParaRPr lang="en-US" sz="1700" dirty="0"/>
          </a:p>
        </p:txBody>
      </p:sp>
      <p:sp>
        <p:nvSpPr>
          <p:cNvPr id="19" name="Text 17"/>
          <p:cNvSpPr/>
          <p:nvPr/>
        </p:nvSpPr>
        <p:spPr>
          <a:xfrm>
            <a:off x="6455664" y="4965192"/>
            <a:ext cx="4636008" cy="246888"/>
          </a:xfrm>
          <a:prstGeom prst="rect">
            <a:avLst/>
          </a:prstGeom>
          <a:noFill/>
          <a:ln/>
        </p:spPr>
        <p:txBody>
          <a:bodyPr wrap="square" lIns="0" tIns="0" rIns="0" bIns="0" rtlCol="0" anchor="ctr">
            <a:normAutofit/>
          </a:bodyPr>
          <a:lstStyle/>
          <a:p>
            <a:pPr indent="0" marL="0">
              <a:buNone/>
            </a:pPr>
            <a:r>
              <a:rPr lang="en-US" sz="1100" b="1" dirty="0">
                <a:solidFill>
                  <a:srgbClr val="69DDCF"/>
                </a:solidFill>
                <a:latin typeface="Inter" pitchFamily="34" charset="0"/>
                <a:ea typeface="Inter" pitchFamily="34" charset="-122"/>
                <a:cs typeface="Inter" pitchFamily="34" charset="-120"/>
              </a:rPr>
              <a:t>NÄCHSTER TEST: OOS mit fixierten Regeln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EVIDENCE GATES</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20</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19 / DECISION SYSTEM</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Kein Blackbox-Score. Sichtbare Freigabekriterien.</a:t>
            </a:r>
            <a:endParaRPr lang="en-US" sz="2900" dirty="0"/>
          </a:p>
        </p:txBody>
      </p:sp>
      <p:sp>
        <p:nvSpPr>
          <p:cNvPr id="11" name="Shape 9"/>
          <p:cNvSpPr/>
          <p:nvPr/>
        </p:nvSpPr>
        <p:spPr>
          <a:xfrm>
            <a:off x="704088" y="2322576"/>
            <a:ext cx="10835640" cy="676656"/>
          </a:xfrm>
          <a:prstGeom prst="roundRect">
            <a:avLst>
              <a:gd name="adj" fmla="val 18919"/>
            </a:avLst>
          </a:prstGeom>
          <a:solidFill>
            <a:srgbClr val="121A24"/>
          </a:solidFill>
          <a:ln w="8890">
            <a:solidFill>
              <a:srgbClr val="263442"/>
            </a:solidFill>
            <a:prstDash val="solid"/>
          </a:ln>
        </p:spPr>
      </p:sp>
      <p:sp>
        <p:nvSpPr>
          <p:cNvPr id="12" name="Shape 10"/>
          <p:cNvSpPr/>
          <p:nvPr/>
        </p:nvSpPr>
        <p:spPr>
          <a:xfrm>
            <a:off x="914400" y="2532888"/>
            <a:ext cx="182880" cy="182880"/>
          </a:xfrm>
          <a:prstGeom prst="ellipse">
            <a:avLst/>
          </a:prstGeom>
          <a:solidFill>
            <a:srgbClr val="F18E91"/>
          </a:solidFill>
          <a:ln w="12700">
            <a:solidFill>
              <a:srgbClr val="F18E91">
                <a:alpha val="0"/>
              </a:srgbClr>
            </a:solidFill>
            <a:prstDash val="solid"/>
          </a:ln>
        </p:spPr>
      </p:sp>
      <p:sp>
        <p:nvSpPr>
          <p:cNvPr id="13" name="Text 11"/>
          <p:cNvSpPr/>
          <p:nvPr/>
        </p:nvSpPr>
        <p:spPr>
          <a:xfrm>
            <a:off x="1307592" y="2487168"/>
            <a:ext cx="1920240" cy="283464"/>
          </a:xfrm>
          <a:prstGeom prst="rect">
            <a:avLst/>
          </a:prstGeom>
          <a:noFill/>
          <a:ln/>
        </p:spPr>
        <p:txBody>
          <a:bodyPr wrap="square" lIns="0" tIns="0" rIns="0" bIns="0" rtlCol="0" anchor="ctr">
            <a:normAutofit/>
          </a:bodyPr>
          <a:lstStyle/>
          <a:p>
            <a:pPr indent="0" marL="0">
              <a:buNone/>
            </a:pPr>
            <a:r>
              <a:rPr lang="en-US" sz="1300" b="1" dirty="0">
                <a:solidFill>
                  <a:srgbClr val="F18E91"/>
                </a:solidFill>
                <a:latin typeface="Inter" pitchFamily="34" charset="0"/>
                <a:ea typeface="Inter" pitchFamily="34" charset="-122"/>
                <a:cs typeface="Inter" pitchFamily="34" charset="-120"/>
              </a:rPr>
              <a:t>INVALID</a:t>
            </a:r>
            <a:endParaRPr lang="en-US" sz="1300" dirty="0"/>
          </a:p>
        </p:txBody>
      </p:sp>
      <p:sp>
        <p:nvSpPr>
          <p:cNvPr id="14" name="Text 12"/>
          <p:cNvSpPr/>
          <p:nvPr/>
        </p:nvSpPr>
        <p:spPr>
          <a:xfrm>
            <a:off x="3264408" y="2432304"/>
            <a:ext cx="3730752" cy="4114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Daten/Methodik unzuverlässig</a:t>
            </a:r>
            <a:endParaRPr lang="en-US" sz="1200" dirty="0"/>
          </a:p>
        </p:txBody>
      </p:sp>
      <p:sp>
        <p:nvSpPr>
          <p:cNvPr id="15" name="Text 13"/>
          <p:cNvSpPr/>
          <p:nvPr/>
        </p:nvSpPr>
        <p:spPr>
          <a:xfrm>
            <a:off x="7178040" y="2432304"/>
            <a:ext cx="3986784" cy="41148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Ergebnis verwerfen; Ursachen beheben</a:t>
            </a:r>
            <a:endParaRPr lang="en-US" sz="1100" dirty="0"/>
          </a:p>
        </p:txBody>
      </p:sp>
      <p:sp>
        <p:nvSpPr>
          <p:cNvPr id="16" name="Shape 14"/>
          <p:cNvSpPr/>
          <p:nvPr/>
        </p:nvSpPr>
        <p:spPr>
          <a:xfrm>
            <a:off x="704088" y="3154680"/>
            <a:ext cx="10835640" cy="676656"/>
          </a:xfrm>
          <a:prstGeom prst="roundRect">
            <a:avLst>
              <a:gd name="adj" fmla="val 18919"/>
            </a:avLst>
          </a:prstGeom>
          <a:solidFill>
            <a:srgbClr val="121A24"/>
          </a:solidFill>
          <a:ln w="8890">
            <a:solidFill>
              <a:srgbClr val="263442"/>
            </a:solidFill>
            <a:prstDash val="solid"/>
          </a:ln>
        </p:spPr>
      </p:sp>
      <p:sp>
        <p:nvSpPr>
          <p:cNvPr id="17" name="Shape 15"/>
          <p:cNvSpPr/>
          <p:nvPr/>
        </p:nvSpPr>
        <p:spPr>
          <a:xfrm>
            <a:off x="914400" y="3364992"/>
            <a:ext cx="182880" cy="182880"/>
          </a:xfrm>
          <a:prstGeom prst="ellipse">
            <a:avLst/>
          </a:prstGeom>
          <a:solidFill>
            <a:srgbClr val="F18E91"/>
          </a:solidFill>
          <a:ln w="12700">
            <a:solidFill>
              <a:srgbClr val="F18E91">
                <a:alpha val="0"/>
              </a:srgbClr>
            </a:solidFill>
            <a:prstDash val="solid"/>
          </a:ln>
        </p:spPr>
      </p:sp>
      <p:sp>
        <p:nvSpPr>
          <p:cNvPr id="18" name="Text 16"/>
          <p:cNvSpPr/>
          <p:nvPr/>
        </p:nvSpPr>
        <p:spPr>
          <a:xfrm>
            <a:off x="1307592" y="3319272"/>
            <a:ext cx="1920240" cy="283464"/>
          </a:xfrm>
          <a:prstGeom prst="rect">
            <a:avLst/>
          </a:prstGeom>
          <a:noFill/>
          <a:ln/>
        </p:spPr>
        <p:txBody>
          <a:bodyPr wrap="square" lIns="0" tIns="0" rIns="0" bIns="0" rtlCol="0" anchor="ctr">
            <a:normAutofit/>
          </a:bodyPr>
          <a:lstStyle/>
          <a:p>
            <a:pPr indent="0" marL="0">
              <a:buNone/>
            </a:pPr>
            <a:r>
              <a:rPr lang="en-US" sz="1300" b="1" dirty="0">
                <a:solidFill>
                  <a:srgbClr val="F18E91"/>
                </a:solidFill>
                <a:latin typeface="Inter" pitchFamily="34" charset="0"/>
                <a:ea typeface="Inter" pitchFamily="34" charset="-122"/>
                <a:cs typeface="Inter" pitchFamily="34" charset="-120"/>
              </a:rPr>
              <a:t>FAILED</a:t>
            </a:r>
            <a:endParaRPr lang="en-US" sz="1300" dirty="0"/>
          </a:p>
        </p:txBody>
      </p:sp>
      <p:sp>
        <p:nvSpPr>
          <p:cNvPr id="19" name="Text 17"/>
          <p:cNvSpPr/>
          <p:nvPr/>
        </p:nvSpPr>
        <p:spPr>
          <a:xfrm>
            <a:off x="3264408" y="3264408"/>
            <a:ext cx="3730752" cy="4114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Relevante Robustheitsprüfung scheitert</a:t>
            </a:r>
            <a:endParaRPr lang="en-US" sz="1200" dirty="0"/>
          </a:p>
        </p:txBody>
      </p:sp>
      <p:sp>
        <p:nvSpPr>
          <p:cNvPr id="20" name="Text 18"/>
          <p:cNvSpPr/>
          <p:nvPr/>
        </p:nvSpPr>
        <p:spPr>
          <a:xfrm>
            <a:off x="7178040" y="3264408"/>
            <a:ext cx="3986784" cy="41148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Hypothese ablehnen oder neu formulieren</a:t>
            </a:r>
            <a:endParaRPr lang="en-US" sz="1100" dirty="0"/>
          </a:p>
        </p:txBody>
      </p:sp>
      <p:sp>
        <p:nvSpPr>
          <p:cNvPr id="21" name="Shape 19"/>
          <p:cNvSpPr/>
          <p:nvPr/>
        </p:nvSpPr>
        <p:spPr>
          <a:xfrm>
            <a:off x="704088" y="3986784"/>
            <a:ext cx="10835640" cy="676656"/>
          </a:xfrm>
          <a:prstGeom prst="roundRect">
            <a:avLst>
              <a:gd name="adj" fmla="val 18919"/>
            </a:avLst>
          </a:prstGeom>
          <a:solidFill>
            <a:srgbClr val="121A24"/>
          </a:solidFill>
          <a:ln w="8890">
            <a:solidFill>
              <a:srgbClr val="263442"/>
            </a:solidFill>
            <a:prstDash val="solid"/>
          </a:ln>
        </p:spPr>
      </p:sp>
      <p:sp>
        <p:nvSpPr>
          <p:cNvPr id="22" name="Shape 20"/>
          <p:cNvSpPr/>
          <p:nvPr/>
        </p:nvSpPr>
        <p:spPr>
          <a:xfrm>
            <a:off x="914400" y="4197096"/>
            <a:ext cx="182880" cy="182880"/>
          </a:xfrm>
          <a:prstGeom prst="ellipse">
            <a:avLst/>
          </a:prstGeom>
          <a:solidFill>
            <a:srgbClr val="F1C479"/>
          </a:solidFill>
          <a:ln w="12700">
            <a:solidFill>
              <a:srgbClr val="F1C479">
                <a:alpha val="0"/>
              </a:srgbClr>
            </a:solidFill>
            <a:prstDash val="solid"/>
          </a:ln>
        </p:spPr>
      </p:sp>
      <p:sp>
        <p:nvSpPr>
          <p:cNvPr id="23" name="Text 21"/>
          <p:cNvSpPr/>
          <p:nvPr/>
        </p:nvSpPr>
        <p:spPr>
          <a:xfrm>
            <a:off x="1307592" y="4151376"/>
            <a:ext cx="1920240" cy="283464"/>
          </a:xfrm>
          <a:prstGeom prst="rect">
            <a:avLst/>
          </a:prstGeom>
          <a:noFill/>
          <a:ln/>
        </p:spPr>
        <p:txBody>
          <a:bodyPr wrap="square" lIns="0" tIns="0" rIns="0" bIns="0" rtlCol="0" anchor="ctr">
            <a:normAutofit/>
          </a:bodyPr>
          <a:lstStyle/>
          <a:p>
            <a:pPr indent="0" marL="0">
              <a:buNone/>
            </a:pPr>
            <a:r>
              <a:rPr lang="en-US" sz="1300" b="1" dirty="0">
                <a:solidFill>
                  <a:srgbClr val="F1C479"/>
                </a:solidFill>
                <a:latin typeface="Inter" pitchFamily="34" charset="0"/>
                <a:ea typeface="Inter" pitchFamily="34" charset="-122"/>
                <a:cs typeface="Inter" pitchFamily="34" charset="-120"/>
              </a:rPr>
              <a:t>INCONCLUSIVE</a:t>
            </a:r>
            <a:endParaRPr lang="en-US" sz="1300" dirty="0"/>
          </a:p>
        </p:txBody>
      </p:sp>
      <p:sp>
        <p:nvSpPr>
          <p:cNvPr id="24" name="Text 22"/>
          <p:cNvSpPr/>
          <p:nvPr/>
        </p:nvSpPr>
        <p:spPr>
          <a:xfrm>
            <a:off x="3264408" y="4096512"/>
            <a:ext cx="3730752" cy="4114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Zu wenige Trades / widersprüchliche Evidenz</a:t>
            </a:r>
            <a:endParaRPr lang="en-US" sz="1200" dirty="0"/>
          </a:p>
        </p:txBody>
      </p:sp>
      <p:sp>
        <p:nvSpPr>
          <p:cNvPr id="25" name="Text 23"/>
          <p:cNvSpPr/>
          <p:nvPr/>
        </p:nvSpPr>
        <p:spPr>
          <a:xfrm>
            <a:off x="7178040" y="4096512"/>
            <a:ext cx="3986784" cy="41148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Mehr unabhängige Daten/Forward-Samples</a:t>
            </a:r>
            <a:endParaRPr lang="en-US" sz="1100" dirty="0"/>
          </a:p>
        </p:txBody>
      </p:sp>
      <p:sp>
        <p:nvSpPr>
          <p:cNvPr id="26" name="Shape 24"/>
          <p:cNvSpPr/>
          <p:nvPr/>
        </p:nvSpPr>
        <p:spPr>
          <a:xfrm>
            <a:off x="704088" y="4818888"/>
            <a:ext cx="10835640" cy="676656"/>
          </a:xfrm>
          <a:prstGeom prst="roundRect">
            <a:avLst>
              <a:gd name="adj" fmla="val 18919"/>
            </a:avLst>
          </a:prstGeom>
          <a:solidFill>
            <a:srgbClr val="121A24"/>
          </a:solidFill>
          <a:ln w="8890">
            <a:solidFill>
              <a:srgbClr val="263442"/>
            </a:solidFill>
            <a:prstDash val="solid"/>
          </a:ln>
        </p:spPr>
      </p:sp>
      <p:sp>
        <p:nvSpPr>
          <p:cNvPr id="27" name="Shape 25"/>
          <p:cNvSpPr/>
          <p:nvPr/>
        </p:nvSpPr>
        <p:spPr>
          <a:xfrm>
            <a:off x="914400" y="5029200"/>
            <a:ext cx="182880" cy="182880"/>
          </a:xfrm>
          <a:prstGeom prst="ellipse">
            <a:avLst/>
          </a:prstGeom>
          <a:solidFill>
            <a:srgbClr val="69DDCF"/>
          </a:solidFill>
          <a:ln w="12700">
            <a:solidFill>
              <a:srgbClr val="69DDCF">
                <a:alpha val="0"/>
              </a:srgbClr>
            </a:solidFill>
            <a:prstDash val="solid"/>
          </a:ln>
        </p:spPr>
      </p:sp>
      <p:sp>
        <p:nvSpPr>
          <p:cNvPr id="28" name="Text 26"/>
          <p:cNvSpPr/>
          <p:nvPr/>
        </p:nvSpPr>
        <p:spPr>
          <a:xfrm>
            <a:off x="1307592" y="4983480"/>
            <a:ext cx="1920240" cy="283464"/>
          </a:xfrm>
          <a:prstGeom prst="rect">
            <a:avLst/>
          </a:prstGeom>
          <a:noFill/>
          <a:ln/>
        </p:spPr>
        <p:txBody>
          <a:bodyPr wrap="square" lIns="0" tIns="0" rIns="0" bIns="0" rtlCol="0" anchor="ctr">
            <a:normAutofit/>
          </a:bodyPr>
          <a:lstStyle/>
          <a:p>
            <a:pPr indent="0" marL="0">
              <a:buNone/>
            </a:pPr>
            <a:r>
              <a:rPr lang="en-US" sz="1300" b="1" dirty="0">
                <a:solidFill>
                  <a:srgbClr val="69DDCF"/>
                </a:solidFill>
                <a:latin typeface="Inter" pitchFamily="34" charset="0"/>
                <a:ea typeface="Inter" pitchFamily="34" charset="-122"/>
                <a:cs typeface="Inter" pitchFamily="34" charset="-120"/>
              </a:rPr>
              <a:t>PROMISING</a:t>
            </a:r>
            <a:endParaRPr lang="en-US" sz="1300" dirty="0"/>
          </a:p>
        </p:txBody>
      </p:sp>
      <p:sp>
        <p:nvSpPr>
          <p:cNvPr id="29" name="Text 27"/>
          <p:cNvSpPr/>
          <p:nvPr/>
        </p:nvSpPr>
        <p:spPr>
          <a:xfrm>
            <a:off x="3264408" y="4928616"/>
            <a:ext cx="3730752" cy="4114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Daten &amp; Kernprüfungen bestehen</a:t>
            </a:r>
            <a:endParaRPr lang="en-US" sz="1200" dirty="0"/>
          </a:p>
        </p:txBody>
      </p:sp>
      <p:sp>
        <p:nvSpPr>
          <p:cNvPr id="30" name="Text 28"/>
          <p:cNvSpPr/>
          <p:nvPr/>
        </p:nvSpPr>
        <p:spPr>
          <a:xfrm>
            <a:off x="7178040" y="4928616"/>
            <a:ext cx="3986784" cy="41148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Paper Trading als nächster Prüfstein</a:t>
            </a:r>
            <a:endParaRPr lang="en-US" sz="1100" dirty="0"/>
          </a:p>
        </p:txBody>
      </p:sp>
      <p:sp>
        <p:nvSpPr>
          <p:cNvPr id="31" name="Text 29"/>
          <p:cNvSpPr/>
          <p:nvPr/>
        </p:nvSpPr>
        <p:spPr>
          <a:xfrm>
            <a:off x="722376" y="5934456"/>
            <a:ext cx="10287000" cy="228600"/>
          </a:xfrm>
          <a:prstGeom prst="rect">
            <a:avLst/>
          </a:prstGeom>
          <a:noFill/>
          <a:ln/>
        </p:spPr>
        <p:txBody>
          <a:bodyPr wrap="square" lIns="0" tIns="0" rIns="0" bIns="0" rtlCol="0" anchor="ctr">
            <a:normAutofit/>
          </a:bodyPr>
          <a:lstStyle/>
          <a:p>
            <a:pPr indent="0" marL="0">
              <a:buNone/>
            </a:pPr>
            <a:r>
              <a:rPr lang="en-US" sz="1300" b="1" dirty="0">
                <a:solidFill>
                  <a:srgbClr val="F1C479"/>
                </a:solidFill>
                <a:latin typeface="Inter" pitchFamily="34" charset="0"/>
                <a:ea typeface="Inter" pitchFamily="34" charset="-122"/>
                <a:cs typeface="Inter" pitchFamily="34" charset="-120"/>
              </a:rPr>
              <a:t>„Promising“ ist keine Prognose und keine Freigabe für Echtgeldhandel.</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WORKSPACE</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21</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20 / RESEARCH MODES</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Drei Einstiege. Eine konsistente Research-Pipeline.</a:t>
            </a:r>
            <a:endParaRPr lang="en-US" sz="2900" dirty="0"/>
          </a:p>
        </p:txBody>
      </p:sp>
      <p:sp>
        <p:nvSpPr>
          <p:cNvPr id="11" name="Shape 9"/>
          <p:cNvSpPr/>
          <p:nvPr/>
        </p:nvSpPr>
        <p:spPr>
          <a:xfrm>
            <a:off x="667512" y="2551176"/>
            <a:ext cx="3575304" cy="2395728"/>
          </a:xfrm>
          <a:prstGeom prst="roundRect">
            <a:avLst>
              <a:gd name="adj" fmla="val 5344"/>
            </a:avLst>
          </a:prstGeom>
          <a:solidFill>
            <a:srgbClr val="121A24"/>
          </a:solidFill>
          <a:ln w="8890">
            <a:solidFill>
              <a:srgbClr val="263442"/>
            </a:solidFill>
            <a:prstDash val="solid"/>
          </a:ln>
        </p:spPr>
      </p:sp>
      <p:sp>
        <p:nvSpPr>
          <p:cNvPr id="12" name="Shape 10"/>
          <p:cNvSpPr/>
          <p:nvPr/>
        </p:nvSpPr>
        <p:spPr>
          <a:xfrm>
            <a:off x="841248" y="2752344"/>
            <a:ext cx="0" cy="283464"/>
          </a:xfrm>
          <a:prstGeom prst="line">
            <a:avLst/>
          </a:prstGeom>
          <a:noFill/>
          <a:ln w="38100">
            <a:solidFill>
              <a:srgbClr val="69DDCF"/>
            </a:solidFill>
            <a:prstDash val="solid"/>
          </a:ln>
        </p:spPr>
      </p:sp>
      <p:sp>
        <p:nvSpPr>
          <p:cNvPr id="13" name="Text 11"/>
          <p:cNvSpPr/>
          <p:nvPr/>
        </p:nvSpPr>
        <p:spPr>
          <a:xfrm>
            <a:off x="1005840" y="2752344"/>
            <a:ext cx="3072384" cy="32004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DESCRIBE</a:t>
            </a:r>
            <a:endParaRPr lang="en-US" sz="1500" dirty="0"/>
          </a:p>
        </p:txBody>
      </p:sp>
      <p:sp>
        <p:nvSpPr>
          <p:cNvPr id="14" name="Text 12"/>
          <p:cNvSpPr/>
          <p:nvPr/>
        </p:nvSpPr>
        <p:spPr>
          <a:xfrm>
            <a:off x="868680" y="3218688"/>
            <a:ext cx="3172968" cy="1636776"/>
          </a:xfrm>
          <a:prstGeom prst="rect">
            <a:avLst/>
          </a:prstGeom>
          <a:noFill/>
          <a:ln/>
        </p:spPr>
        <p:txBody>
          <a:bodyPr wrap="square" lIns="0" tIns="0" rIns="0" bIns="0" rtlCol="0" anchor="t">
            <a:normAutofit/>
          </a:bodyPr>
          <a:lstStyle/>
          <a:p>
            <a:pPr indent="0" marL="0">
              <a:buNone/>
            </a:pPr>
            <a:r>
              <a:rPr lang="en-US" sz="1150" dirty="0">
                <a:solidFill>
                  <a:srgbClr val="94A6B3"/>
                </a:solidFill>
                <a:latin typeface="Inter" pitchFamily="34" charset="0"/>
                <a:ea typeface="Inter" pitchFamily="34" charset="-122"/>
                <a:cs typeface="Inter" pitchFamily="34" charset="-120"/>
              </a:rPr>
              <a:t>Freitext oder Voice: „Was passiert nach einem Gap-up?“ JARVIS erstellt Regeln und einen Testplan.</a:t>
            </a:r>
            <a:endParaRPr lang="en-US" sz="1150" dirty="0"/>
          </a:p>
        </p:txBody>
      </p:sp>
      <p:sp>
        <p:nvSpPr>
          <p:cNvPr id="15" name="Shape 13"/>
          <p:cNvSpPr/>
          <p:nvPr/>
        </p:nvSpPr>
        <p:spPr>
          <a:xfrm>
            <a:off x="4315968" y="2551176"/>
            <a:ext cx="3575304" cy="2395728"/>
          </a:xfrm>
          <a:prstGeom prst="roundRect">
            <a:avLst>
              <a:gd name="adj" fmla="val 5344"/>
            </a:avLst>
          </a:prstGeom>
          <a:solidFill>
            <a:srgbClr val="121A24"/>
          </a:solidFill>
          <a:ln w="8890">
            <a:solidFill>
              <a:srgbClr val="263442"/>
            </a:solidFill>
            <a:prstDash val="solid"/>
          </a:ln>
        </p:spPr>
      </p:sp>
      <p:sp>
        <p:nvSpPr>
          <p:cNvPr id="16" name="Shape 14"/>
          <p:cNvSpPr/>
          <p:nvPr/>
        </p:nvSpPr>
        <p:spPr>
          <a:xfrm>
            <a:off x="4489704" y="2752344"/>
            <a:ext cx="0" cy="283464"/>
          </a:xfrm>
          <a:prstGeom prst="line">
            <a:avLst/>
          </a:prstGeom>
          <a:noFill/>
          <a:ln w="38100">
            <a:solidFill>
              <a:srgbClr val="7EA9DF"/>
            </a:solidFill>
            <a:prstDash val="solid"/>
          </a:ln>
        </p:spPr>
      </p:sp>
      <p:sp>
        <p:nvSpPr>
          <p:cNvPr id="17" name="Text 15"/>
          <p:cNvSpPr/>
          <p:nvPr/>
        </p:nvSpPr>
        <p:spPr>
          <a:xfrm>
            <a:off x="4654296" y="2752344"/>
            <a:ext cx="3072384" cy="32004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GUIDED</a:t>
            </a:r>
            <a:endParaRPr lang="en-US" sz="1500" dirty="0"/>
          </a:p>
        </p:txBody>
      </p:sp>
      <p:sp>
        <p:nvSpPr>
          <p:cNvPr id="18" name="Text 16"/>
          <p:cNvSpPr/>
          <p:nvPr/>
        </p:nvSpPr>
        <p:spPr>
          <a:xfrm>
            <a:off x="4517136" y="3218688"/>
            <a:ext cx="3172968" cy="1636776"/>
          </a:xfrm>
          <a:prstGeom prst="rect">
            <a:avLst/>
          </a:prstGeom>
          <a:noFill/>
          <a:ln/>
        </p:spPr>
        <p:txBody>
          <a:bodyPr wrap="square" lIns="0" tIns="0" rIns="0" bIns="0" rtlCol="0" anchor="t">
            <a:normAutofit/>
          </a:bodyPr>
          <a:lstStyle/>
          <a:p>
            <a:pPr indent="0" marL="0">
              <a:buNone/>
            </a:pPr>
            <a:r>
              <a:rPr lang="en-US" sz="1150" dirty="0">
                <a:solidFill>
                  <a:srgbClr val="94A6B3"/>
                </a:solidFill>
                <a:latin typeface="Inter" pitchFamily="34" charset="0"/>
                <a:ea typeface="Inter" pitchFamily="34" charset="-122"/>
                <a:cs typeface="Inter" pitchFamily="34" charset="-120"/>
              </a:rPr>
              <a:t>Visueller Rule Builder mit Signal, Einstieg, Stop, Risiko und Sessions; kein Code nötig.</a:t>
            </a:r>
            <a:endParaRPr lang="en-US" sz="1150" dirty="0"/>
          </a:p>
        </p:txBody>
      </p:sp>
      <p:sp>
        <p:nvSpPr>
          <p:cNvPr id="19" name="Shape 17"/>
          <p:cNvSpPr/>
          <p:nvPr/>
        </p:nvSpPr>
        <p:spPr>
          <a:xfrm>
            <a:off x="7973568" y="2551176"/>
            <a:ext cx="3575304" cy="2395728"/>
          </a:xfrm>
          <a:prstGeom prst="roundRect">
            <a:avLst>
              <a:gd name="adj" fmla="val 5344"/>
            </a:avLst>
          </a:prstGeom>
          <a:solidFill>
            <a:srgbClr val="121A24"/>
          </a:solidFill>
          <a:ln w="8890">
            <a:solidFill>
              <a:srgbClr val="263442"/>
            </a:solidFill>
            <a:prstDash val="solid"/>
          </a:ln>
        </p:spPr>
      </p:sp>
      <p:sp>
        <p:nvSpPr>
          <p:cNvPr id="20" name="Shape 18"/>
          <p:cNvSpPr/>
          <p:nvPr/>
        </p:nvSpPr>
        <p:spPr>
          <a:xfrm>
            <a:off x="8147304" y="2752344"/>
            <a:ext cx="0" cy="283464"/>
          </a:xfrm>
          <a:prstGeom prst="line">
            <a:avLst/>
          </a:prstGeom>
          <a:noFill/>
          <a:ln w="38100">
            <a:solidFill>
              <a:srgbClr val="F1C479"/>
            </a:solidFill>
            <a:prstDash val="solid"/>
          </a:ln>
        </p:spPr>
      </p:sp>
      <p:sp>
        <p:nvSpPr>
          <p:cNvPr id="21" name="Text 19"/>
          <p:cNvSpPr/>
          <p:nvPr/>
        </p:nvSpPr>
        <p:spPr>
          <a:xfrm>
            <a:off x="8311896" y="2752344"/>
            <a:ext cx="3072384" cy="320040"/>
          </a:xfrm>
          <a:prstGeom prst="rect">
            <a:avLst/>
          </a:prstGeom>
          <a:noFill/>
          <a:ln/>
        </p:spPr>
        <p:txBody>
          <a:bodyPr wrap="square" lIns="0" tIns="0" rIns="0" bIns="0" rtlCol="0" anchor="ctr">
            <a:normAutofit/>
          </a:bodyPr>
          <a:lstStyle/>
          <a:p>
            <a:pPr indent="0" marL="0">
              <a:buNone/>
            </a:pPr>
            <a:r>
              <a:rPr lang="en-US" sz="1500" b="1" dirty="0">
                <a:solidFill>
                  <a:srgbClr val="EDF5F7"/>
                </a:solidFill>
                <a:latin typeface="Inter" pitchFamily="34" charset="0"/>
                <a:ea typeface="Inter" pitchFamily="34" charset="-122"/>
                <a:cs typeface="Inter" pitchFamily="34" charset="-120"/>
              </a:rPr>
              <a:t>ADVANCED</a:t>
            </a:r>
            <a:endParaRPr lang="en-US" sz="1500" dirty="0"/>
          </a:p>
        </p:txBody>
      </p:sp>
      <p:sp>
        <p:nvSpPr>
          <p:cNvPr id="22" name="Text 20"/>
          <p:cNvSpPr/>
          <p:nvPr/>
        </p:nvSpPr>
        <p:spPr>
          <a:xfrm>
            <a:off x="8174736" y="3218688"/>
            <a:ext cx="3172968" cy="1636776"/>
          </a:xfrm>
          <a:prstGeom prst="rect">
            <a:avLst/>
          </a:prstGeom>
          <a:noFill/>
          <a:ln/>
        </p:spPr>
        <p:txBody>
          <a:bodyPr wrap="square" lIns="0" tIns="0" rIns="0" bIns="0" rtlCol="0" anchor="t">
            <a:normAutofit/>
          </a:bodyPr>
          <a:lstStyle/>
          <a:p>
            <a:pPr indent="0" marL="0">
              <a:buNone/>
            </a:pPr>
            <a:r>
              <a:rPr lang="en-US" sz="1150" dirty="0">
                <a:solidFill>
                  <a:srgbClr val="94A6B3"/>
                </a:solidFill>
                <a:latin typeface="Inter" pitchFamily="34" charset="0"/>
                <a:ea typeface="Inter" pitchFamily="34" charset="-122"/>
                <a:cs typeface="Inter" pitchFamily="34" charset="-120"/>
              </a:rPr>
              <a:t>Code/DSL für komplexe Signale; sichere Ausführung mit reproduzierbaren Artefakten.</a:t>
            </a:r>
            <a:endParaRPr lang="en-US" sz="1150" dirty="0"/>
          </a:p>
        </p:txBody>
      </p:sp>
      <p:sp>
        <p:nvSpPr>
          <p:cNvPr id="23" name="Text 21"/>
          <p:cNvSpPr/>
          <p:nvPr/>
        </p:nvSpPr>
        <p:spPr>
          <a:xfrm>
            <a:off x="832104" y="5495544"/>
            <a:ext cx="10744200" cy="411480"/>
          </a:xfrm>
          <a:prstGeom prst="rect">
            <a:avLst/>
          </a:prstGeom>
          <a:noFill/>
          <a:ln/>
        </p:spPr>
        <p:txBody>
          <a:bodyPr wrap="square" lIns="0" tIns="0" rIns="0" bIns="0" rtlCol="0" anchor="ctr">
            <a:normAutofit/>
          </a:bodyPr>
          <a:lstStyle/>
          <a:p>
            <a:pPr indent="0" marL="0">
              <a:buNone/>
            </a:pPr>
            <a:r>
              <a:rPr lang="en-US" sz="1900" b="1" dirty="0">
                <a:solidFill>
                  <a:srgbClr val="69DDCF"/>
                </a:solidFill>
                <a:latin typeface="Inter" pitchFamily="34" charset="0"/>
                <a:ea typeface="Inter" pitchFamily="34" charset="-122"/>
                <a:cs typeface="Inter" pitchFamily="34" charset="-120"/>
              </a:rPr>
              <a:t>Alle Wege führen zu derselben versionierten StrategySpec.</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AGENT ROLES</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22</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21 / JARVIS AGENTS</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Eine Stimme nach aussen. Spezialisierte Prüfer innen.</a:t>
            </a:r>
            <a:endParaRPr lang="en-US" sz="2900" dirty="0"/>
          </a:p>
        </p:txBody>
      </p:sp>
      <p:sp>
        <p:nvSpPr>
          <p:cNvPr id="11" name="Shape 9"/>
          <p:cNvSpPr/>
          <p:nvPr/>
        </p:nvSpPr>
        <p:spPr>
          <a:xfrm>
            <a:off x="676656" y="2642616"/>
            <a:ext cx="2103120" cy="2249424"/>
          </a:xfrm>
          <a:prstGeom prst="roundRect">
            <a:avLst>
              <a:gd name="adj" fmla="val 6087"/>
            </a:avLst>
          </a:prstGeom>
          <a:solidFill>
            <a:srgbClr val="121A24"/>
          </a:solidFill>
          <a:ln w="8890">
            <a:solidFill>
              <a:srgbClr val="263442"/>
            </a:solidFill>
            <a:prstDash val="solid"/>
          </a:ln>
        </p:spPr>
      </p:sp>
      <p:sp>
        <p:nvSpPr>
          <p:cNvPr id="12" name="Shape 10"/>
          <p:cNvSpPr/>
          <p:nvPr/>
        </p:nvSpPr>
        <p:spPr>
          <a:xfrm>
            <a:off x="877824" y="2862072"/>
            <a:ext cx="182880" cy="182880"/>
          </a:xfrm>
          <a:prstGeom prst="ellipse">
            <a:avLst/>
          </a:prstGeom>
          <a:solidFill>
            <a:srgbClr val="7EA9DF"/>
          </a:solidFill>
          <a:ln w="12700">
            <a:solidFill>
              <a:srgbClr val="7EA9DF">
                <a:alpha val="0"/>
              </a:srgbClr>
            </a:solidFill>
            <a:prstDash val="solid"/>
          </a:ln>
        </p:spPr>
      </p:sp>
      <p:sp>
        <p:nvSpPr>
          <p:cNvPr id="13" name="Text 11"/>
          <p:cNvSpPr/>
          <p:nvPr/>
        </p:nvSpPr>
        <p:spPr>
          <a:xfrm>
            <a:off x="841248" y="3246120"/>
            <a:ext cx="1810512" cy="237744"/>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ARCHITECT</a:t>
            </a:r>
            <a:endParaRPr lang="en-US" sz="1200" dirty="0"/>
          </a:p>
        </p:txBody>
      </p:sp>
      <p:sp>
        <p:nvSpPr>
          <p:cNvPr id="14" name="Text 12"/>
          <p:cNvSpPr/>
          <p:nvPr/>
        </p:nvSpPr>
        <p:spPr>
          <a:xfrm>
            <a:off x="841248" y="3666744"/>
            <a:ext cx="1819656" cy="393192"/>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Klärt Regeln</a:t>
            </a:r>
            <a:endParaRPr lang="en-US" sz="1200" dirty="0"/>
          </a:p>
        </p:txBody>
      </p:sp>
      <p:sp>
        <p:nvSpPr>
          <p:cNvPr id="15" name="Shape 13"/>
          <p:cNvSpPr/>
          <p:nvPr/>
        </p:nvSpPr>
        <p:spPr>
          <a:xfrm>
            <a:off x="850392" y="4251960"/>
            <a:ext cx="1700784" cy="0"/>
          </a:xfrm>
          <a:prstGeom prst="line">
            <a:avLst/>
          </a:prstGeom>
          <a:noFill/>
          <a:ln w="8890">
            <a:solidFill>
              <a:srgbClr val="263442"/>
            </a:solidFill>
            <a:prstDash val="solid"/>
          </a:ln>
        </p:spPr>
      </p:sp>
      <p:sp>
        <p:nvSpPr>
          <p:cNvPr id="16" name="Text 14"/>
          <p:cNvSpPr/>
          <p:nvPr/>
        </p:nvSpPr>
        <p:spPr>
          <a:xfrm>
            <a:off x="850392" y="4407408"/>
            <a:ext cx="1792224" cy="210312"/>
          </a:xfrm>
          <a:prstGeom prst="rect">
            <a:avLst/>
          </a:prstGeom>
          <a:noFill/>
          <a:ln/>
        </p:spPr>
        <p:txBody>
          <a:bodyPr wrap="square" lIns="0" tIns="0" rIns="0" bIns="0" rtlCol="0" anchor="ctr">
            <a:normAutofit/>
          </a:bodyPr>
          <a:lstStyle/>
          <a:p>
            <a:pPr indent="0" marL="0">
              <a:buNone/>
            </a:pPr>
            <a:r>
              <a:rPr lang="en-US" sz="1000" dirty="0">
                <a:solidFill>
                  <a:srgbClr val="69DDCF"/>
                </a:solidFill>
                <a:latin typeface="Inter" pitchFamily="34" charset="0"/>
                <a:ea typeface="Inter" pitchFamily="34" charset="-122"/>
                <a:cs typeface="Inter" pitchFamily="34" charset="-120"/>
              </a:rPr>
              <a:t>Spec-Vorschlag</a:t>
            </a:r>
            <a:endParaRPr lang="en-US" sz="1000" dirty="0"/>
          </a:p>
        </p:txBody>
      </p:sp>
      <p:sp>
        <p:nvSpPr>
          <p:cNvPr id="17" name="Shape 15"/>
          <p:cNvSpPr/>
          <p:nvPr/>
        </p:nvSpPr>
        <p:spPr>
          <a:xfrm>
            <a:off x="2999232" y="2642616"/>
            <a:ext cx="2103120" cy="2249424"/>
          </a:xfrm>
          <a:prstGeom prst="roundRect">
            <a:avLst>
              <a:gd name="adj" fmla="val 6087"/>
            </a:avLst>
          </a:prstGeom>
          <a:solidFill>
            <a:srgbClr val="121A24"/>
          </a:solidFill>
          <a:ln w="8890">
            <a:solidFill>
              <a:srgbClr val="263442"/>
            </a:solidFill>
            <a:prstDash val="solid"/>
          </a:ln>
        </p:spPr>
      </p:sp>
      <p:sp>
        <p:nvSpPr>
          <p:cNvPr id="18" name="Shape 16"/>
          <p:cNvSpPr/>
          <p:nvPr/>
        </p:nvSpPr>
        <p:spPr>
          <a:xfrm>
            <a:off x="3200400" y="2862072"/>
            <a:ext cx="182880" cy="182880"/>
          </a:xfrm>
          <a:prstGeom prst="ellipse">
            <a:avLst/>
          </a:prstGeom>
          <a:solidFill>
            <a:srgbClr val="7EA9DF"/>
          </a:solidFill>
          <a:ln w="12700">
            <a:solidFill>
              <a:srgbClr val="7EA9DF">
                <a:alpha val="0"/>
              </a:srgbClr>
            </a:solidFill>
            <a:prstDash val="solid"/>
          </a:ln>
        </p:spPr>
      </p:sp>
      <p:sp>
        <p:nvSpPr>
          <p:cNvPr id="19" name="Text 17"/>
          <p:cNvSpPr/>
          <p:nvPr/>
        </p:nvSpPr>
        <p:spPr>
          <a:xfrm>
            <a:off x="3163824" y="3246120"/>
            <a:ext cx="1810512" cy="237744"/>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CURATOR</a:t>
            </a:r>
            <a:endParaRPr lang="en-US" sz="1200" dirty="0"/>
          </a:p>
        </p:txBody>
      </p:sp>
      <p:sp>
        <p:nvSpPr>
          <p:cNvPr id="20" name="Text 18"/>
          <p:cNvSpPr/>
          <p:nvPr/>
        </p:nvSpPr>
        <p:spPr>
          <a:xfrm>
            <a:off x="3163824" y="3666744"/>
            <a:ext cx="1819656" cy="393192"/>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Prüft Daten</a:t>
            </a:r>
            <a:endParaRPr lang="en-US" sz="1200" dirty="0"/>
          </a:p>
        </p:txBody>
      </p:sp>
      <p:sp>
        <p:nvSpPr>
          <p:cNvPr id="21" name="Shape 19"/>
          <p:cNvSpPr/>
          <p:nvPr/>
        </p:nvSpPr>
        <p:spPr>
          <a:xfrm>
            <a:off x="3172968" y="4251960"/>
            <a:ext cx="1700784" cy="0"/>
          </a:xfrm>
          <a:prstGeom prst="line">
            <a:avLst/>
          </a:prstGeom>
          <a:noFill/>
          <a:ln w="8890">
            <a:solidFill>
              <a:srgbClr val="263442"/>
            </a:solidFill>
            <a:prstDash val="solid"/>
          </a:ln>
        </p:spPr>
      </p:sp>
      <p:sp>
        <p:nvSpPr>
          <p:cNvPr id="22" name="Text 20"/>
          <p:cNvSpPr/>
          <p:nvPr/>
        </p:nvSpPr>
        <p:spPr>
          <a:xfrm>
            <a:off x="3172968" y="4407408"/>
            <a:ext cx="1792224" cy="210312"/>
          </a:xfrm>
          <a:prstGeom prst="rect">
            <a:avLst/>
          </a:prstGeom>
          <a:noFill/>
          <a:ln/>
        </p:spPr>
        <p:txBody>
          <a:bodyPr wrap="square" lIns="0" tIns="0" rIns="0" bIns="0" rtlCol="0" anchor="ctr">
            <a:normAutofit/>
          </a:bodyPr>
          <a:lstStyle/>
          <a:p>
            <a:pPr indent="0" marL="0">
              <a:buNone/>
            </a:pPr>
            <a:r>
              <a:rPr lang="en-US" sz="1000" dirty="0">
                <a:solidFill>
                  <a:srgbClr val="69DDCF"/>
                </a:solidFill>
                <a:latin typeface="Inter" pitchFamily="34" charset="0"/>
                <a:ea typeface="Inter" pitchFamily="34" charset="-122"/>
                <a:cs typeface="Inter" pitchFamily="34" charset="-120"/>
              </a:rPr>
              <a:t>Data Passport</a:t>
            </a:r>
            <a:endParaRPr lang="en-US" sz="1000" dirty="0"/>
          </a:p>
        </p:txBody>
      </p:sp>
      <p:sp>
        <p:nvSpPr>
          <p:cNvPr id="23" name="Shape 21"/>
          <p:cNvSpPr/>
          <p:nvPr/>
        </p:nvSpPr>
        <p:spPr>
          <a:xfrm>
            <a:off x="5321808" y="2642616"/>
            <a:ext cx="2103120" cy="2249424"/>
          </a:xfrm>
          <a:prstGeom prst="roundRect">
            <a:avLst>
              <a:gd name="adj" fmla="val 6087"/>
            </a:avLst>
          </a:prstGeom>
          <a:solidFill>
            <a:srgbClr val="121A24"/>
          </a:solidFill>
          <a:ln w="8890">
            <a:solidFill>
              <a:srgbClr val="263442"/>
            </a:solidFill>
            <a:prstDash val="solid"/>
          </a:ln>
        </p:spPr>
      </p:sp>
      <p:sp>
        <p:nvSpPr>
          <p:cNvPr id="24" name="Shape 22"/>
          <p:cNvSpPr/>
          <p:nvPr/>
        </p:nvSpPr>
        <p:spPr>
          <a:xfrm>
            <a:off x="5522976" y="2862072"/>
            <a:ext cx="182880" cy="182880"/>
          </a:xfrm>
          <a:prstGeom prst="ellipse">
            <a:avLst/>
          </a:prstGeom>
          <a:solidFill>
            <a:srgbClr val="7EA9DF"/>
          </a:solidFill>
          <a:ln w="12700">
            <a:solidFill>
              <a:srgbClr val="7EA9DF">
                <a:alpha val="0"/>
              </a:srgbClr>
            </a:solidFill>
            <a:prstDash val="solid"/>
          </a:ln>
        </p:spPr>
      </p:sp>
      <p:sp>
        <p:nvSpPr>
          <p:cNvPr id="25" name="Text 23"/>
          <p:cNvSpPr/>
          <p:nvPr/>
        </p:nvSpPr>
        <p:spPr>
          <a:xfrm>
            <a:off x="5486400" y="3246120"/>
            <a:ext cx="1810512" cy="237744"/>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SIMULATOR</a:t>
            </a:r>
            <a:endParaRPr lang="en-US" sz="1200" dirty="0"/>
          </a:p>
        </p:txBody>
      </p:sp>
      <p:sp>
        <p:nvSpPr>
          <p:cNvPr id="26" name="Text 24"/>
          <p:cNvSpPr/>
          <p:nvPr/>
        </p:nvSpPr>
        <p:spPr>
          <a:xfrm>
            <a:off x="5486400" y="3666744"/>
            <a:ext cx="1819656" cy="393192"/>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Führt Tests aus</a:t>
            </a:r>
            <a:endParaRPr lang="en-US" sz="1200" dirty="0"/>
          </a:p>
        </p:txBody>
      </p:sp>
      <p:sp>
        <p:nvSpPr>
          <p:cNvPr id="27" name="Shape 25"/>
          <p:cNvSpPr/>
          <p:nvPr/>
        </p:nvSpPr>
        <p:spPr>
          <a:xfrm>
            <a:off x="5495544" y="4251960"/>
            <a:ext cx="1700784" cy="0"/>
          </a:xfrm>
          <a:prstGeom prst="line">
            <a:avLst/>
          </a:prstGeom>
          <a:noFill/>
          <a:ln w="8890">
            <a:solidFill>
              <a:srgbClr val="263442"/>
            </a:solidFill>
            <a:prstDash val="solid"/>
          </a:ln>
        </p:spPr>
      </p:sp>
      <p:sp>
        <p:nvSpPr>
          <p:cNvPr id="28" name="Text 26"/>
          <p:cNvSpPr/>
          <p:nvPr/>
        </p:nvSpPr>
        <p:spPr>
          <a:xfrm>
            <a:off x="5495544" y="4407408"/>
            <a:ext cx="1792224" cy="210312"/>
          </a:xfrm>
          <a:prstGeom prst="rect">
            <a:avLst/>
          </a:prstGeom>
          <a:noFill/>
          <a:ln/>
        </p:spPr>
        <p:txBody>
          <a:bodyPr wrap="square" lIns="0" tIns="0" rIns="0" bIns="0" rtlCol="0" anchor="ctr">
            <a:normAutofit/>
          </a:bodyPr>
          <a:lstStyle/>
          <a:p>
            <a:pPr indent="0" marL="0">
              <a:buNone/>
            </a:pPr>
            <a:r>
              <a:rPr lang="en-US" sz="1000" dirty="0">
                <a:solidFill>
                  <a:srgbClr val="69DDCF"/>
                </a:solidFill>
                <a:latin typeface="Inter" pitchFamily="34" charset="0"/>
                <a:ea typeface="Inter" pitchFamily="34" charset="-122"/>
                <a:cs typeface="Inter" pitchFamily="34" charset="-120"/>
              </a:rPr>
              <a:t>Trade Ledger</a:t>
            </a:r>
            <a:endParaRPr lang="en-US" sz="1000" dirty="0"/>
          </a:p>
        </p:txBody>
      </p:sp>
      <p:sp>
        <p:nvSpPr>
          <p:cNvPr id="29" name="Shape 27"/>
          <p:cNvSpPr/>
          <p:nvPr/>
        </p:nvSpPr>
        <p:spPr>
          <a:xfrm>
            <a:off x="7644384" y="2642616"/>
            <a:ext cx="2103120" cy="2249424"/>
          </a:xfrm>
          <a:prstGeom prst="roundRect">
            <a:avLst>
              <a:gd name="adj" fmla="val 6087"/>
            </a:avLst>
          </a:prstGeom>
          <a:solidFill>
            <a:srgbClr val="121A24"/>
          </a:solidFill>
          <a:ln w="8890">
            <a:solidFill>
              <a:srgbClr val="263442"/>
            </a:solidFill>
            <a:prstDash val="solid"/>
          </a:ln>
        </p:spPr>
      </p:sp>
      <p:sp>
        <p:nvSpPr>
          <p:cNvPr id="30" name="Shape 28"/>
          <p:cNvSpPr/>
          <p:nvPr/>
        </p:nvSpPr>
        <p:spPr>
          <a:xfrm>
            <a:off x="7845552" y="2862072"/>
            <a:ext cx="182880" cy="182880"/>
          </a:xfrm>
          <a:prstGeom prst="ellipse">
            <a:avLst/>
          </a:prstGeom>
          <a:solidFill>
            <a:srgbClr val="7EA9DF"/>
          </a:solidFill>
          <a:ln w="12700">
            <a:solidFill>
              <a:srgbClr val="7EA9DF">
                <a:alpha val="0"/>
              </a:srgbClr>
            </a:solidFill>
            <a:prstDash val="solid"/>
          </a:ln>
        </p:spPr>
      </p:sp>
      <p:sp>
        <p:nvSpPr>
          <p:cNvPr id="31" name="Text 29"/>
          <p:cNvSpPr/>
          <p:nvPr/>
        </p:nvSpPr>
        <p:spPr>
          <a:xfrm>
            <a:off x="7808976" y="3246120"/>
            <a:ext cx="1810512" cy="237744"/>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VALIDATOR</a:t>
            </a:r>
            <a:endParaRPr lang="en-US" sz="1200" dirty="0"/>
          </a:p>
        </p:txBody>
      </p:sp>
      <p:sp>
        <p:nvSpPr>
          <p:cNvPr id="32" name="Text 30"/>
          <p:cNvSpPr/>
          <p:nvPr/>
        </p:nvSpPr>
        <p:spPr>
          <a:xfrm>
            <a:off x="7808976" y="3666744"/>
            <a:ext cx="1819656" cy="393192"/>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Sucht Bias/Risiko</a:t>
            </a:r>
            <a:endParaRPr lang="en-US" sz="1200" dirty="0"/>
          </a:p>
        </p:txBody>
      </p:sp>
      <p:sp>
        <p:nvSpPr>
          <p:cNvPr id="33" name="Shape 31"/>
          <p:cNvSpPr/>
          <p:nvPr/>
        </p:nvSpPr>
        <p:spPr>
          <a:xfrm>
            <a:off x="7818120" y="4251960"/>
            <a:ext cx="1700784" cy="0"/>
          </a:xfrm>
          <a:prstGeom prst="line">
            <a:avLst/>
          </a:prstGeom>
          <a:noFill/>
          <a:ln w="8890">
            <a:solidFill>
              <a:srgbClr val="263442"/>
            </a:solidFill>
            <a:prstDash val="solid"/>
          </a:ln>
        </p:spPr>
      </p:sp>
      <p:sp>
        <p:nvSpPr>
          <p:cNvPr id="34" name="Text 32"/>
          <p:cNvSpPr/>
          <p:nvPr/>
        </p:nvSpPr>
        <p:spPr>
          <a:xfrm>
            <a:off x="7818120" y="4407408"/>
            <a:ext cx="1792224" cy="210312"/>
          </a:xfrm>
          <a:prstGeom prst="rect">
            <a:avLst/>
          </a:prstGeom>
          <a:noFill/>
          <a:ln/>
        </p:spPr>
        <p:txBody>
          <a:bodyPr wrap="square" lIns="0" tIns="0" rIns="0" bIns="0" rtlCol="0" anchor="ctr">
            <a:normAutofit/>
          </a:bodyPr>
          <a:lstStyle/>
          <a:p>
            <a:pPr indent="0" marL="0">
              <a:buNone/>
            </a:pPr>
            <a:r>
              <a:rPr lang="en-US" sz="1000" dirty="0">
                <a:solidFill>
                  <a:srgbClr val="69DDCF"/>
                </a:solidFill>
                <a:latin typeface="Inter" pitchFamily="34" charset="0"/>
                <a:ea typeface="Inter" pitchFamily="34" charset="-122"/>
                <a:cs typeface="Inter" pitchFamily="34" charset="-120"/>
              </a:rPr>
              <a:t>Evidence Matrix</a:t>
            </a:r>
            <a:endParaRPr lang="en-US" sz="1000" dirty="0"/>
          </a:p>
        </p:txBody>
      </p:sp>
      <p:sp>
        <p:nvSpPr>
          <p:cNvPr id="35" name="Shape 33"/>
          <p:cNvSpPr/>
          <p:nvPr/>
        </p:nvSpPr>
        <p:spPr>
          <a:xfrm>
            <a:off x="9966960" y="2642616"/>
            <a:ext cx="2103120" cy="2249424"/>
          </a:xfrm>
          <a:prstGeom prst="roundRect">
            <a:avLst>
              <a:gd name="adj" fmla="val 6087"/>
            </a:avLst>
          </a:prstGeom>
          <a:solidFill>
            <a:srgbClr val="16212C"/>
          </a:solidFill>
          <a:ln w="8890">
            <a:solidFill>
              <a:srgbClr val="263442"/>
            </a:solidFill>
            <a:prstDash val="solid"/>
          </a:ln>
        </p:spPr>
      </p:sp>
      <p:sp>
        <p:nvSpPr>
          <p:cNvPr id="36" name="Shape 34"/>
          <p:cNvSpPr/>
          <p:nvPr/>
        </p:nvSpPr>
        <p:spPr>
          <a:xfrm>
            <a:off x="10168128" y="2862072"/>
            <a:ext cx="182880" cy="182880"/>
          </a:xfrm>
          <a:prstGeom prst="ellipse">
            <a:avLst/>
          </a:prstGeom>
          <a:solidFill>
            <a:srgbClr val="69DDCF"/>
          </a:solidFill>
          <a:ln w="12700">
            <a:solidFill>
              <a:srgbClr val="69DDCF">
                <a:alpha val="0"/>
              </a:srgbClr>
            </a:solidFill>
            <a:prstDash val="solid"/>
          </a:ln>
        </p:spPr>
      </p:sp>
      <p:sp>
        <p:nvSpPr>
          <p:cNvPr id="37" name="Text 35"/>
          <p:cNvSpPr/>
          <p:nvPr/>
        </p:nvSpPr>
        <p:spPr>
          <a:xfrm>
            <a:off x="10131552" y="3246120"/>
            <a:ext cx="1810512" cy="237744"/>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REVIEWER</a:t>
            </a:r>
            <a:endParaRPr lang="en-US" sz="1200" dirty="0"/>
          </a:p>
        </p:txBody>
      </p:sp>
      <p:sp>
        <p:nvSpPr>
          <p:cNvPr id="38" name="Text 36"/>
          <p:cNvSpPr/>
          <p:nvPr/>
        </p:nvSpPr>
        <p:spPr>
          <a:xfrm>
            <a:off x="10131552" y="3666744"/>
            <a:ext cx="1819656" cy="393192"/>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Interpretiert</a:t>
            </a:r>
            <a:endParaRPr lang="en-US" sz="1200" dirty="0"/>
          </a:p>
        </p:txBody>
      </p:sp>
      <p:sp>
        <p:nvSpPr>
          <p:cNvPr id="39" name="Shape 37"/>
          <p:cNvSpPr/>
          <p:nvPr/>
        </p:nvSpPr>
        <p:spPr>
          <a:xfrm>
            <a:off x="10140696" y="4251960"/>
            <a:ext cx="1700784" cy="0"/>
          </a:xfrm>
          <a:prstGeom prst="line">
            <a:avLst/>
          </a:prstGeom>
          <a:noFill/>
          <a:ln w="8890">
            <a:solidFill>
              <a:srgbClr val="263442"/>
            </a:solidFill>
            <a:prstDash val="solid"/>
          </a:ln>
        </p:spPr>
      </p:sp>
      <p:sp>
        <p:nvSpPr>
          <p:cNvPr id="40" name="Text 38"/>
          <p:cNvSpPr/>
          <p:nvPr/>
        </p:nvSpPr>
        <p:spPr>
          <a:xfrm>
            <a:off x="10140696" y="4407408"/>
            <a:ext cx="1792224" cy="210312"/>
          </a:xfrm>
          <a:prstGeom prst="rect">
            <a:avLst/>
          </a:prstGeom>
          <a:noFill/>
          <a:ln/>
        </p:spPr>
        <p:txBody>
          <a:bodyPr wrap="square" lIns="0" tIns="0" rIns="0" bIns="0" rtlCol="0" anchor="ctr">
            <a:normAutofit/>
          </a:bodyPr>
          <a:lstStyle/>
          <a:p>
            <a:pPr indent="0" marL="0">
              <a:buNone/>
            </a:pPr>
            <a:r>
              <a:rPr lang="en-US" sz="1000" dirty="0">
                <a:solidFill>
                  <a:srgbClr val="69DDCF"/>
                </a:solidFill>
                <a:latin typeface="Inter" pitchFamily="34" charset="0"/>
                <a:ea typeface="Inter" pitchFamily="34" charset="-122"/>
                <a:cs typeface="Inter" pitchFamily="34" charset="-120"/>
              </a:rPr>
              <a:t>Research Verdict</a:t>
            </a:r>
            <a:endParaRPr lang="en-US" sz="1000" dirty="0"/>
          </a:p>
        </p:txBody>
      </p:sp>
      <p:sp>
        <p:nvSpPr>
          <p:cNvPr id="41" name="Shape 39"/>
          <p:cNvSpPr/>
          <p:nvPr/>
        </p:nvSpPr>
        <p:spPr>
          <a:xfrm>
            <a:off x="704088" y="5221224"/>
            <a:ext cx="10789920" cy="566928"/>
          </a:xfrm>
          <a:prstGeom prst="roundRect">
            <a:avLst>
              <a:gd name="adj" fmla="val 22581"/>
            </a:avLst>
          </a:prstGeom>
          <a:solidFill>
            <a:srgbClr val="16212C"/>
          </a:solidFill>
          <a:ln w="8890">
            <a:solidFill>
              <a:srgbClr val="263442"/>
            </a:solidFill>
            <a:prstDash val="solid"/>
          </a:ln>
        </p:spPr>
      </p:sp>
      <p:sp>
        <p:nvSpPr>
          <p:cNvPr id="42" name="Text 40"/>
          <p:cNvSpPr/>
          <p:nvPr/>
        </p:nvSpPr>
        <p:spPr>
          <a:xfrm>
            <a:off x="950976" y="5413248"/>
            <a:ext cx="10277856" cy="1828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SENTINEL kontrolliert Grenzen: Berechtigungen · Prompt Injection · Datenqualität · externe Aktionen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TECH STACK</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23</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22 / TECHNICAL STACK</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Local-first. Modular. Reproduzierbar.</a:t>
            </a:r>
            <a:endParaRPr lang="en-US" sz="2900" dirty="0"/>
          </a:p>
        </p:txBody>
      </p:sp>
      <p:sp>
        <p:nvSpPr>
          <p:cNvPr id="11" name="Shape 9"/>
          <p:cNvSpPr/>
          <p:nvPr/>
        </p:nvSpPr>
        <p:spPr>
          <a:xfrm>
            <a:off x="694944" y="2249424"/>
            <a:ext cx="10835640" cy="521208"/>
          </a:xfrm>
          <a:prstGeom prst="roundRect">
            <a:avLst>
              <a:gd name="adj" fmla="val 24561"/>
            </a:avLst>
          </a:prstGeom>
          <a:solidFill>
            <a:srgbClr val="121A24"/>
          </a:solidFill>
          <a:ln w="8890">
            <a:solidFill>
              <a:srgbClr val="263442"/>
            </a:solidFill>
            <a:prstDash val="solid"/>
          </a:ln>
        </p:spPr>
      </p:sp>
      <p:sp>
        <p:nvSpPr>
          <p:cNvPr id="12" name="Text 10"/>
          <p:cNvSpPr/>
          <p:nvPr/>
        </p:nvSpPr>
        <p:spPr>
          <a:xfrm>
            <a:off x="923544" y="2386584"/>
            <a:ext cx="2157984" cy="210312"/>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INTERFACE</a:t>
            </a:r>
            <a:endParaRPr lang="en-US" sz="1200" dirty="0"/>
          </a:p>
        </p:txBody>
      </p:sp>
      <p:sp>
        <p:nvSpPr>
          <p:cNvPr id="13" name="Text 11"/>
          <p:cNvSpPr/>
          <p:nvPr/>
        </p:nvSpPr>
        <p:spPr>
          <a:xfrm>
            <a:off x="3200400" y="2386584"/>
            <a:ext cx="7964424" cy="246888"/>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JARVIS Desktop / React · TypeScript · visual command bar</a:t>
            </a:r>
            <a:endParaRPr lang="en-US" sz="1200" dirty="0"/>
          </a:p>
        </p:txBody>
      </p:sp>
      <p:sp>
        <p:nvSpPr>
          <p:cNvPr id="14" name="Shape 12"/>
          <p:cNvSpPr/>
          <p:nvPr/>
        </p:nvSpPr>
        <p:spPr>
          <a:xfrm>
            <a:off x="694944" y="2843784"/>
            <a:ext cx="10835640" cy="521208"/>
          </a:xfrm>
          <a:prstGeom prst="roundRect">
            <a:avLst>
              <a:gd name="adj" fmla="val 24561"/>
            </a:avLst>
          </a:prstGeom>
          <a:solidFill>
            <a:srgbClr val="0E141C"/>
          </a:solidFill>
          <a:ln w="8890">
            <a:solidFill>
              <a:srgbClr val="263442"/>
            </a:solidFill>
            <a:prstDash val="solid"/>
          </a:ln>
        </p:spPr>
      </p:sp>
      <p:sp>
        <p:nvSpPr>
          <p:cNvPr id="15" name="Text 13"/>
          <p:cNvSpPr/>
          <p:nvPr/>
        </p:nvSpPr>
        <p:spPr>
          <a:xfrm>
            <a:off x="923544" y="2980944"/>
            <a:ext cx="2157984" cy="210312"/>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ORCHESTRATION</a:t>
            </a:r>
            <a:endParaRPr lang="en-US" sz="1200" dirty="0"/>
          </a:p>
        </p:txBody>
      </p:sp>
      <p:sp>
        <p:nvSpPr>
          <p:cNvPr id="16" name="Text 14"/>
          <p:cNvSpPr/>
          <p:nvPr/>
        </p:nvSpPr>
        <p:spPr>
          <a:xfrm>
            <a:off x="3200400" y="2980944"/>
            <a:ext cx="7964424" cy="246888"/>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FastAPI · missions · events · typed service contracts</a:t>
            </a:r>
            <a:endParaRPr lang="en-US" sz="1200" dirty="0"/>
          </a:p>
        </p:txBody>
      </p:sp>
      <p:sp>
        <p:nvSpPr>
          <p:cNvPr id="17" name="Shape 15"/>
          <p:cNvSpPr/>
          <p:nvPr/>
        </p:nvSpPr>
        <p:spPr>
          <a:xfrm>
            <a:off x="694944" y="3438144"/>
            <a:ext cx="10835640" cy="521208"/>
          </a:xfrm>
          <a:prstGeom prst="roundRect">
            <a:avLst>
              <a:gd name="adj" fmla="val 24561"/>
            </a:avLst>
          </a:prstGeom>
          <a:solidFill>
            <a:srgbClr val="121A24"/>
          </a:solidFill>
          <a:ln w="8890">
            <a:solidFill>
              <a:srgbClr val="263442"/>
            </a:solidFill>
            <a:prstDash val="solid"/>
          </a:ln>
        </p:spPr>
      </p:sp>
      <p:sp>
        <p:nvSpPr>
          <p:cNvPr id="18" name="Text 16"/>
          <p:cNvSpPr/>
          <p:nvPr/>
        </p:nvSpPr>
        <p:spPr>
          <a:xfrm>
            <a:off x="923544" y="3575304"/>
            <a:ext cx="2157984" cy="210312"/>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RESEARCH</a:t>
            </a:r>
            <a:endParaRPr lang="en-US" sz="1200" dirty="0"/>
          </a:p>
        </p:txBody>
      </p:sp>
      <p:sp>
        <p:nvSpPr>
          <p:cNvPr id="19" name="Text 17"/>
          <p:cNvSpPr/>
          <p:nvPr/>
        </p:nvSpPr>
        <p:spPr>
          <a:xfrm>
            <a:off x="3200400" y="3575304"/>
            <a:ext cx="7964424" cy="246888"/>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Pydantic StrategySpec · deterministic engine adapter</a:t>
            </a:r>
            <a:endParaRPr lang="en-US" sz="1200" dirty="0"/>
          </a:p>
        </p:txBody>
      </p:sp>
      <p:sp>
        <p:nvSpPr>
          <p:cNvPr id="20" name="Shape 18"/>
          <p:cNvSpPr/>
          <p:nvPr/>
        </p:nvSpPr>
        <p:spPr>
          <a:xfrm>
            <a:off x="694944" y="4032504"/>
            <a:ext cx="10835640" cy="521208"/>
          </a:xfrm>
          <a:prstGeom prst="roundRect">
            <a:avLst>
              <a:gd name="adj" fmla="val 24561"/>
            </a:avLst>
          </a:prstGeom>
          <a:solidFill>
            <a:srgbClr val="0E141C"/>
          </a:solidFill>
          <a:ln w="8890">
            <a:solidFill>
              <a:srgbClr val="263442"/>
            </a:solidFill>
            <a:prstDash val="solid"/>
          </a:ln>
        </p:spPr>
      </p:sp>
      <p:sp>
        <p:nvSpPr>
          <p:cNvPr id="21" name="Text 19"/>
          <p:cNvSpPr/>
          <p:nvPr/>
        </p:nvSpPr>
        <p:spPr>
          <a:xfrm>
            <a:off x="923544" y="4169664"/>
            <a:ext cx="2157984" cy="210312"/>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DATA</a:t>
            </a:r>
            <a:endParaRPr lang="en-US" sz="1200" dirty="0"/>
          </a:p>
        </p:txBody>
      </p:sp>
      <p:sp>
        <p:nvSpPr>
          <p:cNvPr id="22" name="Text 20"/>
          <p:cNvSpPr/>
          <p:nvPr/>
        </p:nvSpPr>
        <p:spPr>
          <a:xfrm>
            <a:off x="3200400" y="4169664"/>
            <a:ext cx="7964424" cy="246888"/>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Vendor adapters · Parquet · DuckDB · checksums</a:t>
            </a:r>
            <a:endParaRPr lang="en-US" sz="1200" dirty="0"/>
          </a:p>
        </p:txBody>
      </p:sp>
      <p:sp>
        <p:nvSpPr>
          <p:cNvPr id="23" name="Shape 21"/>
          <p:cNvSpPr/>
          <p:nvPr/>
        </p:nvSpPr>
        <p:spPr>
          <a:xfrm>
            <a:off x="694944" y="4626864"/>
            <a:ext cx="10835640" cy="521208"/>
          </a:xfrm>
          <a:prstGeom prst="roundRect">
            <a:avLst>
              <a:gd name="adj" fmla="val 24561"/>
            </a:avLst>
          </a:prstGeom>
          <a:solidFill>
            <a:srgbClr val="121A24"/>
          </a:solidFill>
          <a:ln w="8890">
            <a:solidFill>
              <a:srgbClr val="263442"/>
            </a:solidFill>
            <a:prstDash val="solid"/>
          </a:ln>
        </p:spPr>
      </p:sp>
      <p:sp>
        <p:nvSpPr>
          <p:cNvPr id="24" name="Text 22"/>
          <p:cNvSpPr/>
          <p:nvPr/>
        </p:nvSpPr>
        <p:spPr>
          <a:xfrm>
            <a:off x="923544" y="4764024"/>
            <a:ext cx="2157984" cy="210312"/>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STORAGE</a:t>
            </a:r>
            <a:endParaRPr lang="en-US" sz="1200" dirty="0"/>
          </a:p>
        </p:txBody>
      </p:sp>
      <p:sp>
        <p:nvSpPr>
          <p:cNvPr id="25" name="Text 23"/>
          <p:cNvSpPr/>
          <p:nvPr/>
        </p:nvSpPr>
        <p:spPr>
          <a:xfrm>
            <a:off x="3200400" y="4764024"/>
            <a:ext cx="7964424" cy="246888"/>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SQLite experiments · artifacts · versioned run manifest</a:t>
            </a:r>
            <a:endParaRPr lang="en-US" sz="1200" dirty="0"/>
          </a:p>
        </p:txBody>
      </p:sp>
      <p:sp>
        <p:nvSpPr>
          <p:cNvPr id="26" name="Shape 24"/>
          <p:cNvSpPr/>
          <p:nvPr/>
        </p:nvSpPr>
        <p:spPr>
          <a:xfrm>
            <a:off x="694944" y="5221224"/>
            <a:ext cx="10835640" cy="521208"/>
          </a:xfrm>
          <a:prstGeom prst="roundRect">
            <a:avLst>
              <a:gd name="adj" fmla="val 24561"/>
            </a:avLst>
          </a:prstGeom>
          <a:solidFill>
            <a:srgbClr val="0E141C"/>
          </a:solidFill>
          <a:ln w="8890">
            <a:solidFill>
              <a:srgbClr val="263442"/>
            </a:solidFill>
            <a:prstDash val="solid"/>
          </a:ln>
        </p:spPr>
      </p:sp>
      <p:sp>
        <p:nvSpPr>
          <p:cNvPr id="27" name="Text 25"/>
          <p:cNvSpPr/>
          <p:nvPr/>
        </p:nvSpPr>
        <p:spPr>
          <a:xfrm>
            <a:off x="923544" y="5358384"/>
            <a:ext cx="2157984" cy="210312"/>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SAFETY</a:t>
            </a:r>
            <a:endParaRPr lang="en-US" sz="1200" dirty="0"/>
          </a:p>
        </p:txBody>
      </p:sp>
      <p:sp>
        <p:nvSpPr>
          <p:cNvPr id="28" name="Text 26"/>
          <p:cNvSpPr/>
          <p:nvPr/>
        </p:nvSpPr>
        <p:spPr>
          <a:xfrm>
            <a:off x="3200400" y="5358384"/>
            <a:ext cx="7964424" cy="246888"/>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Sandbox · permission gates · audit trail · no live orders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SYSTEM DESIGN</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24</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23 / SERVICE FLOW</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Eine Pipeline. Klare Verträge zwischen den Schichten.</a:t>
            </a:r>
            <a:endParaRPr lang="en-US" sz="2900" dirty="0"/>
          </a:p>
        </p:txBody>
      </p:sp>
      <p:sp>
        <p:nvSpPr>
          <p:cNvPr id="11" name="Shape 9"/>
          <p:cNvSpPr/>
          <p:nvPr/>
        </p:nvSpPr>
        <p:spPr>
          <a:xfrm>
            <a:off x="713232" y="2551176"/>
            <a:ext cx="3483864" cy="1069848"/>
          </a:xfrm>
          <a:prstGeom prst="roundRect">
            <a:avLst>
              <a:gd name="adj" fmla="val 11966"/>
            </a:avLst>
          </a:prstGeom>
          <a:solidFill>
            <a:srgbClr val="121A24"/>
          </a:solidFill>
          <a:ln w="8890">
            <a:solidFill>
              <a:srgbClr val="263442"/>
            </a:solidFill>
            <a:prstDash val="solid"/>
          </a:ln>
        </p:spPr>
      </p:sp>
      <p:sp>
        <p:nvSpPr>
          <p:cNvPr id="12" name="Text 10"/>
          <p:cNvSpPr/>
          <p:nvPr/>
        </p:nvSpPr>
        <p:spPr>
          <a:xfrm>
            <a:off x="914400" y="2752344"/>
            <a:ext cx="3035808" cy="265176"/>
          </a:xfrm>
          <a:prstGeom prst="rect">
            <a:avLst/>
          </a:prstGeom>
          <a:noFill/>
          <a:ln/>
        </p:spPr>
        <p:txBody>
          <a:bodyPr wrap="square" lIns="0" tIns="0" rIns="0" bIns="0" rtlCol="0" anchor="ctr">
            <a:normAutofit/>
          </a:bodyPr>
          <a:lstStyle/>
          <a:p>
            <a:pPr indent="0" marL="0">
              <a:buNone/>
            </a:pPr>
            <a:r>
              <a:rPr lang="en-US" sz="1600" b="1" dirty="0">
                <a:solidFill>
                  <a:srgbClr val="EDF5F7"/>
                </a:solidFill>
                <a:latin typeface="Inter" pitchFamily="34" charset="0"/>
                <a:ea typeface="Inter" pitchFamily="34" charset="-122"/>
                <a:cs typeface="Inter" pitchFamily="34" charset="-120"/>
              </a:rPr>
              <a:t>Chat / UI</a:t>
            </a:r>
            <a:endParaRPr lang="en-US" sz="1600" dirty="0"/>
          </a:p>
        </p:txBody>
      </p:sp>
      <p:sp>
        <p:nvSpPr>
          <p:cNvPr id="13" name="Text 11"/>
          <p:cNvSpPr/>
          <p:nvPr/>
        </p:nvSpPr>
        <p:spPr>
          <a:xfrm>
            <a:off x="914400" y="3200400"/>
            <a:ext cx="3035808" cy="18288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User intent</a:t>
            </a:r>
            <a:endParaRPr lang="en-US" sz="1100" dirty="0"/>
          </a:p>
        </p:txBody>
      </p:sp>
      <p:sp>
        <p:nvSpPr>
          <p:cNvPr id="14" name="Shape 12"/>
          <p:cNvSpPr/>
          <p:nvPr/>
        </p:nvSpPr>
        <p:spPr>
          <a:xfrm>
            <a:off x="4206240" y="3081528"/>
            <a:ext cx="256032" cy="0"/>
          </a:xfrm>
          <a:prstGeom prst="line">
            <a:avLst/>
          </a:prstGeom>
          <a:noFill/>
          <a:ln w="21590">
            <a:solidFill>
              <a:srgbClr val="69DDCF"/>
            </a:solidFill>
            <a:prstDash val="solid"/>
            <a:tailEnd type="triangle"/>
          </a:ln>
        </p:spPr>
      </p:sp>
      <p:sp>
        <p:nvSpPr>
          <p:cNvPr id="15" name="Shape 13"/>
          <p:cNvSpPr/>
          <p:nvPr/>
        </p:nvSpPr>
        <p:spPr>
          <a:xfrm>
            <a:off x="4553712" y="2551176"/>
            <a:ext cx="3483864" cy="1069848"/>
          </a:xfrm>
          <a:prstGeom prst="roundRect">
            <a:avLst>
              <a:gd name="adj" fmla="val 11966"/>
            </a:avLst>
          </a:prstGeom>
          <a:solidFill>
            <a:srgbClr val="121A24"/>
          </a:solidFill>
          <a:ln w="8890">
            <a:solidFill>
              <a:srgbClr val="263442"/>
            </a:solidFill>
            <a:prstDash val="solid"/>
          </a:ln>
        </p:spPr>
      </p:sp>
      <p:sp>
        <p:nvSpPr>
          <p:cNvPr id="16" name="Text 14"/>
          <p:cNvSpPr/>
          <p:nvPr/>
        </p:nvSpPr>
        <p:spPr>
          <a:xfrm>
            <a:off x="4754880" y="2752344"/>
            <a:ext cx="3035808" cy="265176"/>
          </a:xfrm>
          <a:prstGeom prst="rect">
            <a:avLst/>
          </a:prstGeom>
          <a:noFill/>
          <a:ln/>
        </p:spPr>
        <p:txBody>
          <a:bodyPr wrap="square" lIns="0" tIns="0" rIns="0" bIns="0" rtlCol="0" anchor="ctr">
            <a:normAutofit/>
          </a:bodyPr>
          <a:lstStyle/>
          <a:p>
            <a:pPr indent="0" marL="0">
              <a:buNone/>
            </a:pPr>
            <a:r>
              <a:rPr lang="en-US" sz="1600" b="1" dirty="0">
                <a:solidFill>
                  <a:srgbClr val="EDF5F7"/>
                </a:solidFill>
                <a:latin typeface="Inter" pitchFamily="34" charset="0"/>
                <a:ea typeface="Inter" pitchFamily="34" charset="-122"/>
                <a:cs typeface="Inter" pitchFamily="34" charset="-120"/>
              </a:rPr>
              <a:t>StrategySpec</a:t>
            </a:r>
            <a:endParaRPr lang="en-US" sz="1600" dirty="0"/>
          </a:p>
        </p:txBody>
      </p:sp>
      <p:sp>
        <p:nvSpPr>
          <p:cNvPr id="17" name="Text 15"/>
          <p:cNvSpPr/>
          <p:nvPr/>
        </p:nvSpPr>
        <p:spPr>
          <a:xfrm>
            <a:off x="4754880" y="3200400"/>
            <a:ext cx="3035808" cy="18288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rules + params</a:t>
            </a:r>
            <a:endParaRPr lang="en-US" sz="1100" dirty="0"/>
          </a:p>
        </p:txBody>
      </p:sp>
      <p:sp>
        <p:nvSpPr>
          <p:cNvPr id="18" name="Shape 16"/>
          <p:cNvSpPr/>
          <p:nvPr/>
        </p:nvSpPr>
        <p:spPr>
          <a:xfrm>
            <a:off x="8046720" y="3081528"/>
            <a:ext cx="256032" cy="0"/>
          </a:xfrm>
          <a:prstGeom prst="line">
            <a:avLst/>
          </a:prstGeom>
          <a:noFill/>
          <a:ln w="21590">
            <a:solidFill>
              <a:srgbClr val="69DDCF"/>
            </a:solidFill>
            <a:prstDash val="solid"/>
            <a:tailEnd type="triangle"/>
          </a:ln>
        </p:spPr>
      </p:sp>
      <p:sp>
        <p:nvSpPr>
          <p:cNvPr id="19" name="Shape 17"/>
          <p:cNvSpPr/>
          <p:nvPr/>
        </p:nvSpPr>
        <p:spPr>
          <a:xfrm>
            <a:off x="8394192" y="2551176"/>
            <a:ext cx="3483864" cy="1069848"/>
          </a:xfrm>
          <a:prstGeom prst="roundRect">
            <a:avLst>
              <a:gd name="adj" fmla="val 11966"/>
            </a:avLst>
          </a:prstGeom>
          <a:solidFill>
            <a:srgbClr val="121A24"/>
          </a:solidFill>
          <a:ln w="8890">
            <a:solidFill>
              <a:srgbClr val="263442"/>
            </a:solidFill>
            <a:prstDash val="solid"/>
          </a:ln>
        </p:spPr>
      </p:sp>
      <p:sp>
        <p:nvSpPr>
          <p:cNvPr id="20" name="Text 18"/>
          <p:cNvSpPr/>
          <p:nvPr/>
        </p:nvSpPr>
        <p:spPr>
          <a:xfrm>
            <a:off x="8595360" y="2752344"/>
            <a:ext cx="3035808" cy="265176"/>
          </a:xfrm>
          <a:prstGeom prst="rect">
            <a:avLst/>
          </a:prstGeom>
          <a:noFill/>
          <a:ln/>
        </p:spPr>
        <p:txBody>
          <a:bodyPr wrap="square" lIns="0" tIns="0" rIns="0" bIns="0" rtlCol="0" anchor="ctr">
            <a:normAutofit/>
          </a:bodyPr>
          <a:lstStyle/>
          <a:p>
            <a:pPr indent="0" marL="0">
              <a:buNone/>
            </a:pPr>
            <a:r>
              <a:rPr lang="en-US" sz="1600" b="1" dirty="0">
                <a:solidFill>
                  <a:srgbClr val="EDF5F7"/>
                </a:solidFill>
                <a:latin typeface="Inter" pitchFamily="34" charset="0"/>
                <a:ea typeface="Inter" pitchFamily="34" charset="-122"/>
                <a:cs typeface="Inter" pitchFamily="34" charset="-120"/>
              </a:rPr>
              <a:t>Data Passport</a:t>
            </a:r>
            <a:endParaRPr lang="en-US" sz="1600" dirty="0"/>
          </a:p>
        </p:txBody>
      </p:sp>
      <p:sp>
        <p:nvSpPr>
          <p:cNvPr id="21" name="Text 19"/>
          <p:cNvSpPr/>
          <p:nvPr/>
        </p:nvSpPr>
        <p:spPr>
          <a:xfrm>
            <a:off x="8595360" y="3200400"/>
            <a:ext cx="3035808" cy="18288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source + QA</a:t>
            </a:r>
            <a:endParaRPr lang="en-US" sz="1100" dirty="0"/>
          </a:p>
        </p:txBody>
      </p:sp>
      <p:sp>
        <p:nvSpPr>
          <p:cNvPr id="22" name="Shape 20"/>
          <p:cNvSpPr/>
          <p:nvPr/>
        </p:nvSpPr>
        <p:spPr>
          <a:xfrm>
            <a:off x="713232" y="3895344"/>
            <a:ext cx="3483864" cy="1069848"/>
          </a:xfrm>
          <a:prstGeom prst="roundRect">
            <a:avLst>
              <a:gd name="adj" fmla="val 11966"/>
            </a:avLst>
          </a:prstGeom>
          <a:solidFill>
            <a:srgbClr val="16212C"/>
          </a:solidFill>
          <a:ln w="8890">
            <a:solidFill>
              <a:srgbClr val="263442"/>
            </a:solidFill>
            <a:prstDash val="solid"/>
          </a:ln>
        </p:spPr>
      </p:sp>
      <p:sp>
        <p:nvSpPr>
          <p:cNvPr id="23" name="Text 21"/>
          <p:cNvSpPr/>
          <p:nvPr/>
        </p:nvSpPr>
        <p:spPr>
          <a:xfrm>
            <a:off x="914400" y="4096512"/>
            <a:ext cx="3035808" cy="265176"/>
          </a:xfrm>
          <a:prstGeom prst="rect">
            <a:avLst/>
          </a:prstGeom>
          <a:noFill/>
          <a:ln/>
        </p:spPr>
        <p:txBody>
          <a:bodyPr wrap="square" lIns="0" tIns="0" rIns="0" bIns="0" rtlCol="0" anchor="ctr">
            <a:normAutofit/>
          </a:bodyPr>
          <a:lstStyle/>
          <a:p>
            <a:pPr indent="0" marL="0">
              <a:buNone/>
            </a:pPr>
            <a:r>
              <a:rPr lang="en-US" sz="1600" b="1" dirty="0">
                <a:solidFill>
                  <a:srgbClr val="EDF5F7"/>
                </a:solidFill>
                <a:latin typeface="Inter" pitchFamily="34" charset="0"/>
                <a:ea typeface="Inter" pitchFamily="34" charset="-122"/>
                <a:cs typeface="Inter" pitchFamily="34" charset="-120"/>
              </a:rPr>
              <a:t>Backtest Run</a:t>
            </a:r>
            <a:endParaRPr lang="en-US" sz="1600" dirty="0"/>
          </a:p>
        </p:txBody>
      </p:sp>
      <p:sp>
        <p:nvSpPr>
          <p:cNvPr id="24" name="Text 22"/>
          <p:cNvSpPr/>
          <p:nvPr/>
        </p:nvSpPr>
        <p:spPr>
          <a:xfrm>
            <a:off x="914400" y="4544568"/>
            <a:ext cx="3035808" cy="18288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orders + fills</a:t>
            </a:r>
            <a:endParaRPr lang="en-US" sz="1100" dirty="0"/>
          </a:p>
        </p:txBody>
      </p:sp>
      <p:sp>
        <p:nvSpPr>
          <p:cNvPr id="25" name="Shape 23"/>
          <p:cNvSpPr/>
          <p:nvPr/>
        </p:nvSpPr>
        <p:spPr>
          <a:xfrm>
            <a:off x="4206240" y="4425696"/>
            <a:ext cx="256032" cy="0"/>
          </a:xfrm>
          <a:prstGeom prst="line">
            <a:avLst/>
          </a:prstGeom>
          <a:noFill/>
          <a:ln w="21590">
            <a:solidFill>
              <a:srgbClr val="69DDCF"/>
            </a:solidFill>
            <a:prstDash val="solid"/>
            <a:tailEnd type="triangle"/>
          </a:ln>
        </p:spPr>
      </p:sp>
      <p:sp>
        <p:nvSpPr>
          <p:cNvPr id="26" name="Shape 24"/>
          <p:cNvSpPr/>
          <p:nvPr/>
        </p:nvSpPr>
        <p:spPr>
          <a:xfrm>
            <a:off x="4553712" y="3895344"/>
            <a:ext cx="3483864" cy="1069848"/>
          </a:xfrm>
          <a:prstGeom prst="roundRect">
            <a:avLst>
              <a:gd name="adj" fmla="val 11966"/>
            </a:avLst>
          </a:prstGeom>
          <a:solidFill>
            <a:srgbClr val="16212C"/>
          </a:solidFill>
          <a:ln w="8890">
            <a:solidFill>
              <a:srgbClr val="263442"/>
            </a:solidFill>
            <a:prstDash val="solid"/>
          </a:ln>
        </p:spPr>
      </p:sp>
      <p:sp>
        <p:nvSpPr>
          <p:cNvPr id="27" name="Text 25"/>
          <p:cNvSpPr/>
          <p:nvPr/>
        </p:nvSpPr>
        <p:spPr>
          <a:xfrm>
            <a:off x="4754880" y="4096512"/>
            <a:ext cx="3035808" cy="265176"/>
          </a:xfrm>
          <a:prstGeom prst="rect">
            <a:avLst/>
          </a:prstGeom>
          <a:noFill/>
          <a:ln/>
        </p:spPr>
        <p:txBody>
          <a:bodyPr wrap="square" lIns="0" tIns="0" rIns="0" bIns="0" rtlCol="0" anchor="ctr">
            <a:normAutofit/>
          </a:bodyPr>
          <a:lstStyle/>
          <a:p>
            <a:pPr indent="0" marL="0">
              <a:buNone/>
            </a:pPr>
            <a:r>
              <a:rPr lang="en-US" sz="1600" b="1" dirty="0">
                <a:solidFill>
                  <a:srgbClr val="EDF5F7"/>
                </a:solidFill>
                <a:latin typeface="Inter" pitchFamily="34" charset="0"/>
                <a:ea typeface="Inter" pitchFamily="34" charset="-122"/>
                <a:cs typeface="Inter" pitchFamily="34" charset="-120"/>
              </a:rPr>
              <a:t>Validation</a:t>
            </a:r>
            <a:endParaRPr lang="en-US" sz="1600" dirty="0"/>
          </a:p>
        </p:txBody>
      </p:sp>
      <p:sp>
        <p:nvSpPr>
          <p:cNvPr id="28" name="Text 26"/>
          <p:cNvSpPr/>
          <p:nvPr/>
        </p:nvSpPr>
        <p:spPr>
          <a:xfrm>
            <a:off x="4754880" y="4544568"/>
            <a:ext cx="3035808" cy="18288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evidence matrix</a:t>
            </a:r>
            <a:endParaRPr lang="en-US" sz="1100" dirty="0"/>
          </a:p>
        </p:txBody>
      </p:sp>
      <p:sp>
        <p:nvSpPr>
          <p:cNvPr id="29" name="Shape 27"/>
          <p:cNvSpPr/>
          <p:nvPr/>
        </p:nvSpPr>
        <p:spPr>
          <a:xfrm>
            <a:off x="8046720" y="4425696"/>
            <a:ext cx="256032" cy="0"/>
          </a:xfrm>
          <a:prstGeom prst="line">
            <a:avLst/>
          </a:prstGeom>
          <a:noFill/>
          <a:ln w="21590">
            <a:solidFill>
              <a:srgbClr val="69DDCF"/>
            </a:solidFill>
            <a:prstDash val="solid"/>
            <a:tailEnd type="triangle"/>
          </a:ln>
        </p:spPr>
      </p:sp>
      <p:sp>
        <p:nvSpPr>
          <p:cNvPr id="30" name="Shape 28"/>
          <p:cNvSpPr/>
          <p:nvPr/>
        </p:nvSpPr>
        <p:spPr>
          <a:xfrm>
            <a:off x="8394192" y="3895344"/>
            <a:ext cx="3483864" cy="1069848"/>
          </a:xfrm>
          <a:prstGeom prst="roundRect">
            <a:avLst>
              <a:gd name="adj" fmla="val 11966"/>
            </a:avLst>
          </a:prstGeom>
          <a:solidFill>
            <a:srgbClr val="16212C"/>
          </a:solidFill>
          <a:ln w="8890">
            <a:solidFill>
              <a:srgbClr val="263442"/>
            </a:solidFill>
            <a:prstDash val="solid"/>
          </a:ln>
        </p:spPr>
      </p:sp>
      <p:sp>
        <p:nvSpPr>
          <p:cNvPr id="31" name="Text 29"/>
          <p:cNvSpPr/>
          <p:nvPr/>
        </p:nvSpPr>
        <p:spPr>
          <a:xfrm>
            <a:off x="8595360" y="4096512"/>
            <a:ext cx="3035808" cy="265176"/>
          </a:xfrm>
          <a:prstGeom prst="rect">
            <a:avLst/>
          </a:prstGeom>
          <a:noFill/>
          <a:ln/>
        </p:spPr>
        <p:txBody>
          <a:bodyPr wrap="square" lIns="0" tIns="0" rIns="0" bIns="0" rtlCol="0" anchor="ctr">
            <a:normAutofit/>
          </a:bodyPr>
          <a:lstStyle/>
          <a:p>
            <a:pPr indent="0" marL="0">
              <a:buNone/>
            </a:pPr>
            <a:r>
              <a:rPr lang="en-US" sz="1600" b="1" dirty="0">
                <a:solidFill>
                  <a:srgbClr val="EDF5F7"/>
                </a:solidFill>
                <a:latin typeface="Inter" pitchFamily="34" charset="0"/>
                <a:ea typeface="Inter" pitchFamily="34" charset="-122"/>
                <a:cs typeface="Inter" pitchFamily="34" charset="-120"/>
              </a:rPr>
              <a:t>Research Report</a:t>
            </a:r>
            <a:endParaRPr lang="en-US" sz="1600" dirty="0"/>
          </a:p>
        </p:txBody>
      </p:sp>
      <p:sp>
        <p:nvSpPr>
          <p:cNvPr id="32" name="Text 30"/>
          <p:cNvSpPr/>
          <p:nvPr/>
        </p:nvSpPr>
        <p:spPr>
          <a:xfrm>
            <a:off x="8595360" y="4544568"/>
            <a:ext cx="3035808" cy="18288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assessment</a:t>
            </a:r>
            <a:endParaRPr lang="en-US" sz="1100" dirty="0"/>
          </a:p>
        </p:txBody>
      </p:sp>
      <p:sp>
        <p:nvSpPr>
          <p:cNvPr id="33" name="Shape 31"/>
          <p:cNvSpPr/>
          <p:nvPr/>
        </p:nvSpPr>
        <p:spPr>
          <a:xfrm>
            <a:off x="2377440" y="3630168"/>
            <a:ext cx="0" cy="173736"/>
          </a:xfrm>
          <a:prstGeom prst="line">
            <a:avLst/>
          </a:prstGeom>
          <a:noFill/>
          <a:ln w="15240">
            <a:solidFill>
              <a:srgbClr val="69DDCF"/>
            </a:solidFill>
            <a:prstDash val="solid"/>
          </a:ln>
        </p:spPr>
      </p:sp>
      <p:sp>
        <p:nvSpPr>
          <p:cNvPr id="34" name="Shape 32"/>
          <p:cNvSpPr/>
          <p:nvPr/>
        </p:nvSpPr>
        <p:spPr>
          <a:xfrm>
            <a:off x="6217920" y="3630168"/>
            <a:ext cx="0" cy="173736"/>
          </a:xfrm>
          <a:prstGeom prst="line">
            <a:avLst/>
          </a:prstGeom>
          <a:noFill/>
          <a:ln w="15240">
            <a:solidFill>
              <a:srgbClr val="69DDCF"/>
            </a:solidFill>
            <a:prstDash val="solid"/>
          </a:ln>
        </p:spPr>
      </p:sp>
      <p:sp>
        <p:nvSpPr>
          <p:cNvPr id="35" name="Shape 33"/>
          <p:cNvSpPr/>
          <p:nvPr/>
        </p:nvSpPr>
        <p:spPr>
          <a:xfrm>
            <a:off x="10058400" y="3630168"/>
            <a:ext cx="0" cy="173736"/>
          </a:xfrm>
          <a:prstGeom prst="line">
            <a:avLst/>
          </a:prstGeom>
          <a:noFill/>
          <a:ln w="15240">
            <a:solidFill>
              <a:srgbClr val="69DDCF"/>
            </a:solidFill>
            <a:prstDash val="solid"/>
          </a:ln>
        </p:spPr>
      </p:sp>
      <p:sp>
        <p:nvSpPr>
          <p:cNvPr id="36" name="Text 34"/>
          <p:cNvSpPr/>
          <p:nvPr/>
        </p:nvSpPr>
        <p:spPr>
          <a:xfrm>
            <a:off x="758952" y="5779008"/>
            <a:ext cx="10515600" cy="283464"/>
          </a:xfrm>
          <a:prstGeom prst="rect">
            <a:avLst/>
          </a:prstGeom>
          <a:noFill/>
          <a:ln/>
        </p:spPr>
        <p:txBody>
          <a:bodyPr wrap="square" lIns="0" tIns="0" rIns="0" bIns="0" rtlCol="0" anchor="ctr">
            <a:normAutofit/>
          </a:bodyPr>
          <a:lstStyle/>
          <a:p>
            <a:pPr indent="0" marL="0">
              <a:buNone/>
            </a:pPr>
            <a:r>
              <a:rPr lang="en-US" sz="1500" dirty="0">
                <a:solidFill>
                  <a:srgbClr val="94A6B3"/>
                </a:solidFill>
                <a:latin typeface="Inter" pitchFamily="34" charset="0"/>
                <a:ea typeface="Inter" pitchFamily="34" charset="-122"/>
                <a:cs typeface="Inter" pitchFamily="34" charset="-120"/>
              </a:rPr>
              <a:t>Jede Schicht hat eigene Tests, Fehlerzustände und Artefakte.</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DATA SOURCING</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25</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24 / DATA PROVIDERS</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Die erste Datenquelle entscheidet über die Glaubwürdigkeit.</a:t>
            </a:r>
            <a:endParaRPr lang="en-US" sz="2900" dirty="0"/>
          </a:p>
        </p:txBody>
      </p:sp>
      <p:sp>
        <p:nvSpPr>
          <p:cNvPr id="11" name="Shape 9"/>
          <p:cNvSpPr/>
          <p:nvPr/>
        </p:nvSpPr>
        <p:spPr>
          <a:xfrm>
            <a:off x="713232" y="2441448"/>
            <a:ext cx="10817352" cy="676656"/>
          </a:xfrm>
          <a:prstGeom prst="roundRect">
            <a:avLst>
              <a:gd name="adj" fmla="val 18919"/>
            </a:avLst>
          </a:prstGeom>
          <a:solidFill>
            <a:srgbClr val="121A24"/>
          </a:solidFill>
          <a:ln w="8890">
            <a:solidFill>
              <a:srgbClr val="263442"/>
            </a:solidFill>
            <a:prstDash val="solid"/>
          </a:ln>
        </p:spPr>
      </p:sp>
      <p:sp>
        <p:nvSpPr>
          <p:cNvPr id="12" name="Text 10"/>
          <p:cNvSpPr/>
          <p:nvPr/>
        </p:nvSpPr>
        <p:spPr>
          <a:xfrm>
            <a:off x="960120" y="2615184"/>
            <a:ext cx="2523744" cy="219456"/>
          </a:xfrm>
          <a:prstGeom prst="rect">
            <a:avLst/>
          </a:prstGeom>
          <a:noFill/>
          <a:ln/>
        </p:spPr>
        <p:txBody>
          <a:bodyPr wrap="square" lIns="0" tIns="0" rIns="0" bIns="0" rtlCol="0" anchor="ctr">
            <a:normAutofit/>
          </a:bodyPr>
          <a:lstStyle/>
          <a:p>
            <a:pPr indent="0" marL="0">
              <a:buNone/>
            </a:pPr>
            <a:r>
              <a:rPr lang="en-US" sz="1400" b="1" dirty="0">
                <a:solidFill>
                  <a:srgbClr val="EDF5F7"/>
                </a:solidFill>
                <a:latin typeface="Inter" pitchFamily="34" charset="0"/>
                <a:ea typeface="Inter" pitchFamily="34" charset="-122"/>
                <a:cs typeface="Inter" pitchFamily="34" charset="-120"/>
              </a:rPr>
              <a:t>CSV / Parquet Import</a:t>
            </a:r>
            <a:endParaRPr lang="en-US" sz="1400" dirty="0"/>
          </a:p>
        </p:txBody>
      </p:sp>
      <p:sp>
        <p:nvSpPr>
          <p:cNvPr id="13" name="Shape 11"/>
          <p:cNvSpPr/>
          <p:nvPr/>
        </p:nvSpPr>
        <p:spPr>
          <a:xfrm>
            <a:off x="3639312" y="2624328"/>
            <a:ext cx="2331720" cy="265176"/>
          </a:xfrm>
          <a:prstGeom prst="roundRect">
            <a:avLst>
              <a:gd name="adj" fmla="val 27586"/>
            </a:avLst>
          </a:prstGeom>
          <a:solidFill>
            <a:srgbClr val="16212C"/>
          </a:solidFill>
          <a:ln w="6985">
            <a:solidFill>
              <a:srgbClr val="263442"/>
            </a:solidFill>
            <a:prstDash val="solid"/>
          </a:ln>
        </p:spPr>
      </p:sp>
      <p:sp>
        <p:nvSpPr>
          <p:cNvPr id="14" name="Text 12"/>
          <p:cNvSpPr/>
          <p:nvPr/>
        </p:nvSpPr>
        <p:spPr>
          <a:xfrm>
            <a:off x="3721608" y="2651760"/>
            <a:ext cx="2167128" cy="173736"/>
          </a:xfrm>
          <a:prstGeom prst="rect">
            <a:avLst/>
          </a:prstGeom>
          <a:noFill/>
          <a:ln/>
        </p:spPr>
        <p:txBody>
          <a:bodyPr wrap="square" lIns="0" tIns="0" rIns="0" bIns="0" rtlCol="0" anchor="ctr">
            <a:normAutofit/>
          </a:bodyPr>
          <a:lstStyle/>
          <a:p>
            <a:pPr indent="0" marL="0">
              <a:buNone/>
            </a:pPr>
            <a:r>
              <a:rPr lang="en-US" sz="800" b="1" spc="110" kern="0" dirty="0">
                <a:solidFill>
                  <a:srgbClr val="69DDCF"/>
                </a:solidFill>
                <a:latin typeface="Inter" pitchFamily="34" charset="0"/>
                <a:ea typeface="Inter" pitchFamily="34" charset="-122"/>
                <a:cs typeface="Inter" pitchFamily="34" charset="-120"/>
              </a:rPr>
              <a:t>MVP</a:t>
            </a:r>
            <a:endParaRPr lang="en-US" sz="800" dirty="0"/>
          </a:p>
        </p:txBody>
      </p:sp>
      <p:sp>
        <p:nvSpPr>
          <p:cNvPr id="15" name="Text 13"/>
          <p:cNvSpPr/>
          <p:nvPr/>
        </p:nvSpPr>
        <p:spPr>
          <a:xfrm>
            <a:off x="6163056" y="2569464"/>
            <a:ext cx="5038344" cy="384048"/>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Provenienz, Format, Historie und Lizenz selbst validieren</a:t>
            </a:r>
            <a:endParaRPr lang="en-US" sz="1100" dirty="0"/>
          </a:p>
        </p:txBody>
      </p:sp>
      <p:sp>
        <p:nvSpPr>
          <p:cNvPr id="16" name="Shape 14"/>
          <p:cNvSpPr/>
          <p:nvPr/>
        </p:nvSpPr>
        <p:spPr>
          <a:xfrm>
            <a:off x="713232" y="3236976"/>
            <a:ext cx="10817352" cy="676656"/>
          </a:xfrm>
          <a:prstGeom prst="roundRect">
            <a:avLst>
              <a:gd name="adj" fmla="val 18919"/>
            </a:avLst>
          </a:prstGeom>
          <a:solidFill>
            <a:srgbClr val="121A24"/>
          </a:solidFill>
          <a:ln w="8890">
            <a:solidFill>
              <a:srgbClr val="263442"/>
            </a:solidFill>
            <a:prstDash val="solid"/>
          </a:ln>
        </p:spPr>
      </p:sp>
      <p:sp>
        <p:nvSpPr>
          <p:cNvPr id="17" name="Text 15"/>
          <p:cNvSpPr/>
          <p:nvPr/>
        </p:nvSpPr>
        <p:spPr>
          <a:xfrm>
            <a:off x="960120" y="3410712"/>
            <a:ext cx="2523744" cy="219456"/>
          </a:xfrm>
          <a:prstGeom prst="rect">
            <a:avLst/>
          </a:prstGeom>
          <a:noFill/>
          <a:ln/>
        </p:spPr>
        <p:txBody>
          <a:bodyPr wrap="square" lIns="0" tIns="0" rIns="0" bIns="0" rtlCol="0" anchor="ctr">
            <a:normAutofit/>
          </a:bodyPr>
          <a:lstStyle/>
          <a:p>
            <a:pPr indent="0" marL="0">
              <a:buNone/>
            </a:pPr>
            <a:r>
              <a:rPr lang="en-US" sz="1400" b="1" dirty="0">
                <a:solidFill>
                  <a:srgbClr val="EDF5F7"/>
                </a:solidFill>
                <a:latin typeface="Inter" pitchFamily="34" charset="0"/>
                <a:ea typeface="Inter" pitchFamily="34" charset="-122"/>
                <a:cs typeface="Inter" pitchFamily="34" charset="-120"/>
              </a:rPr>
              <a:t>Databento</a:t>
            </a:r>
            <a:endParaRPr lang="en-US" sz="1400" dirty="0"/>
          </a:p>
        </p:txBody>
      </p:sp>
      <p:sp>
        <p:nvSpPr>
          <p:cNvPr id="18" name="Shape 16"/>
          <p:cNvSpPr/>
          <p:nvPr/>
        </p:nvSpPr>
        <p:spPr>
          <a:xfrm>
            <a:off x="3639312" y="3419856"/>
            <a:ext cx="2331720" cy="265176"/>
          </a:xfrm>
          <a:prstGeom prst="roundRect">
            <a:avLst>
              <a:gd name="adj" fmla="val 27586"/>
            </a:avLst>
          </a:prstGeom>
          <a:solidFill>
            <a:srgbClr val="16212C"/>
          </a:solidFill>
          <a:ln w="6985">
            <a:solidFill>
              <a:srgbClr val="263442"/>
            </a:solidFill>
            <a:prstDash val="solid"/>
          </a:ln>
        </p:spPr>
      </p:sp>
      <p:sp>
        <p:nvSpPr>
          <p:cNvPr id="19" name="Text 17"/>
          <p:cNvSpPr/>
          <p:nvPr/>
        </p:nvSpPr>
        <p:spPr>
          <a:xfrm>
            <a:off x="3721608" y="3447288"/>
            <a:ext cx="2167128" cy="173736"/>
          </a:xfrm>
          <a:prstGeom prst="rect">
            <a:avLst/>
          </a:prstGeom>
          <a:noFill/>
          <a:ln/>
        </p:spPr>
        <p:txBody>
          <a:bodyPr wrap="square" lIns="0" tIns="0" rIns="0" bIns="0" rtlCol="0" anchor="ctr">
            <a:normAutofit/>
          </a:bodyPr>
          <a:lstStyle/>
          <a:p>
            <a:pPr indent="0" marL="0">
              <a:buNone/>
            </a:pPr>
            <a:r>
              <a:rPr lang="en-US" sz="800" b="1" spc="110" kern="0" dirty="0">
                <a:solidFill>
                  <a:srgbClr val="69DDCF"/>
                </a:solidFill>
                <a:latin typeface="Inter" pitchFamily="34" charset="0"/>
                <a:ea typeface="Inter" pitchFamily="34" charset="-122"/>
                <a:cs typeface="Inter" pitchFamily="34" charset="-120"/>
              </a:rPr>
              <a:t>INTRADAY / FUTURES-KANDIDAT</a:t>
            </a:r>
            <a:endParaRPr lang="en-US" sz="800" dirty="0"/>
          </a:p>
        </p:txBody>
      </p:sp>
      <p:sp>
        <p:nvSpPr>
          <p:cNvPr id="20" name="Text 18"/>
          <p:cNvSpPr/>
          <p:nvPr/>
        </p:nvSpPr>
        <p:spPr>
          <a:xfrm>
            <a:off x="6163056" y="3364992"/>
            <a:ext cx="5038344" cy="384048"/>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Trades, Quotes, Order Book &amp; OHLCV je nach Dataset</a:t>
            </a:r>
            <a:endParaRPr lang="en-US" sz="1100" dirty="0"/>
          </a:p>
        </p:txBody>
      </p:sp>
      <p:sp>
        <p:nvSpPr>
          <p:cNvPr id="21" name="Shape 19"/>
          <p:cNvSpPr/>
          <p:nvPr/>
        </p:nvSpPr>
        <p:spPr>
          <a:xfrm>
            <a:off x="713232" y="4032504"/>
            <a:ext cx="10817352" cy="676656"/>
          </a:xfrm>
          <a:prstGeom prst="roundRect">
            <a:avLst>
              <a:gd name="adj" fmla="val 18919"/>
            </a:avLst>
          </a:prstGeom>
          <a:solidFill>
            <a:srgbClr val="121A24"/>
          </a:solidFill>
          <a:ln w="8890">
            <a:solidFill>
              <a:srgbClr val="263442"/>
            </a:solidFill>
            <a:prstDash val="solid"/>
          </a:ln>
        </p:spPr>
      </p:sp>
      <p:sp>
        <p:nvSpPr>
          <p:cNvPr id="22" name="Text 20"/>
          <p:cNvSpPr/>
          <p:nvPr/>
        </p:nvSpPr>
        <p:spPr>
          <a:xfrm>
            <a:off x="960120" y="4206240"/>
            <a:ext cx="2523744" cy="219456"/>
          </a:xfrm>
          <a:prstGeom prst="rect">
            <a:avLst/>
          </a:prstGeom>
          <a:noFill/>
          <a:ln/>
        </p:spPr>
        <p:txBody>
          <a:bodyPr wrap="square" lIns="0" tIns="0" rIns="0" bIns="0" rtlCol="0" anchor="ctr">
            <a:normAutofit/>
          </a:bodyPr>
          <a:lstStyle/>
          <a:p>
            <a:pPr indent="0" marL="0">
              <a:buNone/>
            </a:pPr>
            <a:r>
              <a:rPr lang="en-US" sz="1400" b="1" dirty="0">
                <a:solidFill>
                  <a:srgbClr val="EDF5F7"/>
                </a:solidFill>
                <a:latin typeface="Inter" pitchFamily="34" charset="0"/>
                <a:ea typeface="Inter" pitchFamily="34" charset="-122"/>
                <a:cs typeface="Inter" pitchFamily="34" charset="-120"/>
              </a:rPr>
              <a:t>Weitere Provider</a:t>
            </a:r>
            <a:endParaRPr lang="en-US" sz="1400" dirty="0"/>
          </a:p>
        </p:txBody>
      </p:sp>
      <p:sp>
        <p:nvSpPr>
          <p:cNvPr id="23" name="Shape 21"/>
          <p:cNvSpPr/>
          <p:nvPr/>
        </p:nvSpPr>
        <p:spPr>
          <a:xfrm>
            <a:off x="3639312" y="4215384"/>
            <a:ext cx="2331720" cy="265176"/>
          </a:xfrm>
          <a:prstGeom prst="roundRect">
            <a:avLst>
              <a:gd name="adj" fmla="val 27586"/>
            </a:avLst>
          </a:prstGeom>
          <a:solidFill>
            <a:srgbClr val="16212C"/>
          </a:solidFill>
          <a:ln w="6985">
            <a:solidFill>
              <a:srgbClr val="263442"/>
            </a:solidFill>
            <a:prstDash val="solid"/>
          </a:ln>
        </p:spPr>
      </p:sp>
      <p:sp>
        <p:nvSpPr>
          <p:cNvPr id="24" name="Text 22"/>
          <p:cNvSpPr/>
          <p:nvPr/>
        </p:nvSpPr>
        <p:spPr>
          <a:xfrm>
            <a:off x="3721608" y="4242816"/>
            <a:ext cx="2167128" cy="173736"/>
          </a:xfrm>
          <a:prstGeom prst="rect">
            <a:avLst/>
          </a:prstGeom>
          <a:noFill/>
          <a:ln/>
        </p:spPr>
        <p:txBody>
          <a:bodyPr wrap="square" lIns="0" tIns="0" rIns="0" bIns="0" rtlCol="0" anchor="ctr">
            <a:normAutofit/>
          </a:bodyPr>
          <a:lstStyle/>
          <a:p>
            <a:pPr indent="0" marL="0">
              <a:buNone/>
            </a:pPr>
            <a:r>
              <a:rPr lang="en-US" sz="800" b="1" spc="110" kern="0" dirty="0">
                <a:solidFill>
                  <a:srgbClr val="69DDCF"/>
                </a:solidFill>
                <a:latin typeface="Inter" pitchFamily="34" charset="0"/>
                <a:ea typeface="Inter" pitchFamily="34" charset="-122"/>
                <a:cs typeface="Inter" pitchFamily="34" charset="-120"/>
              </a:rPr>
              <a:t>SPÄTER</a:t>
            </a:r>
            <a:endParaRPr lang="en-US" sz="800" dirty="0"/>
          </a:p>
        </p:txBody>
      </p:sp>
      <p:sp>
        <p:nvSpPr>
          <p:cNvPr id="25" name="Text 23"/>
          <p:cNvSpPr/>
          <p:nvPr/>
        </p:nvSpPr>
        <p:spPr>
          <a:xfrm>
            <a:off x="6163056" y="4160520"/>
            <a:ext cx="5038344" cy="384048"/>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Nur nach Market Coverage, Kosten und Rechten</a:t>
            </a:r>
            <a:endParaRPr lang="en-US" sz="1100" dirty="0"/>
          </a:p>
        </p:txBody>
      </p:sp>
      <p:sp>
        <p:nvSpPr>
          <p:cNvPr id="26" name="Shape 24"/>
          <p:cNvSpPr/>
          <p:nvPr/>
        </p:nvSpPr>
        <p:spPr>
          <a:xfrm>
            <a:off x="713232" y="4828032"/>
            <a:ext cx="10817352" cy="676656"/>
          </a:xfrm>
          <a:prstGeom prst="roundRect">
            <a:avLst>
              <a:gd name="adj" fmla="val 18919"/>
            </a:avLst>
          </a:prstGeom>
          <a:solidFill>
            <a:srgbClr val="121A24"/>
          </a:solidFill>
          <a:ln w="8890">
            <a:solidFill>
              <a:srgbClr val="263442"/>
            </a:solidFill>
            <a:prstDash val="solid"/>
          </a:ln>
        </p:spPr>
      </p:sp>
      <p:sp>
        <p:nvSpPr>
          <p:cNvPr id="27" name="Text 25"/>
          <p:cNvSpPr/>
          <p:nvPr/>
        </p:nvSpPr>
        <p:spPr>
          <a:xfrm>
            <a:off x="960120" y="5001768"/>
            <a:ext cx="2523744" cy="219456"/>
          </a:xfrm>
          <a:prstGeom prst="rect">
            <a:avLst/>
          </a:prstGeom>
          <a:noFill/>
          <a:ln/>
        </p:spPr>
        <p:txBody>
          <a:bodyPr wrap="square" lIns="0" tIns="0" rIns="0" bIns="0" rtlCol="0" anchor="ctr">
            <a:normAutofit/>
          </a:bodyPr>
          <a:lstStyle/>
          <a:p>
            <a:pPr indent="0" marL="0">
              <a:buNone/>
            </a:pPr>
            <a:r>
              <a:rPr lang="en-US" sz="1400" b="1" dirty="0">
                <a:solidFill>
                  <a:srgbClr val="EDF5F7"/>
                </a:solidFill>
                <a:latin typeface="Inter" pitchFamily="34" charset="0"/>
                <a:ea typeface="Inter" pitchFamily="34" charset="-122"/>
                <a:cs typeface="Inter" pitchFamily="34" charset="-120"/>
              </a:rPr>
              <a:t>Synthetic Fixtures</a:t>
            </a:r>
            <a:endParaRPr lang="en-US" sz="1400" dirty="0"/>
          </a:p>
        </p:txBody>
      </p:sp>
      <p:sp>
        <p:nvSpPr>
          <p:cNvPr id="28" name="Shape 26"/>
          <p:cNvSpPr/>
          <p:nvPr/>
        </p:nvSpPr>
        <p:spPr>
          <a:xfrm>
            <a:off x="3639312" y="5010912"/>
            <a:ext cx="2331720" cy="265176"/>
          </a:xfrm>
          <a:prstGeom prst="roundRect">
            <a:avLst>
              <a:gd name="adj" fmla="val 27586"/>
            </a:avLst>
          </a:prstGeom>
          <a:solidFill>
            <a:srgbClr val="16212C"/>
          </a:solidFill>
          <a:ln w="6985">
            <a:solidFill>
              <a:srgbClr val="263442"/>
            </a:solidFill>
            <a:prstDash val="solid"/>
          </a:ln>
        </p:spPr>
      </p:sp>
      <p:sp>
        <p:nvSpPr>
          <p:cNvPr id="29" name="Text 27"/>
          <p:cNvSpPr/>
          <p:nvPr/>
        </p:nvSpPr>
        <p:spPr>
          <a:xfrm>
            <a:off x="3721608" y="5038344"/>
            <a:ext cx="2167128" cy="173736"/>
          </a:xfrm>
          <a:prstGeom prst="rect">
            <a:avLst/>
          </a:prstGeom>
          <a:noFill/>
          <a:ln/>
        </p:spPr>
        <p:txBody>
          <a:bodyPr wrap="square" lIns="0" tIns="0" rIns="0" bIns="0" rtlCol="0" anchor="ctr">
            <a:normAutofit/>
          </a:bodyPr>
          <a:lstStyle/>
          <a:p>
            <a:pPr indent="0" marL="0">
              <a:buNone/>
            </a:pPr>
            <a:r>
              <a:rPr lang="en-US" sz="800" b="1" spc="110" kern="0" dirty="0">
                <a:solidFill>
                  <a:srgbClr val="F1C479"/>
                </a:solidFill>
                <a:latin typeface="Inter" pitchFamily="34" charset="0"/>
                <a:ea typeface="Inter" pitchFamily="34" charset="-122"/>
                <a:cs typeface="Inter" pitchFamily="34" charset="-120"/>
              </a:rPr>
              <a:t>NUR TESTS</a:t>
            </a:r>
            <a:endParaRPr lang="en-US" sz="800" dirty="0"/>
          </a:p>
        </p:txBody>
      </p:sp>
      <p:sp>
        <p:nvSpPr>
          <p:cNvPr id="30" name="Text 28"/>
          <p:cNvSpPr/>
          <p:nvPr/>
        </p:nvSpPr>
        <p:spPr>
          <a:xfrm>
            <a:off x="6163056" y="4956048"/>
            <a:ext cx="5038344" cy="384048"/>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Deterministische Engine-Checks; niemals Trading-Evidenz</a:t>
            </a:r>
            <a:endParaRPr lang="en-US" sz="1100" dirty="0"/>
          </a:p>
        </p:txBody>
      </p:sp>
      <p:sp>
        <p:nvSpPr>
          <p:cNvPr id="31" name="Text 29"/>
          <p:cNvSpPr/>
          <p:nvPr/>
        </p:nvSpPr>
        <p:spPr>
          <a:xfrm>
            <a:off x="566928" y="6291072"/>
            <a:ext cx="10972800" cy="128016"/>
          </a:xfrm>
          <a:prstGeom prst="rect">
            <a:avLst/>
          </a:prstGeom>
          <a:noFill/>
          <a:ln/>
        </p:spPr>
        <p:txBody>
          <a:bodyPr wrap="square" lIns="0" tIns="0" rIns="0" bIns="0" rtlCol="0" anchor="ctr">
            <a:normAutofit/>
          </a:bodyPr>
          <a:lstStyle/>
          <a:p>
            <a:pPr indent="0" marL="0">
              <a:buNone/>
            </a:pPr>
            <a:r>
              <a:rPr lang="en-US" sz="700" dirty="0">
                <a:solidFill>
                  <a:srgbClr val="607584"/>
                </a:solidFill>
                <a:latin typeface="Inter" pitchFamily="34" charset="0"/>
                <a:ea typeface="Inter" pitchFamily="34" charset="-122"/>
                <a:cs typeface="Inter" pitchFamily="34" charset="-120"/>
              </a:rPr>
              <a:t>Databento: Schema- und Symbology-Dokumentation. Auswahl nach tatsächlichem Instrument und Budget.</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SAFETY</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26</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25 / SECURITY &amp; TRUST</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Research ja. Autonomes Echtgeld-Trading nein.</a:t>
            </a:r>
            <a:endParaRPr lang="en-US" sz="2900" dirty="0"/>
          </a:p>
        </p:txBody>
      </p:sp>
      <p:sp>
        <p:nvSpPr>
          <p:cNvPr id="11" name="Shape 9"/>
          <p:cNvSpPr/>
          <p:nvPr/>
        </p:nvSpPr>
        <p:spPr>
          <a:xfrm>
            <a:off x="713232" y="2368296"/>
            <a:ext cx="10835640" cy="594360"/>
          </a:xfrm>
          <a:prstGeom prst="roundRect">
            <a:avLst>
              <a:gd name="adj" fmla="val 21538"/>
            </a:avLst>
          </a:prstGeom>
          <a:solidFill>
            <a:srgbClr val="121A24"/>
          </a:solidFill>
          <a:ln w="8890">
            <a:solidFill>
              <a:srgbClr val="263442"/>
            </a:solidFill>
            <a:prstDash val="solid"/>
          </a:ln>
        </p:spPr>
      </p:sp>
      <p:sp>
        <p:nvSpPr>
          <p:cNvPr id="12" name="Text 10"/>
          <p:cNvSpPr/>
          <p:nvPr/>
        </p:nvSpPr>
        <p:spPr>
          <a:xfrm>
            <a:off x="969264" y="2542032"/>
            <a:ext cx="2011680" cy="219456"/>
          </a:xfrm>
          <a:prstGeom prst="rect">
            <a:avLst/>
          </a:prstGeom>
          <a:noFill/>
          <a:ln/>
        </p:spPr>
        <p:txBody>
          <a:bodyPr wrap="square" lIns="0" tIns="0" rIns="0" bIns="0" rtlCol="0" anchor="ctr">
            <a:normAutofit/>
          </a:bodyPr>
          <a:lstStyle/>
          <a:p>
            <a:pPr indent="0" marL="0">
              <a:buNone/>
            </a:pPr>
            <a:r>
              <a:rPr lang="en-US" sz="1200" b="1" dirty="0">
                <a:solidFill>
                  <a:srgbClr val="F1C479"/>
                </a:solidFill>
                <a:latin typeface="Inter" pitchFamily="34" charset="0"/>
                <a:ea typeface="Inter" pitchFamily="34" charset="-122"/>
                <a:cs typeface="Inter" pitchFamily="34" charset="-120"/>
              </a:rPr>
              <a:t>DEFAULT OFF</a:t>
            </a:r>
            <a:endParaRPr lang="en-US" sz="1200" dirty="0"/>
          </a:p>
        </p:txBody>
      </p:sp>
      <p:sp>
        <p:nvSpPr>
          <p:cNvPr id="13" name="Text 11"/>
          <p:cNvSpPr/>
          <p:nvPr/>
        </p:nvSpPr>
        <p:spPr>
          <a:xfrm>
            <a:off x="2971800" y="2514600"/>
            <a:ext cx="8183880" cy="283464"/>
          </a:xfrm>
          <a:prstGeom prst="rect">
            <a:avLst/>
          </a:prstGeom>
          <a:noFill/>
          <a:ln/>
        </p:spPr>
        <p:txBody>
          <a:bodyPr wrap="square" lIns="0" tIns="0" rIns="0" bIns="0" rtlCol="0" anchor="ctr">
            <a:normAutofit/>
          </a:bodyPr>
          <a:lstStyle/>
          <a:p>
            <a:pPr indent="0" marL="0">
              <a:buNone/>
            </a:pPr>
            <a:r>
              <a:rPr lang="en-US" sz="1300" dirty="0">
                <a:solidFill>
                  <a:srgbClr val="EDF5F7"/>
                </a:solidFill>
                <a:latin typeface="Inter" pitchFamily="34" charset="0"/>
                <a:ea typeface="Inter" pitchFamily="34" charset="-122"/>
                <a:cs typeface="Inter" pitchFamily="34" charset="-120"/>
              </a:rPr>
              <a:t>Keine Broker Orders, keine Echtgeld-Ausführung</a:t>
            </a:r>
            <a:endParaRPr lang="en-US" sz="1300" dirty="0"/>
          </a:p>
        </p:txBody>
      </p:sp>
      <p:sp>
        <p:nvSpPr>
          <p:cNvPr id="14" name="Shape 12"/>
          <p:cNvSpPr/>
          <p:nvPr/>
        </p:nvSpPr>
        <p:spPr>
          <a:xfrm>
            <a:off x="713232" y="3054096"/>
            <a:ext cx="10835640" cy="594360"/>
          </a:xfrm>
          <a:prstGeom prst="roundRect">
            <a:avLst>
              <a:gd name="adj" fmla="val 21538"/>
            </a:avLst>
          </a:prstGeom>
          <a:solidFill>
            <a:srgbClr val="121A24"/>
          </a:solidFill>
          <a:ln w="8890">
            <a:solidFill>
              <a:srgbClr val="263442"/>
            </a:solidFill>
            <a:prstDash val="solid"/>
          </a:ln>
        </p:spPr>
      </p:sp>
      <p:sp>
        <p:nvSpPr>
          <p:cNvPr id="15" name="Text 13"/>
          <p:cNvSpPr/>
          <p:nvPr/>
        </p:nvSpPr>
        <p:spPr>
          <a:xfrm>
            <a:off x="969264" y="3227832"/>
            <a:ext cx="2011680" cy="219456"/>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SANDBOX</a:t>
            </a:r>
            <a:endParaRPr lang="en-US" sz="1200" dirty="0"/>
          </a:p>
        </p:txBody>
      </p:sp>
      <p:sp>
        <p:nvSpPr>
          <p:cNvPr id="16" name="Text 14"/>
          <p:cNvSpPr/>
          <p:nvPr/>
        </p:nvSpPr>
        <p:spPr>
          <a:xfrm>
            <a:off x="2971800" y="3200400"/>
            <a:ext cx="8183880" cy="283464"/>
          </a:xfrm>
          <a:prstGeom prst="rect">
            <a:avLst/>
          </a:prstGeom>
          <a:noFill/>
          <a:ln/>
        </p:spPr>
        <p:txBody>
          <a:bodyPr wrap="square" lIns="0" tIns="0" rIns="0" bIns="0" rtlCol="0" anchor="ctr">
            <a:normAutofit/>
          </a:bodyPr>
          <a:lstStyle/>
          <a:p>
            <a:pPr indent="0" marL="0">
              <a:buNone/>
            </a:pPr>
            <a:r>
              <a:rPr lang="en-US" sz="1300" dirty="0">
                <a:solidFill>
                  <a:srgbClr val="EDF5F7"/>
                </a:solidFill>
                <a:latin typeface="Inter" pitchFamily="34" charset="0"/>
                <a:ea typeface="Inter" pitchFamily="34" charset="-122"/>
                <a:cs typeface="Inter" pitchFamily="34" charset="-120"/>
              </a:rPr>
              <a:t>KI-generierter Code ohne Netzwerk und Secrets</a:t>
            </a:r>
            <a:endParaRPr lang="en-US" sz="1300" dirty="0"/>
          </a:p>
        </p:txBody>
      </p:sp>
      <p:sp>
        <p:nvSpPr>
          <p:cNvPr id="17" name="Shape 15"/>
          <p:cNvSpPr/>
          <p:nvPr/>
        </p:nvSpPr>
        <p:spPr>
          <a:xfrm>
            <a:off x="713232" y="3739896"/>
            <a:ext cx="10835640" cy="594360"/>
          </a:xfrm>
          <a:prstGeom prst="roundRect">
            <a:avLst>
              <a:gd name="adj" fmla="val 21538"/>
            </a:avLst>
          </a:prstGeom>
          <a:solidFill>
            <a:srgbClr val="121A24"/>
          </a:solidFill>
          <a:ln w="8890">
            <a:solidFill>
              <a:srgbClr val="263442"/>
            </a:solidFill>
            <a:prstDash val="solid"/>
          </a:ln>
        </p:spPr>
      </p:sp>
      <p:sp>
        <p:nvSpPr>
          <p:cNvPr id="18" name="Text 16"/>
          <p:cNvSpPr/>
          <p:nvPr/>
        </p:nvSpPr>
        <p:spPr>
          <a:xfrm>
            <a:off x="969264" y="3913632"/>
            <a:ext cx="2011680" cy="219456"/>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DATA RIGHTS</a:t>
            </a:r>
            <a:endParaRPr lang="en-US" sz="1200" dirty="0"/>
          </a:p>
        </p:txBody>
      </p:sp>
      <p:sp>
        <p:nvSpPr>
          <p:cNvPr id="19" name="Text 17"/>
          <p:cNvSpPr/>
          <p:nvPr/>
        </p:nvSpPr>
        <p:spPr>
          <a:xfrm>
            <a:off x="2971800" y="3886200"/>
            <a:ext cx="8183880" cy="283464"/>
          </a:xfrm>
          <a:prstGeom prst="rect">
            <a:avLst/>
          </a:prstGeom>
          <a:noFill/>
          <a:ln/>
        </p:spPr>
        <p:txBody>
          <a:bodyPr wrap="square" lIns="0" tIns="0" rIns="0" bIns="0" rtlCol="0" anchor="ctr">
            <a:normAutofit/>
          </a:bodyPr>
          <a:lstStyle/>
          <a:p>
            <a:pPr indent="0" marL="0">
              <a:buNone/>
            </a:pPr>
            <a:r>
              <a:rPr lang="en-US" sz="1300" dirty="0">
                <a:solidFill>
                  <a:srgbClr val="EDF5F7"/>
                </a:solidFill>
                <a:latin typeface="Inter" pitchFamily="34" charset="0"/>
                <a:ea typeface="Inter" pitchFamily="34" charset="-122"/>
                <a:cs typeface="Inter" pitchFamily="34" charset="-120"/>
              </a:rPr>
              <a:t>Nur rechtmässige, lizenzierte Daten</a:t>
            </a:r>
            <a:endParaRPr lang="en-US" sz="1300" dirty="0"/>
          </a:p>
        </p:txBody>
      </p:sp>
      <p:sp>
        <p:nvSpPr>
          <p:cNvPr id="20" name="Shape 18"/>
          <p:cNvSpPr/>
          <p:nvPr/>
        </p:nvSpPr>
        <p:spPr>
          <a:xfrm>
            <a:off x="713232" y="4425696"/>
            <a:ext cx="10835640" cy="594360"/>
          </a:xfrm>
          <a:prstGeom prst="roundRect">
            <a:avLst>
              <a:gd name="adj" fmla="val 21538"/>
            </a:avLst>
          </a:prstGeom>
          <a:solidFill>
            <a:srgbClr val="121A24"/>
          </a:solidFill>
          <a:ln w="8890">
            <a:solidFill>
              <a:srgbClr val="263442"/>
            </a:solidFill>
            <a:prstDash val="solid"/>
          </a:ln>
        </p:spPr>
      </p:sp>
      <p:sp>
        <p:nvSpPr>
          <p:cNvPr id="21" name="Text 19"/>
          <p:cNvSpPr/>
          <p:nvPr/>
        </p:nvSpPr>
        <p:spPr>
          <a:xfrm>
            <a:off x="969264" y="4599432"/>
            <a:ext cx="2011680" cy="219456"/>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TRACEABILITY</a:t>
            </a:r>
            <a:endParaRPr lang="en-US" sz="1200" dirty="0"/>
          </a:p>
        </p:txBody>
      </p:sp>
      <p:sp>
        <p:nvSpPr>
          <p:cNvPr id="22" name="Text 20"/>
          <p:cNvSpPr/>
          <p:nvPr/>
        </p:nvSpPr>
        <p:spPr>
          <a:xfrm>
            <a:off x="2971800" y="4572000"/>
            <a:ext cx="8183880" cy="283464"/>
          </a:xfrm>
          <a:prstGeom prst="rect">
            <a:avLst/>
          </a:prstGeom>
          <a:noFill/>
          <a:ln/>
        </p:spPr>
        <p:txBody>
          <a:bodyPr wrap="square" lIns="0" tIns="0" rIns="0" bIns="0" rtlCol="0" anchor="ctr">
            <a:normAutofit/>
          </a:bodyPr>
          <a:lstStyle/>
          <a:p>
            <a:pPr indent="0" marL="0">
              <a:buNone/>
            </a:pPr>
            <a:r>
              <a:rPr lang="en-US" sz="1300" dirty="0">
                <a:solidFill>
                  <a:srgbClr val="EDF5F7"/>
                </a:solidFill>
                <a:latin typeface="Inter" pitchFamily="34" charset="0"/>
                <a:ea typeface="Inter" pitchFamily="34" charset="-122"/>
                <a:cs typeface="Inter" pitchFamily="34" charset="-120"/>
              </a:rPr>
              <a:t>Jede Berechnung reproduzierbar; jeder Run auditierbar</a:t>
            </a:r>
            <a:endParaRPr lang="en-US" sz="1300" dirty="0"/>
          </a:p>
        </p:txBody>
      </p:sp>
      <p:sp>
        <p:nvSpPr>
          <p:cNvPr id="23" name="Shape 21"/>
          <p:cNvSpPr/>
          <p:nvPr/>
        </p:nvSpPr>
        <p:spPr>
          <a:xfrm>
            <a:off x="713232" y="5111496"/>
            <a:ext cx="10835640" cy="594360"/>
          </a:xfrm>
          <a:prstGeom prst="roundRect">
            <a:avLst>
              <a:gd name="adj" fmla="val 21538"/>
            </a:avLst>
          </a:prstGeom>
          <a:solidFill>
            <a:srgbClr val="121A24"/>
          </a:solidFill>
          <a:ln w="8890">
            <a:solidFill>
              <a:srgbClr val="263442"/>
            </a:solidFill>
            <a:prstDash val="solid"/>
          </a:ln>
        </p:spPr>
      </p:sp>
      <p:sp>
        <p:nvSpPr>
          <p:cNvPr id="24" name="Text 22"/>
          <p:cNvSpPr/>
          <p:nvPr/>
        </p:nvSpPr>
        <p:spPr>
          <a:xfrm>
            <a:off x="969264" y="5285232"/>
            <a:ext cx="2011680" cy="219456"/>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AI LIMITS</a:t>
            </a:r>
            <a:endParaRPr lang="en-US" sz="1200" dirty="0"/>
          </a:p>
        </p:txBody>
      </p:sp>
      <p:sp>
        <p:nvSpPr>
          <p:cNvPr id="25" name="Text 23"/>
          <p:cNvSpPr/>
          <p:nvPr/>
        </p:nvSpPr>
        <p:spPr>
          <a:xfrm>
            <a:off x="2971800" y="5257800"/>
            <a:ext cx="8183880" cy="283464"/>
          </a:xfrm>
          <a:prstGeom prst="rect">
            <a:avLst/>
          </a:prstGeom>
          <a:noFill/>
          <a:ln/>
        </p:spPr>
        <p:txBody>
          <a:bodyPr wrap="square" lIns="0" tIns="0" rIns="0" bIns="0" rtlCol="0" anchor="ctr">
            <a:normAutofit/>
          </a:bodyPr>
          <a:lstStyle/>
          <a:p>
            <a:pPr indent="0" marL="0">
              <a:buNone/>
            </a:pPr>
            <a:r>
              <a:rPr lang="en-US" sz="1300" dirty="0">
                <a:solidFill>
                  <a:srgbClr val="EDF5F7"/>
                </a:solidFill>
                <a:latin typeface="Inter" pitchFamily="34" charset="0"/>
                <a:ea typeface="Inter" pitchFamily="34" charset="-122"/>
                <a:cs typeface="Inter" pitchFamily="34" charset="-120"/>
              </a:rPr>
              <a:t>Keine Finanzgewissheit, kein „validiert“ ohne Gates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ROADMAP</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27</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26 / BUILD PLAN</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Fünf Releases, die jeweils echten Wert liefern.</a:t>
            </a:r>
            <a:endParaRPr lang="en-US" sz="2900" dirty="0"/>
          </a:p>
        </p:txBody>
      </p:sp>
      <p:sp>
        <p:nvSpPr>
          <p:cNvPr id="11" name="Shape 9"/>
          <p:cNvSpPr/>
          <p:nvPr/>
        </p:nvSpPr>
        <p:spPr>
          <a:xfrm>
            <a:off x="704088" y="2276856"/>
            <a:ext cx="10789920" cy="640080"/>
          </a:xfrm>
          <a:prstGeom prst="roundRect">
            <a:avLst>
              <a:gd name="adj" fmla="val 20000"/>
            </a:avLst>
          </a:prstGeom>
          <a:solidFill>
            <a:srgbClr val="121A24"/>
          </a:solidFill>
          <a:ln w="8890">
            <a:solidFill>
              <a:srgbClr val="263442"/>
            </a:solidFill>
            <a:prstDash val="solid"/>
          </a:ln>
        </p:spPr>
      </p:sp>
      <p:sp>
        <p:nvSpPr>
          <p:cNvPr id="12" name="Text 10"/>
          <p:cNvSpPr/>
          <p:nvPr/>
        </p:nvSpPr>
        <p:spPr>
          <a:xfrm>
            <a:off x="923544" y="2432304"/>
            <a:ext cx="969264" cy="283464"/>
          </a:xfrm>
          <a:prstGeom prst="rect">
            <a:avLst/>
          </a:prstGeom>
          <a:noFill/>
          <a:ln/>
        </p:spPr>
        <p:txBody>
          <a:bodyPr wrap="square" lIns="0" tIns="0" rIns="0" bIns="0" rtlCol="0" anchor="ctr">
            <a:normAutofit/>
          </a:bodyPr>
          <a:lstStyle/>
          <a:p>
            <a:pPr indent="0" marL="0">
              <a:buNone/>
            </a:pPr>
            <a:r>
              <a:rPr lang="en-US" sz="1800" b="1" dirty="0">
                <a:solidFill>
                  <a:srgbClr val="69DDCF"/>
                </a:solidFill>
                <a:latin typeface="Inter" pitchFamily="34" charset="0"/>
                <a:ea typeface="Inter" pitchFamily="34" charset="-122"/>
                <a:cs typeface="Inter" pitchFamily="34" charset="-120"/>
              </a:rPr>
              <a:t>R0</a:t>
            </a:r>
            <a:endParaRPr lang="en-US" sz="1800" dirty="0"/>
          </a:p>
        </p:txBody>
      </p:sp>
      <p:sp>
        <p:nvSpPr>
          <p:cNvPr id="13" name="Text 11"/>
          <p:cNvSpPr/>
          <p:nvPr/>
        </p:nvSpPr>
        <p:spPr>
          <a:xfrm>
            <a:off x="1901952" y="2450592"/>
            <a:ext cx="2779776" cy="219456"/>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FOUNDATION</a:t>
            </a:r>
            <a:endParaRPr lang="en-US" sz="1200" dirty="0"/>
          </a:p>
        </p:txBody>
      </p:sp>
      <p:sp>
        <p:nvSpPr>
          <p:cNvPr id="14" name="Text 12"/>
          <p:cNvSpPr/>
          <p:nvPr/>
        </p:nvSpPr>
        <p:spPr>
          <a:xfrm>
            <a:off x="4663440" y="2414016"/>
            <a:ext cx="6428232" cy="329184"/>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JARVIS-Integration · UI Shell · StrategySpec · Data import</a:t>
            </a:r>
            <a:endParaRPr lang="en-US" sz="1200" dirty="0"/>
          </a:p>
        </p:txBody>
      </p:sp>
      <p:sp>
        <p:nvSpPr>
          <p:cNvPr id="15" name="Shape 13"/>
          <p:cNvSpPr/>
          <p:nvPr/>
        </p:nvSpPr>
        <p:spPr>
          <a:xfrm>
            <a:off x="704088" y="2999232"/>
            <a:ext cx="10789920" cy="640080"/>
          </a:xfrm>
          <a:prstGeom prst="roundRect">
            <a:avLst>
              <a:gd name="adj" fmla="val 20000"/>
            </a:avLst>
          </a:prstGeom>
          <a:solidFill>
            <a:srgbClr val="121A24"/>
          </a:solidFill>
          <a:ln w="8890">
            <a:solidFill>
              <a:srgbClr val="263442"/>
            </a:solidFill>
            <a:prstDash val="solid"/>
          </a:ln>
        </p:spPr>
      </p:sp>
      <p:sp>
        <p:nvSpPr>
          <p:cNvPr id="16" name="Text 14"/>
          <p:cNvSpPr/>
          <p:nvPr/>
        </p:nvSpPr>
        <p:spPr>
          <a:xfrm>
            <a:off x="923544" y="3154680"/>
            <a:ext cx="969264" cy="283464"/>
          </a:xfrm>
          <a:prstGeom prst="rect">
            <a:avLst/>
          </a:prstGeom>
          <a:noFill/>
          <a:ln/>
        </p:spPr>
        <p:txBody>
          <a:bodyPr wrap="square" lIns="0" tIns="0" rIns="0" bIns="0" rtlCol="0" anchor="ctr">
            <a:normAutofit/>
          </a:bodyPr>
          <a:lstStyle/>
          <a:p>
            <a:pPr indent="0" marL="0">
              <a:buNone/>
            </a:pPr>
            <a:r>
              <a:rPr lang="en-US" sz="1800" b="1" dirty="0">
                <a:solidFill>
                  <a:srgbClr val="69DDCF"/>
                </a:solidFill>
                <a:latin typeface="Inter" pitchFamily="34" charset="0"/>
                <a:ea typeface="Inter" pitchFamily="34" charset="-122"/>
                <a:cs typeface="Inter" pitchFamily="34" charset="-120"/>
              </a:rPr>
              <a:t>R1</a:t>
            </a:r>
            <a:endParaRPr lang="en-US" sz="1800" dirty="0"/>
          </a:p>
        </p:txBody>
      </p:sp>
      <p:sp>
        <p:nvSpPr>
          <p:cNvPr id="17" name="Text 15"/>
          <p:cNvSpPr/>
          <p:nvPr/>
        </p:nvSpPr>
        <p:spPr>
          <a:xfrm>
            <a:off x="1901952" y="3172968"/>
            <a:ext cx="2779776" cy="219456"/>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TRUSTED BACKTEST</a:t>
            </a:r>
            <a:endParaRPr lang="en-US" sz="1200" dirty="0"/>
          </a:p>
        </p:txBody>
      </p:sp>
      <p:sp>
        <p:nvSpPr>
          <p:cNvPr id="18" name="Text 16"/>
          <p:cNvSpPr/>
          <p:nvPr/>
        </p:nvSpPr>
        <p:spPr>
          <a:xfrm>
            <a:off x="4663440" y="3136392"/>
            <a:ext cx="6428232" cy="329184"/>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Deterministic run · ledger · fees · fixtures · provenance</a:t>
            </a:r>
            <a:endParaRPr lang="en-US" sz="1200" dirty="0"/>
          </a:p>
        </p:txBody>
      </p:sp>
      <p:sp>
        <p:nvSpPr>
          <p:cNvPr id="19" name="Shape 17"/>
          <p:cNvSpPr/>
          <p:nvPr/>
        </p:nvSpPr>
        <p:spPr>
          <a:xfrm>
            <a:off x="704088" y="3721608"/>
            <a:ext cx="10789920" cy="640080"/>
          </a:xfrm>
          <a:prstGeom prst="roundRect">
            <a:avLst>
              <a:gd name="adj" fmla="val 20000"/>
            </a:avLst>
          </a:prstGeom>
          <a:solidFill>
            <a:srgbClr val="121A24"/>
          </a:solidFill>
          <a:ln w="8890">
            <a:solidFill>
              <a:srgbClr val="263442"/>
            </a:solidFill>
            <a:prstDash val="solid"/>
          </a:ln>
        </p:spPr>
      </p:sp>
      <p:sp>
        <p:nvSpPr>
          <p:cNvPr id="20" name="Text 18"/>
          <p:cNvSpPr/>
          <p:nvPr/>
        </p:nvSpPr>
        <p:spPr>
          <a:xfrm>
            <a:off x="923544" y="3877056"/>
            <a:ext cx="969264" cy="283464"/>
          </a:xfrm>
          <a:prstGeom prst="rect">
            <a:avLst/>
          </a:prstGeom>
          <a:noFill/>
          <a:ln/>
        </p:spPr>
        <p:txBody>
          <a:bodyPr wrap="square" lIns="0" tIns="0" rIns="0" bIns="0" rtlCol="0" anchor="ctr">
            <a:normAutofit/>
          </a:bodyPr>
          <a:lstStyle/>
          <a:p>
            <a:pPr indent="0" marL="0">
              <a:buNone/>
            </a:pPr>
            <a:r>
              <a:rPr lang="en-US" sz="1800" b="1" dirty="0">
                <a:solidFill>
                  <a:srgbClr val="69DDCF"/>
                </a:solidFill>
                <a:latin typeface="Inter" pitchFamily="34" charset="0"/>
                <a:ea typeface="Inter" pitchFamily="34" charset="-122"/>
                <a:cs typeface="Inter" pitchFamily="34" charset="-120"/>
              </a:rPr>
              <a:t>R2</a:t>
            </a:r>
            <a:endParaRPr lang="en-US" sz="1800" dirty="0"/>
          </a:p>
        </p:txBody>
      </p:sp>
      <p:sp>
        <p:nvSpPr>
          <p:cNvPr id="21" name="Text 19"/>
          <p:cNvSpPr/>
          <p:nvPr/>
        </p:nvSpPr>
        <p:spPr>
          <a:xfrm>
            <a:off x="1901952" y="3895344"/>
            <a:ext cx="2779776" cy="219456"/>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EVIDENCE LAB</a:t>
            </a:r>
            <a:endParaRPr lang="en-US" sz="1200" dirty="0"/>
          </a:p>
        </p:txBody>
      </p:sp>
      <p:sp>
        <p:nvSpPr>
          <p:cNvPr id="22" name="Text 20"/>
          <p:cNvSpPr/>
          <p:nvPr/>
        </p:nvSpPr>
        <p:spPr>
          <a:xfrm>
            <a:off x="4663440" y="3858768"/>
            <a:ext cx="6428232" cy="329184"/>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OOS · walk-forward · stress · parameter maps · reports</a:t>
            </a:r>
            <a:endParaRPr lang="en-US" sz="1200" dirty="0"/>
          </a:p>
        </p:txBody>
      </p:sp>
      <p:sp>
        <p:nvSpPr>
          <p:cNvPr id="23" name="Shape 21"/>
          <p:cNvSpPr/>
          <p:nvPr/>
        </p:nvSpPr>
        <p:spPr>
          <a:xfrm>
            <a:off x="704088" y="4443984"/>
            <a:ext cx="10789920" cy="640080"/>
          </a:xfrm>
          <a:prstGeom prst="roundRect">
            <a:avLst>
              <a:gd name="adj" fmla="val 20000"/>
            </a:avLst>
          </a:prstGeom>
          <a:solidFill>
            <a:srgbClr val="121A24"/>
          </a:solidFill>
          <a:ln w="8890">
            <a:solidFill>
              <a:srgbClr val="263442"/>
            </a:solidFill>
            <a:prstDash val="solid"/>
          </a:ln>
        </p:spPr>
      </p:sp>
      <p:sp>
        <p:nvSpPr>
          <p:cNvPr id="24" name="Text 22"/>
          <p:cNvSpPr/>
          <p:nvPr/>
        </p:nvSpPr>
        <p:spPr>
          <a:xfrm>
            <a:off x="923544" y="4599432"/>
            <a:ext cx="969264" cy="283464"/>
          </a:xfrm>
          <a:prstGeom prst="rect">
            <a:avLst/>
          </a:prstGeom>
          <a:noFill/>
          <a:ln/>
        </p:spPr>
        <p:txBody>
          <a:bodyPr wrap="square" lIns="0" tIns="0" rIns="0" bIns="0" rtlCol="0" anchor="ctr">
            <a:normAutofit/>
          </a:bodyPr>
          <a:lstStyle/>
          <a:p>
            <a:pPr indent="0" marL="0">
              <a:buNone/>
            </a:pPr>
            <a:r>
              <a:rPr lang="en-US" sz="1800" b="1" dirty="0">
                <a:solidFill>
                  <a:srgbClr val="69DDCF"/>
                </a:solidFill>
                <a:latin typeface="Inter" pitchFamily="34" charset="0"/>
                <a:ea typeface="Inter" pitchFamily="34" charset="-122"/>
                <a:cs typeface="Inter" pitchFamily="34" charset="-120"/>
              </a:rPr>
              <a:t>R3</a:t>
            </a:r>
            <a:endParaRPr lang="en-US" sz="1800" dirty="0"/>
          </a:p>
        </p:txBody>
      </p:sp>
      <p:sp>
        <p:nvSpPr>
          <p:cNvPr id="25" name="Text 23"/>
          <p:cNvSpPr/>
          <p:nvPr/>
        </p:nvSpPr>
        <p:spPr>
          <a:xfrm>
            <a:off x="1901952" y="4617720"/>
            <a:ext cx="2779776" cy="219456"/>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AI RESEARCHER</a:t>
            </a:r>
            <a:endParaRPr lang="en-US" sz="1200" dirty="0"/>
          </a:p>
        </p:txBody>
      </p:sp>
      <p:sp>
        <p:nvSpPr>
          <p:cNvPr id="26" name="Text 24"/>
          <p:cNvSpPr/>
          <p:nvPr/>
        </p:nvSpPr>
        <p:spPr>
          <a:xfrm>
            <a:off x="4663440" y="4581144"/>
            <a:ext cx="6428232" cy="329184"/>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Prompt → spec · critique · experiment registry · comparison</a:t>
            </a:r>
            <a:endParaRPr lang="en-US" sz="1200" dirty="0"/>
          </a:p>
        </p:txBody>
      </p:sp>
      <p:sp>
        <p:nvSpPr>
          <p:cNvPr id="27" name="Shape 25"/>
          <p:cNvSpPr/>
          <p:nvPr/>
        </p:nvSpPr>
        <p:spPr>
          <a:xfrm>
            <a:off x="704088" y="5166360"/>
            <a:ext cx="10789920" cy="640080"/>
          </a:xfrm>
          <a:prstGeom prst="roundRect">
            <a:avLst>
              <a:gd name="adj" fmla="val 20000"/>
            </a:avLst>
          </a:prstGeom>
          <a:solidFill>
            <a:srgbClr val="121A24"/>
          </a:solidFill>
          <a:ln w="8890">
            <a:solidFill>
              <a:srgbClr val="263442"/>
            </a:solidFill>
            <a:prstDash val="solid"/>
          </a:ln>
        </p:spPr>
      </p:sp>
      <p:sp>
        <p:nvSpPr>
          <p:cNvPr id="28" name="Text 26"/>
          <p:cNvSpPr/>
          <p:nvPr/>
        </p:nvSpPr>
        <p:spPr>
          <a:xfrm>
            <a:off x="923544" y="5321808"/>
            <a:ext cx="969264" cy="283464"/>
          </a:xfrm>
          <a:prstGeom prst="rect">
            <a:avLst/>
          </a:prstGeom>
          <a:noFill/>
          <a:ln/>
        </p:spPr>
        <p:txBody>
          <a:bodyPr wrap="square" lIns="0" tIns="0" rIns="0" bIns="0" rtlCol="0" anchor="ctr">
            <a:normAutofit/>
          </a:bodyPr>
          <a:lstStyle/>
          <a:p>
            <a:pPr indent="0" marL="0">
              <a:buNone/>
            </a:pPr>
            <a:r>
              <a:rPr lang="en-US" sz="1800" b="1" dirty="0">
                <a:solidFill>
                  <a:srgbClr val="69DDCF"/>
                </a:solidFill>
                <a:latin typeface="Inter" pitchFamily="34" charset="0"/>
                <a:ea typeface="Inter" pitchFamily="34" charset="-122"/>
                <a:cs typeface="Inter" pitchFamily="34" charset="-120"/>
              </a:rPr>
              <a:t>R4</a:t>
            </a:r>
            <a:endParaRPr lang="en-US" sz="1800" dirty="0"/>
          </a:p>
        </p:txBody>
      </p:sp>
      <p:sp>
        <p:nvSpPr>
          <p:cNvPr id="29" name="Text 27"/>
          <p:cNvSpPr/>
          <p:nvPr/>
        </p:nvSpPr>
        <p:spPr>
          <a:xfrm>
            <a:off x="1901952" y="5340096"/>
            <a:ext cx="2779776" cy="219456"/>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FORWARD LAB</a:t>
            </a:r>
            <a:endParaRPr lang="en-US" sz="1200" dirty="0"/>
          </a:p>
        </p:txBody>
      </p:sp>
      <p:sp>
        <p:nvSpPr>
          <p:cNvPr id="30" name="Text 28"/>
          <p:cNvSpPr/>
          <p:nvPr/>
        </p:nvSpPr>
        <p:spPr>
          <a:xfrm>
            <a:off x="4663440" y="5303520"/>
            <a:ext cx="6428232" cy="329184"/>
          </a:xfrm>
          <a:prstGeom prst="rect">
            <a:avLst/>
          </a:prstGeom>
          <a:noFill/>
          <a:ln/>
        </p:spPr>
        <p:txBody>
          <a:bodyPr wrap="square" lIns="0" tIns="0" rIns="0" bIns="0" rtlCol="0" anchor="ctr">
            <a:normAutofit/>
          </a:bodyPr>
          <a:lstStyle/>
          <a:p>
            <a:pPr indent="0" marL="0">
              <a:buNone/>
            </a:pPr>
            <a:r>
              <a:rPr lang="en-US" sz="1200" dirty="0">
                <a:solidFill>
                  <a:srgbClr val="94A6B3"/>
                </a:solidFill>
                <a:latin typeface="Inter" pitchFamily="34" charset="0"/>
                <a:ea typeface="Inter" pitchFamily="34" charset="-122"/>
                <a:cs typeface="Inter" pitchFamily="34" charset="-120"/>
              </a:rPr>
              <a:t>Paper Trading · drift · market feed · stricter replay</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MVP / SPRINT 1</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28</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27 / VERTICAL SLICE</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Der erste echte End-to-End-Test.</a:t>
            </a:r>
            <a:endParaRPr lang="en-US" sz="2900" dirty="0"/>
          </a:p>
        </p:txBody>
      </p:sp>
      <p:sp>
        <p:nvSpPr>
          <p:cNvPr id="11" name="Shape 9"/>
          <p:cNvSpPr/>
          <p:nvPr/>
        </p:nvSpPr>
        <p:spPr>
          <a:xfrm>
            <a:off x="795528" y="2459736"/>
            <a:ext cx="5093208" cy="585216"/>
          </a:xfrm>
          <a:prstGeom prst="roundRect">
            <a:avLst>
              <a:gd name="adj" fmla="val 21875"/>
            </a:avLst>
          </a:prstGeom>
          <a:solidFill>
            <a:srgbClr val="121A24"/>
          </a:solidFill>
          <a:ln w="8890">
            <a:solidFill>
              <a:srgbClr val="263442"/>
            </a:solidFill>
            <a:prstDash val="solid"/>
          </a:ln>
        </p:spPr>
      </p:sp>
      <p:sp>
        <p:nvSpPr>
          <p:cNvPr id="12" name="Shape 10"/>
          <p:cNvSpPr/>
          <p:nvPr/>
        </p:nvSpPr>
        <p:spPr>
          <a:xfrm>
            <a:off x="969264" y="2670048"/>
            <a:ext cx="173736" cy="173736"/>
          </a:xfrm>
          <a:prstGeom prst="ellipse">
            <a:avLst/>
          </a:prstGeom>
          <a:solidFill>
            <a:srgbClr val="090D12">
              <a:alpha val="0"/>
            </a:srgbClr>
          </a:solidFill>
          <a:ln w="13970">
            <a:solidFill>
              <a:srgbClr val="69DDCF"/>
            </a:solidFill>
            <a:prstDash val="solid"/>
          </a:ln>
        </p:spPr>
      </p:sp>
      <p:sp>
        <p:nvSpPr>
          <p:cNvPr id="13" name="Text 11"/>
          <p:cNvSpPr/>
          <p:nvPr/>
        </p:nvSpPr>
        <p:spPr>
          <a:xfrm>
            <a:off x="1289304" y="2578608"/>
            <a:ext cx="4379976" cy="34747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QuantLab öffnet sich im JARVIS-Dashboard</a:t>
            </a:r>
            <a:endParaRPr lang="en-US" sz="1200" dirty="0"/>
          </a:p>
        </p:txBody>
      </p:sp>
      <p:sp>
        <p:nvSpPr>
          <p:cNvPr id="14" name="Shape 12"/>
          <p:cNvSpPr/>
          <p:nvPr/>
        </p:nvSpPr>
        <p:spPr>
          <a:xfrm>
            <a:off x="795528" y="3163824"/>
            <a:ext cx="5093208" cy="585216"/>
          </a:xfrm>
          <a:prstGeom prst="roundRect">
            <a:avLst>
              <a:gd name="adj" fmla="val 21875"/>
            </a:avLst>
          </a:prstGeom>
          <a:solidFill>
            <a:srgbClr val="121A24"/>
          </a:solidFill>
          <a:ln w="8890">
            <a:solidFill>
              <a:srgbClr val="263442"/>
            </a:solidFill>
            <a:prstDash val="solid"/>
          </a:ln>
        </p:spPr>
      </p:sp>
      <p:sp>
        <p:nvSpPr>
          <p:cNvPr id="15" name="Shape 13"/>
          <p:cNvSpPr/>
          <p:nvPr/>
        </p:nvSpPr>
        <p:spPr>
          <a:xfrm>
            <a:off x="969264" y="3374136"/>
            <a:ext cx="173736" cy="173736"/>
          </a:xfrm>
          <a:prstGeom prst="ellipse">
            <a:avLst/>
          </a:prstGeom>
          <a:solidFill>
            <a:srgbClr val="090D12">
              <a:alpha val="0"/>
            </a:srgbClr>
          </a:solidFill>
          <a:ln w="13970">
            <a:solidFill>
              <a:srgbClr val="69DDCF"/>
            </a:solidFill>
            <a:prstDash val="solid"/>
          </a:ln>
        </p:spPr>
      </p:sp>
      <p:sp>
        <p:nvSpPr>
          <p:cNvPr id="16" name="Text 14"/>
          <p:cNvSpPr/>
          <p:nvPr/>
        </p:nvSpPr>
        <p:spPr>
          <a:xfrm>
            <a:off x="1289304" y="3282696"/>
            <a:ext cx="4379976" cy="34747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StrategySpec erzeugen + editieren</a:t>
            </a:r>
            <a:endParaRPr lang="en-US" sz="1200" dirty="0"/>
          </a:p>
        </p:txBody>
      </p:sp>
      <p:sp>
        <p:nvSpPr>
          <p:cNvPr id="17" name="Shape 15"/>
          <p:cNvSpPr/>
          <p:nvPr/>
        </p:nvSpPr>
        <p:spPr>
          <a:xfrm>
            <a:off x="795528" y="3867912"/>
            <a:ext cx="5093208" cy="585216"/>
          </a:xfrm>
          <a:prstGeom prst="roundRect">
            <a:avLst>
              <a:gd name="adj" fmla="val 21875"/>
            </a:avLst>
          </a:prstGeom>
          <a:solidFill>
            <a:srgbClr val="121A24"/>
          </a:solidFill>
          <a:ln w="8890">
            <a:solidFill>
              <a:srgbClr val="263442"/>
            </a:solidFill>
            <a:prstDash val="solid"/>
          </a:ln>
        </p:spPr>
      </p:sp>
      <p:sp>
        <p:nvSpPr>
          <p:cNvPr id="18" name="Shape 16"/>
          <p:cNvSpPr/>
          <p:nvPr/>
        </p:nvSpPr>
        <p:spPr>
          <a:xfrm>
            <a:off x="969264" y="4078224"/>
            <a:ext cx="173736" cy="173736"/>
          </a:xfrm>
          <a:prstGeom prst="ellipse">
            <a:avLst/>
          </a:prstGeom>
          <a:solidFill>
            <a:srgbClr val="090D12">
              <a:alpha val="0"/>
            </a:srgbClr>
          </a:solidFill>
          <a:ln w="13970">
            <a:solidFill>
              <a:srgbClr val="69DDCF"/>
            </a:solidFill>
            <a:prstDash val="solid"/>
          </a:ln>
        </p:spPr>
      </p:sp>
      <p:sp>
        <p:nvSpPr>
          <p:cNvPr id="19" name="Text 17"/>
          <p:cNvSpPr/>
          <p:nvPr/>
        </p:nvSpPr>
        <p:spPr>
          <a:xfrm>
            <a:off x="1289304" y="3986784"/>
            <a:ext cx="4379976" cy="34747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CSV/Parquet importieren + QA-Bericht</a:t>
            </a:r>
            <a:endParaRPr lang="en-US" sz="1200" dirty="0"/>
          </a:p>
        </p:txBody>
      </p:sp>
      <p:sp>
        <p:nvSpPr>
          <p:cNvPr id="20" name="Shape 18"/>
          <p:cNvSpPr/>
          <p:nvPr/>
        </p:nvSpPr>
        <p:spPr>
          <a:xfrm>
            <a:off x="795528" y="4572000"/>
            <a:ext cx="5093208" cy="585216"/>
          </a:xfrm>
          <a:prstGeom prst="roundRect">
            <a:avLst>
              <a:gd name="adj" fmla="val 21875"/>
            </a:avLst>
          </a:prstGeom>
          <a:solidFill>
            <a:srgbClr val="121A24"/>
          </a:solidFill>
          <a:ln w="8890">
            <a:solidFill>
              <a:srgbClr val="263442"/>
            </a:solidFill>
            <a:prstDash val="solid"/>
          </a:ln>
        </p:spPr>
      </p:sp>
      <p:sp>
        <p:nvSpPr>
          <p:cNvPr id="21" name="Shape 19"/>
          <p:cNvSpPr/>
          <p:nvPr/>
        </p:nvSpPr>
        <p:spPr>
          <a:xfrm>
            <a:off x="969264" y="4782312"/>
            <a:ext cx="173736" cy="173736"/>
          </a:xfrm>
          <a:prstGeom prst="ellipse">
            <a:avLst/>
          </a:prstGeom>
          <a:solidFill>
            <a:srgbClr val="090D12">
              <a:alpha val="0"/>
            </a:srgbClr>
          </a:solidFill>
          <a:ln w="13970">
            <a:solidFill>
              <a:srgbClr val="69DDCF"/>
            </a:solidFill>
            <a:prstDash val="solid"/>
          </a:ln>
        </p:spPr>
      </p:sp>
      <p:sp>
        <p:nvSpPr>
          <p:cNvPr id="22" name="Text 20"/>
          <p:cNvSpPr/>
          <p:nvPr/>
        </p:nvSpPr>
        <p:spPr>
          <a:xfrm>
            <a:off x="1289304" y="4690872"/>
            <a:ext cx="4379976" cy="34747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Deterministischer MA-Beispielbacktest</a:t>
            </a:r>
            <a:endParaRPr lang="en-US" sz="1200" dirty="0"/>
          </a:p>
        </p:txBody>
      </p:sp>
      <p:sp>
        <p:nvSpPr>
          <p:cNvPr id="23" name="Shape 21"/>
          <p:cNvSpPr/>
          <p:nvPr/>
        </p:nvSpPr>
        <p:spPr>
          <a:xfrm>
            <a:off x="6227064" y="2459736"/>
            <a:ext cx="5093208" cy="585216"/>
          </a:xfrm>
          <a:prstGeom prst="roundRect">
            <a:avLst>
              <a:gd name="adj" fmla="val 21875"/>
            </a:avLst>
          </a:prstGeom>
          <a:solidFill>
            <a:srgbClr val="121A24"/>
          </a:solidFill>
          <a:ln w="8890">
            <a:solidFill>
              <a:srgbClr val="263442"/>
            </a:solidFill>
            <a:prstDash val="solid"/>
          </a:ln>
        </p:spPr>
      </p:sp>
      <p:sp>
        <p:nvSpPr>
          <p:cNvPr id="24" name="Shape 22"/>
          <p:cNvSpPr/>
          <p:nvPr/>
        </p:nvSpPr>
        <p:spPr>
          <a:xfrm>
            <a:off x="6400800" y="2670048"/>
            <a:ext cx="173736" cy="173736"/>
          </a:xfrm>
          <a:prstGeom prst="ellipse">
            <a:avLst/>
          </a:prstGeom>
          <a:solidFill>
            <a:srgbClr val="090D12">
              <a:alpha val="0"/>
            </a:srgbClr>
          </a:solidFill>
          <a:ln w="13970">
            <a:solidFill>
              <a:srgbClr val="69DDCF"/>
            </a:solidFill>
            <a:prstDash val="solid"/>
          </a:ln>
        </p:spPr>
      </p:sp>
      <p:sp>
        <p:nvSpPr>
          <p:cNvPr id="25" name="Text 23"/>
          <p:cNvSpPr/>
          <p:nvPr/>
        </p:nvSpPr>
        <p:spPr>
          <a:xfrm>
            <a:off x="6720840" y="2578608"/>
            <a:ext cx="4379976" cy="34747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Trade Ledger inkl. Fees + nächste-Bar-Regel</a:t>
            </a:r>
            <a:endParaRPr lang="en-US" sz="1200" dirty="0"/>
          </a:p>
        </p:txBody>
      </p:sp>
      <p:sp>
        <p:nvSpPr>
          <p:cNvPr id="26" name="Shape 24"/>
          <p:cNvSpPr/>
          <p:nvPr/>
        </p:nvSpPr>
        <p:spPr>
          <a:xfrm>
            <a:off x="6227064" y="3163824"/>
            <a:ext cx="5093208" cy="585216"/>
          </a:xfrm>
          <a:prstGeom prst="roundRect">
            <a:avLst>
              <a:gd name="adj" fmla="val 21875"/>
            </a:avLst>
          </a:prstGeom>
          <a:solidFill>
            <a:srgbClr val="121A24"/>
          </a:solidFill>
          <a:ln w="8890">
            <a:solidFill>
              <a:srgbClr val="263442"/>
            </a:solidFill>
            <a:prstDash val="solid"/>
          </a:ln>
        </p:spPr>
      </p:sp>
      <p:sp>
        <p:nvSpPr>
          <p:cNvPr id="27" name="Shape 25"/>
          <p:cNvSpPr/>
          <p:nvPr/>
        </p:nvSpPr>
        <p:spPr>
          <a:xfrm>
            <a:off x="6400800" y="3374136"/>
            <a:ext cx="173736" cy="173736"/>
          </a:xfrm>
          <a:prstGeom prst="ellipse">
            <a:avLst/>
          </a:prstGeom>
          <a:solidFill>
            <a:srgbClr val="090D12">
              <a:alpha val="0"/>
            </a:srgbClr>
          </a:solidFill>
          <a:ln w="13970">
            <a:solidFill>
              <a:srgbClr val="69DDCF"/>
            </a:solidFill>
            <a:prstDash val="solid"/>
          </a:ln>
        </p:spPr>
      </p:sp>
      <p:sp>
        <p:nvSpPr>
          <p:cNvPr id="28" name="Text 26"/>
          <p:cNvSpPr/>
          <p:nvPr/>
        </p:nvSpPr>
        <p:spPr>
          <a:xfrm>
            <a:off x="6720840" y="3282696"/>
            <a:ext cx="4379976" cy="34747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Chronologischer OOS-Split</a:t>
            </a:r>
            <a:endParaRPr lang="en-US" sz="1200" dirty="0"/>
          </a:p>
        </p:txBody>
      </p:sp>
      <p:sp>
        <p:nvSpPr>
          <p:cNvPr id="29" name="Shape 27"/>
          <p:cNvSpPr/>
          <p:nvPr/>
        </p:nvSpPr>
        <p:spPr>
          <a:xfrm>
            <a:off x="6227064" y="3867912"/>
            <a:ext cx="5093208" cy="585216"/>
          </a:xfrm>
          <a:prstGeom prst="roundRect">
            <a:avLst>
              <a:gd name="adj" fmla="val 21875"/>
            </a:avLst>
          </a:prstGeom>
          <a:solidFill>
            <a:srgbClr val="121A24"/>
          </a:solidFill>
          <a:ln w="8890">
            <a:solidFill>
              <a:srgbClr val="263442"/>
            </a:solidFill>
            <a:prstDash val="solid"/>
          </a:ln>
        </p:spPr>
      </p:sp>
      <p:sp>
        <p:nvSpPr>
          <p:cNvPr id="30" name="Shape 28"/>
          <p:cNvSpPr/>
          <p:nvPr/>
        </p:nvSpPr>
        <p:spPr>
          <a:xfrm>
            <a:off x="6400800" y="4078224"/>
            <a:ext cx="173736" cy="173736"/>
          </a:xfrm>
          <a:prstGeom prst="ellipse">
            <a:avLst/>
          </a:prstGeom>
          <a:solidFill>
            <a:srgbClr val="090D12">
              <a:alpha val="0"/>
            </a:srgbClr>
          </a:solidFill>
          <a:ln w="13970">
            <a:solidFill>
              <a:srgbClr val="69DDCF"/>
            </a:solidFill>
            <a:prstDash val="solid"/>
          </a:ln>
        </p:spPr>
      </p:sp>
      <p:sp>
        <p:nvSpPr>
          <p:cNvPr id="31" name="Text 29"/>
          <p:cNvSpPr/>
          <p:nvPr/>
        </p:nvSpPr>
        <p:spPr>
          <a:xfrm>
            <a:off x="6720840" y="3986784"/>
            <a:ext cx="4379976" cy="34747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Run mit Manifest speichern &amp; identisch reproduzieren</a:t>
            </a:r>
            <a:endParaRPr lang="en-US" sz="1200" dirty="0"/>
          </a:p>
        </p:txBody>
      </p:sp>
      <p:sp>
        <p:nvSpPr>
          <p:cNvPr id="32" name="Shape 30"/>
          <p:cNvSpPr/>
          <p:nvPr/>
        </p:nvSpPr>
        <p:spPr>
          <a:xfrm>
            <a:off x="6227064" y="4572000"/>
            <a:ext cx="5093208" cy="585216"/>
          </a:xfrm>
          <a:prstGeom prst="roundRect">
            <a:avLst>
              <a:gd name="adj" fmla="val 21875"/>
            </a:avLst>
          </a:prstGeom>
          <a:solidFill>
            <a:srgbClr val="121A24"/>
          </a:solidFill>
          <a:ln w="8890">
            <a:solidFill>
              <a:srgbClr val="263442"/>
            </a:solidFill>
            <a:prstDash val="solid"/>
          </a:ln>
        </p:spPr>
      </p:sp>
      <p:sp>
        <p:nvSpPr>
          <p:cNvPr id="33" name="Shape 31"/>
          <p:cNvSpPr/>
          <p:nvPr/>
        </p:nvSpPr>
        <p:spPr>
          <a:xfrm>
            <a:off x="6400800" y="4782312"/>
            <a:ext cx="173736" cy="173736"/>
          </a:xfrm>
          <a:prstGeom prst="ellipse">
            <a:avLst/>
          </a:prstGeom>
          <a:solidFill>
            <a:srgbClr val="090D12">
              <a:alpha val="0"/>
            </a:srgbClr>
          </a:solidFill>
          <a:ln w="13970">
            <a:solidFill>
              <a:srgbClr val="69DDCF"/>
            </a:solidFill>
            <a:prstDash val="solid"/>
          </a:ln>
        </p:spPr>
      </p:sp>
      <p:sp>
        <p:nvSpPr>
          <p:cNvPr id="34" name="Text 32"/>
          <p:cNvSpPr/>
          <p:nvPr/>
        </p:nvSpPr>
        <p:spPr>
          <a:xfrm>
            <a:off x="6720840" y="4690872"/>
            <a:ext cx="4379976" cy="34747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UI zeigt explizite Risiken, nicht „guaranteed alpha“</a:t>
            </a:r>
            <a:endParaRPr lang="en-US" sz="1200" dirty="0"/>
          </a:p>
        </p:txBody>
      </p:sp>
      <p:sp>
        <p:nvSpPr>
          <p:cNvPr id="35" name="Shape 33"/>
          <p:cNvSpPr/>
          <p:nvPr/>
        </p:nvSpPr>
        <p:spPr>
          <a:xfrm>
            <a:off x="795528" y="5522976"/>
            <a:ext cx="10533888" cy="448056"/>
          </a:xfrm>
          <a:prstGeom prst="roundRect">
            <a:avLst>
              <a:gd name="adj" fmla="val 28571"/>
            </a:avLst>
          </a:prstGeom>
          <a:solidFill>
            <a:srgbClr val="16212C"/>
          </a:solidFill>
          <a:ln w="8890">
            <a:solidFill>
              <a:srgbClr val="263442"/>
            </a:solidFill>
            <a:prstDash val="solid"/>
          </a:ln>
        </p:spPr>
      </p:sp>
      <p:sp>
        <p:nvSpPr>
          <p:cNvPr id="36" name="Text 34"/>
          <p:cNvSpPr/>
          <p:nvPr/>
        </p:nvSpPr>
        <p:spPr>
          <a:xfrm>
            <a:off x="1042416" y="5641848"/>
            <a:ext cx="10058400" cy="201168"/>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ACCEPTANCE: gleiche Inputs → gleiche Trades, gleiche Kosten, gleiche Kennzahlen.</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EXAMPLE EXPERIMENT</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29</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28 / RESEARCH EXAMPLE</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NY Opening Range: Was JARVIS tatsächlich testet.</a:t>
            </a:r>
            <a:endParaRPr lang="en-US" sz="2900" dirty="0"/>
          </a:p>
        </p:txBody>
      </p:sp>
      <p:sp>
        <p:nvSpPr>
          <p:cNvPr id="11" name="Shape 9"/>
          <p:cNvSpPr/>
          <p:nvPr/>
        </p:nvSpPr>
        <p:spPr>
          <a:xfrm>
            <a:off x="685800" y="2304288"/>
            <a:ext cx="10899648" cy="502920"/>
          </a:xfrm>
          <a:prstGeom prst="roundRect">
            <a:avLst>
              <a:gd name="adj" fmla="val 25455"/>
            </a:avLst>
          </a:prstGeom>
          <a:solidFill>
            <a:srgbClr val="121A24"/>
          </a:solidFill>
          <a:ln w="8890">
            <a:solidFill>
              <a:srgbClr val="263442"/>
            </a:solidFill>
            <a:prstDash val="solid"/>
          </a:ln>
        </p:spPr>
      </p:sp>
      <p:sp>
        <p:nvSpPr>
          <p:cNvPr id="12" name="Text 10"/>
          <p:cNvSpPr/>
          <p:nvPr/>
        </p:nvSpPr>
        <p:spPr>
          <a:xfrm>
            <a:off x="896112" y="2441448"/>
            <a:ext cx="1975104" cy="21031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HYPOTHESIS</a:t>
            </a:r>
            <a:endParaRPr lang="en-US" sz="1000" dirty="0"/>
          </a:p>
        </p:txBody>
      </p:sp>
      <p:sp>
        <p:nvSpPr>
          <p:cNvPr id="13" name="Text 11"/>
          <p:cNvSpPr/>
          <p:nvPr/>
        </p:nvSpPr>
        <p:spPr>
          <a:xfrm>
            <a:off x="2953512" y="2414016"/>
            <a:ext cx="8202168" cy="25603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Richtungsausbruch nach erster 15-Minuten-Range</a:t>
            </a:r>
            <a:endParaRPr lang="en-US" sz="1200" dirty="0"/>
          </a:p>
        </p:txBody>
      </p:sp>
      <p:sp>
        <p:nvSpPr>
          <p:cNvPr id="14" name="Shape 12"/>
          <p:cNvSpPr/>
          <p:nvPr/>
        </p:nvSpPr>
        <p:spPr>
          <a:xfrm>
            <a:off x="685800" y="2889504"/>
            <a:ext cx="10899648" cy="502920"/>
          </a:xfrm>
          <a:prstGeom prst="roundRect">
            <a:avLst>
              <a:gd name="adj" fmla="val 25455"/>
            </a:avLst>
          </a:prstGeom>
          <a:solidFill>
            <a:srgbClr val="0E141C"/>
          </a:solidFill>
          <a:ln w="8890">
            <a:solidFill>
              <a:srgbClr val="263442"/>
            </a:solidFill>
            <a:prstDash val="solid"/>
          </a:ln>
        </p:spPr>
      </p:sp>
      <p:sp>
        <p:nvSpPr>
          <p:cNvPr id="15" name="Text 13"/>
          <p:cNvSpPr/>
          <p:nvPr/>
        </p:nvSpPr>
        <p:spPr>
          <a:xfrm>
            <a:off x="896112" y="3026664"/>
            <a:ext cx="1975104" cy="21031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VARIABLES</a:t>
            </a:r>
            <a:endParaRPr lang="en-US" sz="1000" dirty="0"/>
          </a:p>
        </p:txBody>
      </p:sp>
      <p:sp>
        <p:nvSpPr>
          <p:cNvPr id="16" name="Text 14"/>
          <p:cNvSpPr/>
          <p:nvPr/>
        </p:nvSpPr>
        <p:spPr>
          <a:xfrm>
            <a:off x="2953512" y="2999232"/>
            <a:ext cx="8202168" cy="25603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Instrument · Break-Regel · Stop · Sessions · Exit</a:t>
            </a:r>
            <a:endParaRPr lang="en-US" sz="1200" dirty="0"/>
          </a:p>
        </p:txBody>
      </p:sp>
      <p:sp>
        <p:nvSpPr>
          <p:cNvPr id="17" name="Shape 15"/>
          <p:cNvSpPr/>
          <p:nvPr/>
        </p:nvSpPr>
        <p:spPr>
          <a:xfrm>
            <a:off x="685800" y="3474720"/>
            <a:ext cx="10899648" cy="502920"/>
          </a:xfrm>
          <a:prstGeom prst="roundRect">
            <a:avLst>
              <a:gd name="adj" fmla="val 25455"/>
            </a:avLst>
          </a:prstGeom>
          <a:solidFill>
            <a:srgbClr val="121A24"/>
          </a:solidFill>
          <a:ln w="8890">
            <a:solidFill>
              <a:srgbClr val="263442"/>
            </a:solidFill>
            <a:prstDash val="solid"/>
          </a:ln>
        </p:spPr>
      </p:sp>
      <p:sp>
        <p:nvSpPr>
          <p:cNvPr id="18" name="Text 16"/>
          <p:cNvSpPr/>
          <p:nvPr/>
        </p:nvSpPr>
        <p:spPr>
          <a:xfrm>
            <a:off x="896112" y="3611880"/>
            <a:ext cx="1975104" cy="21031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DATA</a:t>
            </a:r>
            <a:endParaRPr lang="en-US" sz="1000" dirty="0"/>
          </a:p>
        </p:txBody>
      </p:sp>
      <p:sp>
        <p:nvSpPr>
          <p:cNvPr id="19" name="Text 17"/>
          <p:cNvSpPr/>
          <p:nvPr/>
        </p:nvSpPr>
        <p:spPr>
          <a:xfrm>
            <a:off x="2953512" y="3584448"/>
            <a:ext cx="8202168" cy="25603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Kontrakthistorie, Zeitumstellung, Intraday-Granularität</a:t>
            </a:r>
            <a:endParaRPr lang="en-US" sz="1200" dirty="0"/>
          </a:p>
        </p:txBody>
      </p:sp>
      <p:sp>
        <p:nvSpPr>
          <p:cNvPr id="20" name="Shape 18"/>
          <p:cNvSpPr/>
          <p:nvPr/>
        </p:nvSpPr>
        <p:spPr>
          <a:xfrm>
            <a:off x="685800" y="4059936"/>
            <a:ext cx="10899648" cy="502920"/>
          </a:xfrm>
          <a:prstGeom prst="roundRect">
            <a:avLst>
              <a:gd name="adj" fmla="val 25455"/>
            </a:avLst>
          </a:prstGeom>
          <a:solidFill>
            <a:srgbClr val="0E141C"/>
          </a:solidFill>
          <a:ln w="8890">
            <a:solidFill>
              <a:srgbClr val="263442"/>
            </a:solidFill>
            <a:prstDash val="solid"/>
          </a:ln>
        </p:spPr>
      </p:sp>
      <p:sp>
        <p:nvSpPr>
          <p:cNvPr id="21" name="Text 19"/>
          <p:cNvSpPr/>
          <p:nvPr/>
        </p:nvSpPr>
        <p:spPr>
          <a:xfrm>
            <a:off x="896112" y="4197096"/>
            <a:ext cx="1975104" cy="21031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EXECUTION</a:t>
            </a:r>
            <a:endParaRPr lang="en-US" sz="1000" dirty="0"/>
          </a:p>
        </p:txBody>
      </p:sp>
      <p:sp>
        <p:nvSpPr>
          <p:cNvPr id="22" name="Text 20"/>
          <p:cNvSpPr/>
          <p:nvPr/>
        </p:nvSpPr>
        <p:spPr>
          <a:xfrm>
            <a:off x="2953512" y="4169664"/>
            <a:ext cx="8202168" cy="25603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Entry auf verfügbarem Preis, Tick Value, Gebühren, Spread</a:t>
            </a:r>
            <a:endParaRPr lang="en-US" sz="1200" dirty="0"/>
          </a:p>
        </p:txBody>
      </p:sp>
      <p:sp>
        <p:nvSpPr>
          <p:cNvPr id="23" name="Shape 21"/>
          <p:cNvSpPr/>
          <p:nvPr/>
        </p:nvSpPr>
        <p:spPr>
          <a:xfrm>
            <a:off x="685800" y="4645152"/>
            <a:ext cx="10899648" cy="502920"/>
          </a:xfrm>
          <a:prstGeom prst="roundRect">
            <a:avLst>
              <a:gd name="adj" fmla="val 25455"/>
            </a:avLst>
          </a:prstGeom>
          <a:solidFill>
            <a:srgbClr val="121A24"/>
          </a:solidFill>
          <a:ln w="8890">
            <a:solidFill>
              <a:srgbClr val="263442"/>
            </a:solidFill>
            <a:prstDash val="solid"/>
          </a:ln>
        </p:spPr>
      </p:sp>
      <p:sp>
        <p:nvSpPr>
          <p:cNvPr id="24" name="Text 22"/>
          <p:cNvSpPr/>
          <p:nvPr/>
        </p:nvSpPr>
        <p:spPr>
          <a:xfrm>
            <a:off x="896112" y="4782312"/>
            <a:ext cx="1975104" cy="21031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VALIDATION</a:t>
            </a:r>
            <a:endParaRPr lang="en-US" sz="1000" dirty="0"/>
          </a:p>
        </p:txBody>
      </p:sp>
      <p:sp>
        <p:nvSpPr>
          <p:cNvPr id="25" name="Text 23"/>
          <p:cNvSpPr/>
          <p:nvPr/>
        </p:nvSpPr>
        <p:spPr>
          <a:xfrm>
            <a:off x="2953512" y="4754880"/>
            <a:ext cx="8202168" cy="25603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Baseline → OOS → WF → Kostenstress → Regime</a:t>
            </a:r>
            <a:endParaRPr lang="en-US" sz="1200" dirty="0"/>
          </a:p>
        </p:txBody>
      </p:sp>
      <p:sp>
        <p:nvSpPr>
          <p:cNvPr id="26" name="Shape 24"/>
          <p:cNvSpPr/>
          <p:nvPr/>
        </p:nvSpPr>
        <p:spPr>
          <a:xfrm>
            <a:off x="685800" y="5230368"/>
            <a:ext cx="10899648" cy="502920"/>
          </a:xfrm>
          <a:prstGeom prst="roundRect">
            <a:avLst>
              <a:gd name="adj" fmla="val 25455"/>
            </a:avLst>
          </a:prstGeom>
          <a:solidFill>
            <a:srgbClr val="0E141C"/>
          </a:solidFill>
          <a:ln w="8890">
            <a:solidFill>
              <a:srgbClr val="263442"/>
            </a:solidFill>
            <a:prstDash val="solid"/>
          </a:ln>
        </p:spPr>
      </p:sp>
      <p:sp>
        <p:nvSpPr>
          <p:cNvPr id="27" name="Text 25"/>
          <p:cNvSpPr/>
          <p:nvPr/>
        </p:nvSpPr>
        <p:spPr>
          <a:xfrm>
            <a:off x="896112" y="5367528"/>
            <a:ext cx="1975104" cy="21031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DECISION</a:t>
            </a:r>
            <a:endParaRPr lang="en-US" sz="1000" dirty="0"/>
          </a:p>
        </p:txBody>
      </p:sp>
      <p:sp>
        <p:nvSpPr>
          <p:cNvPr id="28" name="Text 26"/>
          <p:cNvSpPr/>
          <p:nvPr/>
        </p:nvSpPr>
        <p:spPr>
          <a:xfrm>
            <a:off x="2953512" y="5340096"/>
            <a:ext cx="8202168" cy="256032"/>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Was bleibt nach Kosten und unabhängigen Perioden?</a:t>
            </a:r>
            <a:endParaRPr lang="en-US" sz="1200" dirty="0"/>
          </a:p>
        </p:txBody>
      </p:sp>
      <p:sp>
        <p:nvSpPr>
          <p:cNvPr id="29" name="Text 27"/>
          <p:cNvSpPr/>
          <p:nvPr/>
        </p:nvSpPr>
        <p:spPr>
          <a:xfrm>
            <a:off x="758952" y="5934456"/>
            <a:ext cx="10570464" cy="192024"/>
          </a:xfrm>
          <a:prstGeom prst="rect">
            <a:avLst/>
          </a:prstGeom>
          <a:noFill/>
          <a:ln/>
        </p:spPr>
        <p:txBody>
          <a:bodyPr wrap="square" lIns="0" tIns="0" rIns="0" bIns="0" rtlCol="0" anchor="ctr">
            <a:normAutofit/>
          </a:bodyPr>
          <a:lstStyle/>
          <a:p>
            <a:pPr indent="0" marL="0">
              <a:buNone/>
            </a:pPr>
            <a:r>
              <a:rPr lang="en-US" sz="1200" dirty="0">
                <a:solidFill>
                  <a:srgbClr val="F1C479"/>
                </a:solidFill>
                <a:latin typeface="Inter" pitchFamily="34" charset="0"/>
                <a:ea typeface="Inter" pitchFamily="34" charset="-122"/>
                <a:cs typeface="Inter" pitchFamily="34" charset="-120"/>
              </a:rPr>
              <a:t>Das Beispiel definiert eine Forschungsmethode – keine Trading-Empfehlung.</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PRODUCT PRIORITIES</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30</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29 / DESIGN TRADE-OFFS</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Was wir absichtlich nicht sofort bauen.</a:t>
            </a:r>
            <a:endParaRPr lang="en-US" sz="2900" dirty="0"/>
          </a:p>
        </p:txBody>
      </p:sp>
      <p:sp>
        <p:nvSpPr>
          <p:cNvPr id="11" name="Shape 9"/>
          <p:cNvSpPr/>
          <p:nvPr/>
        </p:nvSpPr>
        <p:spPr>
          <a:xfrm>
            <a:off x="658368" y="2459736"/>
            <a:ext cx="5394960" cy="3108960"/>
          </a:xfrm>
          <a:prstGeom prst="roundRect">
            <a:avLst>
              <a:gd name="adj" fmla="val 4118"/>
            </a:avLst>
          </a:prstGeom>
          <a:solidFill>
            <a:srgbClr val="16212C"/>
          </a:solidFill>
          <a:ln w="8890">
            <a:solidFill>
              <a:srgbClr val="263442"/>
            </a:solidFill>
            <a:prstDash val="solid"/>
          </a:ln>
        </p:spPr>
      </p:sp>
      <p:sp>
        <p:nvSpPr>
          <p:cNvPr id="12" name="Shape 10"/>
          <p:cNvSpPr/>
          <p:nvPr/>
        </p:nvSpPr>
        <p:spPr>
          <a:xfrm>
            <a:off x="6181344" y="2459736"/>
            <a:ext cx="5394960" cy="3108960"/>
          </a:xfrm>
          <a:prstGeom prst="roundRect">
            <a:avLst>
              <a:gd name="adj" fmla="val 4118"/>
            </a:avLst>
          </a:prstGeom>
          <a:solidFill>
            <a:srgbClr val="121A24"/>
          </a:solidFill>
          <a:ln w="8890">
            <a:solidFill>
              <a:srgbClr val="263442"/>
            </a:solidFill>
            <a:prstDash val="solid"/>
          </a:ln>
        </p:spPr>
      </p:sp>
      <p:sp>
        <p:nvSpPr>
          <p:cNvPr id="13" name="Text 11"/>
          <p:cNvSpPr/>
          <p:nvPr/>
        </p:nvSpPr>
        <p:spPr>
          <a:xfrm>
            <a:off x="923544" y="2734056"/>
            <a:ext cx="4544568" cy="210312"/>
          </a:xfrm>
          <a:prstGeom prst="rect">
            <a:avLst/>
          </a:prstGeom>
          <a:noFill/>
          <a:ln/>
        </p:spPr>
        <p:txBody>
          <a:bodyPr wrap="square" lIns="0" tIns="0" rIns="0" bIns="0" rtlCol="0" anchor="ctr">
            <a:normAutofit/>
          </a:bodyPr>
          <a:lstStyle/>
          <a:p>
            <a:pPr indent="0" marL="0">
              <a:buNone/>
            </a:pPr>
            <a:r>
              <a:rPr lang="en-US" sz="1300" b="1" dirty="0">
                <a:solidFill>
                  <a:srgbClr val="69DDCF"/>
                </a:solidFill>
                <a:latin typeface="Inter" pitchFamily="34" charset="0"/>
                <a:ea typeface="Inter" pitchFamily="34" charset="-122"/>
                <a:cs typeface="Inter" pitchFamily="34" charset="-120"/>
              </a:rPr>
              <a:t>BUILD FIRST</a:t>
            </a:r>
            <a:endParaRPr lang="en-US" sz="1300" dirty="0"/>
          </a:p>
        </p:txBody>
      </p:sp>
      <p:sp>
        <p:nvSpPr>
          <p:cNvPr id="14" name="Text 12"/>
          <p:cNvSpPr/>
          <p:nvPr/>
        </p:nvSpPr>
        <p:spPr>
          <a:xfrm>
            <a:off x="6464808" y="2734056"/>
            <a:ext cx="4544568" cy="210312"/>
          </a:xfrm>
          <a:prstGeom prst="rect">
            <a:avLst/>
          </a:prstGeom>
          <a:noFill/>
          <a:ln/>
        </p:spPr>
        <p:txBody>
          <a:bodyPr wrap="square" lIns="0" tIns="0" rIns="0" bIns="0" rtlCol="0" anchor="ctr">
            <a:normAutofit/>
          </a:bodyPr>
          <a:lstStyle/>
          <a:p>
            <a:pPr indent="0" marL="0">
              <a:buNone/>
            </a:pPr>
            <a:r>
              <a:rPr lang="en-US" sz="1300" b="1" dirty="0">
                <a:solidFill>
                  <a:srgbClr val="F1C479"/>
                </a:solidFill>
                <a:latin typeface="Inter" pitchFamily="34" charset="0"/>
                <a:ea typeface="Inter" pitchFamily="34" charset="-122"/>
                <a:cs typeface="Inter" pitchFamily="34" charset="-120"/>
              </a:rPr>
              <a:t>DEFER / REJECT</a:t>
            </a:r>
            <a:endParaRPr lang="en-US" sz="1300" dirty="0"/>
          </a:p>
        </p:txBody>
      </p:sp>
      <p:sp>
        <p:nvSpPr>
          <p:cNvPr id="15" name="Shape 13"/>
          <p:cNvSpPr/>
          <p:nvPr/>
        </p:nvSpPr>
        <p:spPr>
          <a:xfrm>
            <a:off x="969264" y="3259836"/>
            <a:ext cx="64008" cy="64008"/>
          </a:xfrm>
          <a:prstGeom prst="ellipse">
            <a:avLst/>
          </a:prstGeom>
          <a:solidFill>
            <a:srgbClr val="69DDCF"/>
          </a:solidFill>
          <a:ln w="12700">
            <a:solidFill>
              <a:srgbClr val="69DDCF">
                <a:alpha val="0"/>
              </a:srgbClr>
            </a:solidFill>
            <a:prstDash val="solid"/>
          </a:ln>
        </p:spPr>
      </p:sp>
      <p:sp>
        <p:nvSpPr>
          <p:cNvPr id="16" name="Text 14"/>
          <p:cNvSpPr/>
          <p:nvPr/>
        </p:nvSpPr>
        <p:spPr>
          <a:xfrm>
            <a:off x="1152144" y="3182112"/>
            <a:ext cx="4517136" cy="4114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Ein Markt zuerst</a:t>
            </a:r>
            <a:endParaRPr lang="en-US" sz="1200" dirty="0"/>
          </a:p>
        </p:txBody>
      </p:sp>
      <p:sp>
        <p:nvSpPr>
          <p:cNvPr id="17" name="Shape 15"/>
          <p:cNvSpPr/>
          <p:nvPr/>
        </p:nvSpPr>
        <p:spPr>
          <a:xfrm>
            <a:off x="969264" y="3717036"/>
            <a:ext cx="64008" cy="64008"/>
          </a:xfrm>
          <a:prstGeom prst="ellipse">
            <a:avLst/>
          </a:prstGeom>
          <a:solidFill>
            <a:srgbClr val="69DDCF"/>
          </a:solidFill>
          <a:ln w="12700">
            <a:solidFill>
              <a:srgbClr val="69DDCF">
                <a:alpha val="0"/>
              </a:srgbClr>
            </a:solidFill>
            <a:prstDash val="solid"/>
          </a:ln>
        </p:spPr>
      </p:sp>
      <p:sp>
        <p:nvSpPr>
          <p:cNvPr id="18" name="Text 16"/>
          <p:cNvSpPr/>
          <p:nvPr/>
        </p:nvSpPr>
        <p:spPr>
          <a:xfrm>
            <a:off x="1152144" y="3639312"/>
            <a:ext cx="4517136" cy="4114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Datenimport + Data Passport</a:t>
            </a:r>
            <a:endParaRPr lang="en-US" sz="1200" dirty="0"/>
          </a:p>
        </p:txBody>
      </p:sp>
      <p:sp>
        <p:nvSpPr>
          <p:cNvPr id="19" name="Shape 17"/>
          <p:cNvSpPr/>
          <p:nvPr/>
        </p:nvSpPr>
        <p:spPr>
          <a:xfrm>
            <a:off x="969264" y="4174236"/>
            <a:ext cx="64008" cy="64008"/>
          </a:xfrm>
          <a:prstGeom prst="ellipse">
            <a:avLst/>
          </a:prstGeom>
          <a:solidFill>
            <a:srgbClr val="69DDCF"/>
          </a:solidFill>
          <a:ln w="12700">
            <a:solidFill>
              <a:srgbClr val="69DDCF">
                <a:alpha val="0"/>
              </a:srgbClr>
            </a:solidFill>
            <a:prstDash val="solid"/>
          </a:ln>
        </p:spPr>
      </p:sp>
      <p:sp>
        <p:nvSpPr>
          <p:cNvPr id="20" name="Text 18"/>
          <p:cNvSpPr/>
          <p:nvPr/>
        </p:nvSpPr>
        <p:spPr>
          <a:xfrm>
            <a:off x="1152144" y="4096512"/>
            <a:ext cx="4517136" cy="4114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Eine getestete Engine</a:t>
            </a:r>
            <a:endParaRPr lang="en-US" sz="1200" dirty="0"/>
          </a:p>
        </p:txBody>
      </p:sp>
      <p:sp>
        <p:nvSpPr>
          <p:cNvPr id="21" name="Shape 19"/>
          <p:cNvSpPr/>
          <p:nvPr/>
        </p:nvSpPr>
        <p:spPr>
          <a:xfrm>
            <a:off x="969264" y="4631436"/>
            <a:ext cx="64008" cy="64008"/>
          </a:xfrm>
          <a:prstGeom prst="ellipse">
            <a:avLst/>
          </a:prstGeom>
          <a:solidFill>
            <a:srgbClr val="69DDCF"/>
          </a:solidFill>
          <a:ln w="12700">
            <a:solidFill>
              <a:srgbClr val="69DDCF">
                <a:alpha val="0"/>
              </a:srgbClr>
            </a:solidFill>
            <a:prstDash val="solid"/>
          </a:ln>
        </p:spPr>
      </p:sp>
      <p:sp>
        <p:nvSpPr>
          <p:cNvPr id="22" name="Text 20"/>
          <p:cNvSpPr/>
          <p:nvPr/>
        </p:nvSpPr>
        <p:spPr>
          <a:xfrm>
            <a:off x="1152144" y="4553712"/>
            <a:ext cx="4517136" cy="4114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OOS + Kostenstress</a:t>
            </a:r>
            <a:endParaRPr lang="en-US" sz="1200" dirty="0"/>
          </a:p>
        </p:txBody>
      </p:sp>
      <p:sp>
        <p:nvSpPr>
          <p:cNvPr id="23" name="Shape 21"/>
          <p:cNvSpPr/>
          <p:nvPr/>
        </p:nvSpPr>
        <p:spPr>
          <a:xfrm>
            <a:off x="969264" y="5088636"/>
            <a:ext cx="64008" cy="64008"/>
          </a:xfrm>
          <a:prstGeom prst="ellipse">
            <a:avLst/>
          </a:prstGeom>
          <a:solidFill>
            <a:srgbClr val="69DDCF"/>
          </a:solidFill>
          <a:ln w="12700">
            <a:solidFill>
              <a:srgbClr val="69DDCF">
                <a:alpha val="0"/>
              </a:srgbClr>
            </a:solidFill>
            <a:prstDash val="solid"/>
          </a:ln>
        </p:spPr>
      </p:sp>
      <p:sp>
        <p:nvSpPr>
          <p:cNvPr id="24" name="Text 22"/>
          <p:cNvSpPr/>
          <p:nvPr/>
        </p:nvSpPr>
        <p:spPr>
          <a:xfrm>
            <a:off x="1152144" y="5010912"/>
            <a:ext cx="4517136" cy="41148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Elegantes Research Dashboard</a:t>
            </a:r>
            <a:endParaRPr lang="en-US" sz="1200" dirty="0"/>
          </a:p>
        </p:txBody>
      </p:sp>
      <p:sp>
        <p:nvSpPr>
          <p:cNvPr id="25" name="Shape 23"/>
          <p:cNvSpPr/>
          <p:nvPr/>
        </p:nvSpPr>
        <p:spPr>
          <a:xfrm>
            <a:off x="6501384" y="3255264"/>
            <a:ext cx="73152" cy="73152"/>
          </a:xfrm>
          <a:prstGeom prst="ellipse">
            <a:avLst/>
          </a:prstGeom>
          <a:solidFill>
            <a:srgbClr val="F1C479"/>
          </a:solidFill>
          <a:ln w="12700">
            <a:solidFill>
              <a:srgbClr val="F1C479">
                <a:alpha val="0"/>
              </a:srgbClr>
            </a:solidFill>
            <a:prstDash val="solid"/>
          </a:ln>
        </p:spPr>
      </p:sp>
      <p:sp>
        <p:nvSpPr>
          <p:cNvPr id="26" name="Text 24"/>
          <p:cNvSpPr/>
          <p:nvPr/>
        </p:nvSpPr>
        <p:spPr>
          <a:xfrm>
            <a:off x="6684264" y="3182112"/>
            <a:ext cx="4489704" cy="374904"/>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50 Datenanbieter gleichzeitig</a:t>
            </a:r>
            <a:endParaRPr lang="en-US" sz="1200" dirty="0"/>
          </a:p>
        </p:txBody>
      </p:sp>
      <p:sp>
        <p:nvSpPr>
          <p:cNvPr id="27" name="Shape 25"/>
          <p:cNvSpPr/>
          <p:nvPr/>
        </p:nvSpPr>
        <p:spPr>
          <a:xfrm>
            <a:off x="6501384" y="3712464"/>
            <a:ext cx="73152" cy="73152"/>
          </a:xfrm>
          <a:prstGeom prst="ellipse">
            <a:avLst/>
          </a:prstGeom>
          <a:solidFill>
            <a:srgbClr val="F1C479"/>
          </a:solidFill>
          <a:ln w="12700">
            <a:solidFill>
              <a:srgbClr val="F1C479">
                <a:alpha val="0"/>
              </a:srgbClr>
            </a:solidFill>
            <a:prstDash val="solid"/>
          </a:ln>
        </p:spPr>
      </p:sp>
      <p:sp>
        <p:nvSpPr>
          <p:cNvPr id="28" name="Text 26"/>
          <p:cNvSpPr/>
          <p:nvPr/>
        </p:nvSpPr>
        <p:spPr>
          <a:xfrm>
            <a:off x="6684264" y="3639312"/>
            <a:ext cx="4489704" cy="374904"/>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Live Trading / Broker Orders</a:t>
            </a:r>
            <a:endParaRPr lang="en-US" sz="1200" dirty="0"/>
          </a:p>
        </p:txBody>
      </p:sp>
      <p:sp>
        <p:nvSpPr>
          <p:cNvPr id="29" name="Shape 27"/>
          <p:cNvSpPr/>
          <p:nvPr/>
        </p:nvSpPr>
        <p:spPr>
          <a:xfrm>
            <a:off x="6501384" y="4169664"/>
            <a:ext cx="73152" cy="73152"/>
          </a:xfrm>
          <a:prstGeom prst="ellipse">
            <a:avLst/>
          </a:prstGeom>
          <a:solidFill>
            <a:srgbClr val="F1C479"/>
          </a:solidFill>
          <a:ln w="12700">
            <a:solidFill>
              <a:srgbClr val="F1C479">
                <a:alpha val="0"/>
              </a:srgbClr>
            </a:solidFill>
            <a:prstDash val="solid"/>
          </a:ln>
        </p:spPr>
      </p:sp>
      <p:sp>
        <p:nvSpPr>
          <p:cNvPr id="30" name="Text 28"/>
          <p:cNvSpPr/>
          <p:nvPr/>
        </p:nvSpPr>
        <p:spPr>
          <a:xfrm>
            <a:off x="6684264" y="4096512"/>
            <a:ext cx="4489704" cy="374904"/>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„Auto-optimise profit“ Button</a:t>
            </a:r>
            <a:endParaRPr lang="en-US" sz="1200" dirty="0"/>
          </a:p>
        </p:txBody>
      </p:sp>
      <p:sp>
        <p:nvSpPr>
          <p:cNvPr id="31" name="Shape 29"/>
          <p:cNvSpPr/>
          <p:nvPr/>
        </p:nvSpPr>
        <p:spPr>
          <a:xfrm>
            <a:off x="6501384" y="4626864"/>
            <a:ext cx="73152" cy="73152"/>
          </a:xfrm>
          <a:prstGeom prst="ellipse">
            <a:avLst/>
          </a:prstGeom>
          <a:solidFill>
            <a:srgbClr val="F1C479"/>
          </a:solidFill>
          <a:ln w="12700">
            <a:solidFill>
              <a:srgbClr val="F1C479">
                <a:alpha val="0"/>
              </a:srgbClr>
            </a:solidFill>
            <a:prstDash val="solid"/>
          </a:ln>
        </p:spPr>
      </p:sp>
      <p:sp>
        <p:nvSpPr>
          <p:cNvPr id="32" name="Text 30"/>
          <p:cNvSpPr/>
          <p:nvPr/>
        </p:nvSpPr>
        <p:spPr>
          <a:xfrm>
            <a:off x="6684264" y="4553712"/>
            <a:ext cx="4489704" cy="374904"/>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Komplexes Agent-Theater</a:t>
            </a:r>
            <a:endParaRPr lang="en-US" sz="1200" dirty="0"/>
          </a:p>
        </p:txBody>
      </p:sp>
      <p:sp>
        <p:nvSpPr>
          <p:cNvPr id="33" name="Shape 31"/>
          <p:cNvSpPr/>
          <p:nvPr/>
        </p:nvSpPr>
        <p:spPr>
          <a:xfrm>
            <a:off x="6501384" y="5084064"/>
            <a:ext cx="73152" cy="73152"/>
          </a:xfrm>
          <a:prstGeom prst="ellipse">
            <a:avLst/>
          </a:prstGeom>
          <a:solidFill>
            <a:srgbClr val="F1C479"/>
          </a:solidFill>
          <a:ln w="12700">
            <a:solidFill>
              <a:srgbClr val="F1C479">
                <a:alpha val="0"/>
              </a:srgbClr>
            </a:solidFill>
            <a:prstDash val="solid"/>
          </a:ln>
        </p:spPr>
      </p:sp>
      <p:sp>
        <p:nvSpPr>
          <p:cNvPr id="34" name="Text 32"/>
          <p:cNvSpPr/>
          <p:nvPr/>
        </p:nvSpPr>
        <p:spPr>
          <a:xfrm>
            <a:off x="6684264" y="5010912"/>
            <a:ext cx="4489704" cy="374904"/>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3D-Effekte statt verlässlicher Fills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EXECUTION DECISION</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31</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30 / RECOMMENDATION</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QuantLab wird das wissenschaftliche Gewissen von JARVIS.</a:t>
            </a:r>
            <a:endParaRPr lang="en-US" sz="2900" dirty="0"/>
          </a:p>
        </p:txBody>
      </p:sp>
      <p:sp>
        <p:nvSpPr>
          <p:cNvPr id="11" name="Shape 9"/>
          <p:cNvSpPr/>
          <p:nvPr/>
        </p:nvSpPr>
        <p:spPr>
          <a:xfrm>
            <a:off x="667512" y="2560320"/>
            <a:ext cx="10844784" cy="1993392"/>
          </a:xfrm>
          <a:prstGeom prst="roundRect">
            <a:avLst>
              <a:gd name="adj" fmla="val 6422"/>
            </a:avLst>
          </a:prstGeom>
          <a:solidFill>
            <a:srgbClr val="16212C"/>
          </a:solidFill>
          <a:ln w="8890">
            <a:solidFill>
              <a:srgbClr val="263442"/>
            </a:solidFill>
            <a:prstDash val="solid"/>
          </a:ln>
        </p:spPr>
      </p:sp>
      <p:sp>
        <p:nvSpPr>
          <p:cNvPr id="12" name="Text 10"/>
          <p:cNvSpPr/>
          <p:nvPr/>
        </p:nvSpPr>
        <p:spPr>
          <a:xfrm>
            <a:off x="950976" y="2889504"/>
            <a:ext cx="10213848" cy="411480"/>
          </a:xfrm>
          <a:prstGeom prst="rect">
            <a:avLst/>
          </a:prstGeom>
          <a:noFill/>
          <a:ln/>
        </p:spPr>
        <p:txBody>
          <a:bodyPr wrap="square" lIns="0" tIns="0" rIns="0" bIns="0" rtlCol="0" anchor="ctr">
            <a:normAutofit/>
          </a:bodyPr>
          <a:lstStyle/>
          <a:p>
            <a:pPr indent="0" marL="0">
              <a:buNone/>
            </a:pPr>
            <a:r>
              <a:rPr lang="en-US" sz="2600" b="1" dirty="0">
                <a:solidFill>
                  <a:srgbClr val="EDF5F7"/>
                </a:solidFill>
                <a:latin typeface="Inter Display" pitchFamily="34" charset="0"/>
                <a:ea typeface="Inter Display" pitchFamily="34" charset="-122"/>
                <a:cs typeface="Inter Display" pitchFamily="34" charset="-120"/>
              </a:rPr>
              <a:t>BUILD THE INSTRUMENT, NOT THE ILLUSION.</a:t>
            </a:r>
            <a:endParaRPr lang="en-US" sz="2600" dirty="0"/>
          </a:p>
        </p:txBody>
      </p:sp>
      <p:sp>
        <p:nvSpPr>
          <p:cNvPr id="13" name="Text 11"/>
          <p:cNvSpPr/>
          <p:nvPr/>
        </p:nvSpPr>
        <p:spPr>
          <a:xfrm>
            <a:off x="960120" y="3602736"/>
            <a:ext cx="9948672" cy="585216"/>
          </a:xfrm>
          <a:prstGeom prst="rect">
            <a:avLst/>
          </a:prstGeom>
          <a:noFill/>
          <a:ln/>
        </p:spPr>
        <p:txBody>
          <a:bodyPr wrap="square" lIns="0" tIns="0" rIns="0" bIns="0" rtlCol="0" anchor="ctr">
            <a:normAutofit/>
          </a:bodyPr>
          <a:lstStyle/>
          <a:p>
            <a:pPr indent="0" marL="0">
              <a:buNone/>
            </a:pPr>
            <a:r>
              <a:rPr lang="en-US" sz="1800" dirty="0">
                <a:solidFill>
                  <a:srgbClr val="94A6B3"/>
                </a:solidFill>
                <a:latin typeface="Inter" pitchFamily="34" charset="0"/>
                <a:ea typeface="Inter" pitchFamily="34" charset="-122"/>
                <a:cs typeface="Inter" pitchFamily="34" charset="-120"/>
              </a:rPr>
              <a:t>Ein schönes Ergebnis ist keine Evidenz. Ein reproduzierbares, unabhängiges und robustes Ergebnis ist ein Anfang.</a:t>
            </a:r>
            <a:endParaRPr lang="en-US" sz="1800" dirty="0"/>
          </a:p>
        </p:txBody>
      </p:sp>
      <p:sp>
        <p:nvSpPr>
          <p:cNvPr id="14" name="Shape 12"/>
          <p:cNvSpPr/>
          <p:nvPr/>
        </p:nvSpPr>
        <p:spPr>
          <a:xfrm>
            <a:off x="841248" y="5093208"/>
            <a:ext cx="1371600" cy="265176"/>
          </a:xfrm>
          <a:prstGeom prst="roundRect">
            <a:avLst>
              <a:gd name="adj" fmla="val 27586"/>
            </a:avLst>
          </a:prstGeom>
          <a:solidFill>
            <a:srgbClr val="16212C"/>
          </a:solidFill>
          <a:ln w="6985">
            <a:solidFill>
              <a:srgbClr val="263442"/>
            </a:solidFill>
            <a:prstDash val="solid"/>
          </a:ln>
        </p:spPr>
      </p:sp>
      <p:sp>
        <p:nvSpPr>
          <p:cNvPr id="15" name="Text 13"/>
          <p:cNvSpPr/>
          <p:nvPr/>
        </p:nvSpPr>
        <p:spPr>
          <a:xfrm>
            <a:off x="923544" y="5120640"/>
            <a:ext cx="1207008" cy="173736"/>
          </a:xfrm>
          <a:prstGeom prst="rect">
            <a:avLst/>
          </a:prstGeom>
          <a:noFill/>
          <a:ln/>
        </p:spPr>
        <p:txBody>
          <a:bodyPr wrap="square" lIns="0" tIns="0" rIns="0" bIns="0" rtlCol="0" anchor="ctr">
            <a:normAutofit/>
          </a:bodyPr>
          <a:lstStyle/>
          <a:p>
            <a:pPr indent="0" marL="0">
              <a:buNone/>
            </a:pPr>
            <a:r>
              <a:rPr lang="en-US" sz="800" b="1" spc="110" kern="0" dirty="0">
                <a:solidFill>
                  <a:srgbClr val="69DDCF"/>
                </a:solidFill>
                <a:latin typeface="Inter" pitchFamily="34" charset="0"/>
                <a:ea typeface="Inter" pitchFamily="34" charset="-122"/>
                <a:cs typeface="Inter" pitchFamily="34" charset="-120"/>
              </a:rPr>
              <a:t>NEXT ACTION</a:t>
            </a:r>
            <a:endParaRPr lang="en-US" sz="800" dirty="0"/>
          </a:p>
        </p:txBody>
      </p:sp>
      <p:sp>
        <p:nvSpPr>
          <p:cNvPr id="16" name="Text 14"/>
          <p:cNvSpPr/>
          <p:nvPr/>
        </p:nvSpPr>
        <p:spPr>
          <a:xfrm>
            <a:off x="2496312" y="5074920"/>
            <a:ext cx="8961120" cy="448056"/>
          </a:xfrm>
          <a:prstGeom prst="rect">
            <a:avLst/>
          </a:prstGeom>
          <a:noFill/>
          <a:ln/>
        </p:spPr>
        <p:txBody>
          <a:bodyPr wrap="square" lIns="0" tIns="0" rIns="0" bIns="0" rtlCol="0" anchor="ctr">
            <a:normAutofit/>
          </a:bodyPr>
          <a:lstStyle/>
          <a:p>
            <a:pPr indent="0" marL="0">
              <a:buNone/>
            </a:pPr>
            <a:r>
              <a:rPr lang="en-US" sz="2000" b="1" dirty="0">
                <a:solidFill>
                  <a:srgbClr val="69DDCF"/>
                </a:solidFill>
                <a:latin typeface="Inter" pitchFamily="34" charset="0"/>
                <a:ea typeface="Inter" pitchFamily="34" charset="-122"/>
                <a:cs typeface="Inter" pitchFamily="34" charset="-120"/>
              </a:rPr>
              <a:t>JARVIS/Codex: R0 + R1 als ersten vertical slice bauen.</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REFERENCES</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32</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APPENDIX / SOURCES</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Technische und methodische Referenzen</a:t>
            </a:r>
            <a:endParaRPr lang="en-US" sz="2900" dirty="0"/>
          </a:p>
        </p:txBody>
      </p:sp>
      <p:sp>
        <p:nvSpPr>
          <p:cNvPr id="11" name="Text 9"/>
          <p:cNvSpPr/>
          <p:nvPr/>
        </p:nvSpPr>
        <p:spPr>
          <a:xfrm>
            <a:off x="530352" y="1783080"/>
            <a:ext cx="10972800" cy="457200"/>
          </a:xfrm>
          <a:prstGeom prst="rect">
            <a:avLst/>
          </a:prstGeom>
          <a:noFill/>
          <a:ln/>
        </p:spPr>
        <p:txBody>
          <a:bodyPr wrap="square" lIns="0" tIns="0" rIns="0" bIns="0" rtlCol="0" anchor="ctr">
            <a:normAutofit/>
          </a:bodyPr>
          <a:lstStyle/>
          <a:p>
            <a:pPr indent="0" marL="0">
              <a:buNone/>
            </a:pPr>
            <a:r>
              <a:rPr lang="en-US" sz="1300" dirty="0">
                <a:solidFill>
                  <a:srgbClr val="94A6B3"/>
                </a:solidFill>
                <a:latin typeface="Inter" pitchFamily="34" charset="0"/>
                <a:ea typeface="Inter" pitchFamily="34" charset="-122"/>
                <a:cs typeface="Inter" pitchFamily="34" charset="-120"/>
              </a:rPr>
              <a:t>Ausgewählte Primärquellen für Implementierungsentscheidungen; Stand Oktober 2026.</a:t>
            </a:r>
            <a:endParaRPr lang="en-US" sz="1300" dirty="0"/>
          </a:p>
        </p:txBody>
      </p:sp>
      <p:sp>
        <p:nvSpPr>
          <p:cNvPr id="12" name="Shape 10"/>
          <p:cNvSpPr/>
          <p:nvPr/>
        </p:nvSpPr>
        <p:spPr>
          <a:xfrm>
            <a:off x="795528" y="2414016"/>
            <a:ext cx="73152" cy="73152"/>
          </a:xfrm>
          <a:prstGeom prst="ellipse">
            <a:avLst/>
          </a:prstGeom>
          <a:solidFill>
            <a:srgbClr val="69DDCF"/>
          </a:solidFill>
          <a:ln w="12700">
            <a:solidFill>
              <a:srgbClr val="69DDCF">
                <a:alpha val="0"/>
              </a:srgbClr>
            </a:solidFill>
            <a:prstDash val="solid"/>
          </a:ln>
        </p:spPr>
      </p:sp>
      <p:sp>
        <p:nvSpPr>
          <p:cNvPr id="13" name="Text 11"/>
          <p:cNvSpPr/>
          <p:nvPr/>
        </p:nvSpPr>
        <p:spPr>
          <a:xfrm>
            <a:off x="996696" y="2313432"/>
            <a:ext cx="9902952" cy="22860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VectorBT · Portfolio.from_signals, fees, slippage</a:t>
            </a:r>
            <a:endParaRPr lang="en-US" sz="1200" dirty="0"/>
          </a:p>
        </p:txBody>
      </p:sp>
      <p:sp>
        <p:nvSpPr>
          <p:cNvPr id="14" name="Text 12">
            <a:hlinkClick r:id="rId1" tooltip=""/>
          </p:cNvPr>
          <p:cNvSpPr/>
          <p:nvPr/>
        </p:nvSpPr>
        <p:spPr>
          <a:xfrm>
            <a:off x="996696" y="2569464"/>
            <a:ext cx="10341864" cy="164592"/>
          </a:xfrm>
          <a:prstGeom prst="rect">
            <a:avLst/>
          </a:prstGeom>
          <a:noFill/>
          <a:ln/>
        </p:spPr>
        <p:txBody>
          <a:bodyPr wrap="square" lIns="0" tIns="0" rIns="0" bIns="0" rtlCol="0" anchor="ctr">
            <a:normAutofit/>
          </a:bodyPr>
          <a:lstStyle/>
          <a:p>
            <a:pPr indent="0" marL="0">
              <a:buNone/>
            </a:pPr>
            <a:r>
              <a:rPr lang="en-US" sz="800" u="sng" dirty="0">
                <a:solidFill>
                  <a:srgbClr val="607584"/>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https://vectorbt.dev/api/portfolio/base/</a:t>
            </a:r>
            <a:endParaRPr lang="en-US" sz="800" dirty="0"/>
          </a:p>
        </p:txBody>
      </p:sp>
      <p:sp>
        <p:nvSpPr>
          <p:cNvPr id="15" name="Shape 13"/>
          <p:cNvSpPr/>
          <p:nvPr/>
        </p:nvSpPr>
        <p:spPr>
          <a:xfrm>
            <a:off x="795528" y="2944368"/>
            <a:ext cx="73152" cy="73152"/>
          </a:xfrm>
          <a:prstGeom prst="ellipse">
            <a:avLst/>
          </a:prstGeom>
          <a:solidFill>
            <a:srgbClr val="69DDCF"/>
          </a:solidFill>
          <a:ln w="12700">
            <a:solidFill>
              <a:srgbClr val="69DDCF">
                <a:alpha val="0"/>
              </a:srgbClr>
            </a:solidFill>
            <a:prstDash val="solid"/>
          </a:ln>
        </p:spPr>
      </p:sp>
      <p:sp>
        <p:nvSpPr>
          <p:cNvPr id="16" name="Text 14"/>
          <p:cNvSpPr/>
          <p:nvPr/>
        </p:nvSpPr>
        <p:spPr>
          <a:xfrm>
            <a:off x="996696" y="2843784"/>
            <a:ext cx="9902952" cy="22860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Databento · Market-data schemas (OHLCV, trades, quotes, MBO)</a:t>
            </a:r>
            <a:endParaRPr lang="en-US" sz="1200" dirty="0"/>
          </a:p>
        </p:txBody>
      </p:sp>
      <p:sp>
        <p:nvSpPr>
          <p:cNvPr id="17" name="Text 15">
            <a:hlinkClick r:id="rId2" tooltip=""/>
          </p:cNvPr>
          <p:cNvSpPr/>
          <p:nvPr/>
        </p:nvSpPr>
        <p:spPr>
          <a:xfrm>
            <a:off x="996696" y="3099816"/>
            <a:ext cx="10341864" cy="164592"/>
          </a:xfrm>
          <a:prstGeom prst="rect">
            <a:avLst/>
          </a:prstGeom>
          <a:noFill/>
          <a:ln/>
        </p:spPr>
        <p:txBody>
          <a:bodyPr wrap="square" lIns="0" tIns="0" rIns="0" bIns="0" rtlCol="0" anchor="ctr">
            <a:normAutofit/>
          </a:bodyPr>
          <a:lstStyle/>
          <a:p>
            <a:pPr indent="0" marL="0">
              <a:buNone/>
            </a:pPr>
            <a:r>
              <a:rPr lang="en-US" sz="800" u="sng" dirty="0">
                <a:solidFill>
                  <a:srgbClr val="607584"/>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https://www.databento.tech/docs/schemas-and-data-formats/whats-a-schema</a:t>
            </a:r>
            <a:endParaRPr lang="en-US" sz="800" dirty="0"/>
          </a:p>
        </p:txBody>
      </p:sp>
      <p:sp>
        <p:nvSpPr>
          <p:cNvPr id="18" name="Shape 16"/>
          <p:cNvSpPr/>
          <p:nvPr/>
        </p:nvSpPr>
        <p:spPr>
          <a:xfrm>
            <a:off x="795528" y="3474720"/>
            <a:ext cx="73152" cy="73152"/>
          </a:xfrm>
          <a:prstGeom prst="ellipse">
            <a:avLst/>
          </a:prstGeom>
          <a:solidFill>
            <a:srgbClr val="69DDCF"/>
          </a:solidFill>
          <a:ln w="12700">
            <a:solidFill>
              <a:srgbClr val="69DDCF">
                <a:alpha val="0"/>
              </a:srgbClr>
            </a:solidFill>
            <a:prstDash val="solid"/>
          </a:ln>
        </p:spPr>
      </p:sp>
      <p:sp>
        <p:nvSpPr>
          <p:cNvPr id="19" name="Text 17"/>
          <p:cNvSpPr/>
          <p:nvPr/>
        </p:nvSpPr>
        <p:spPr>
          <a:xfrm>
            <a:off x="996696" y="3374136"/>
            <a:ext cx="9902952" cy="22860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Databento · Futures symbology / continuous contracts</a:t>
            </a:r>
            <a:endParaRPr lang="en-US" sz="1200" dirty="0"/>
          </a:p>
        </p:txBody>
      </p:sp>
      <p:sp>
        <p:nvSpPr>
          <p:cNvPr id="20" name="Text 18">
            <a:hlinkClick r:id="rId3" tooltip=""/>
          </p:cNvPr>
          <p:cNvSpPr/>
          <p:nvPr/>
        </p:nvSpPr>
        <p:spPr>
          <a:xfrm>
            <a:off x="996696" y="3630168"/>
            <a:ext cx="10341864" cy="164592"/>
          </a:xfrm>
          <a:prstGeom prst="rect">
            <a:avLst/>
          </a:prstGeom>
          <a:noFill/>
          <a:ln/>
        </p:spPr>
        <p:txBody>
          <a:bodyPr wrap="square" lIns="0" tIns="0" rIns="0" bIns="0" rtlCol="0" anchor="ctr">
            <a:normAutofit/>
          </a:bodyPr>
          <a:lstStyle/>
          <a:p>
            <a:pPr indent="0" marL="0">
              <a:buNone/>
            </a:pPr>
            <a:r>
              <a:rPr lang="en-US" sz="800" u="sng" dirty="0">
                <a:solidFill>
                  <a:srgbClr val="607584"/>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https://www.databento.tech/docs/standards-and-conventions/symbology</a:t>
            </a:r>
            <a:endParaRPr lang="en-US" sz="800" dirty="0"/>
          </a:p>
        </p:txBody>
      </p:sp>
      <p:sp>
        <p:nvSpPr>
          <p:cNvPr id="21" name="Shape 19"/>
          <p:cNvSpPr/>
          <p:nvPr/>
        </p:nvSpPr>
        <p:spPr>
          <a:xfrm>
            <a:off x="795528" y="4005072"/>
            <a:ext cx="73152" cy="73152"/>
          </a:xfrm>
          <a:prstGeom prst="ellipse">
            <a:avLst/>
          </a:prstGeom>
          <a:solidFill>
            <a:srgbClr val="69DDCF"/>
          </a:solidFill>
          <a:ln w="12700">
            <a:solidFill>
              <a:srgbClr val="69DDCF">
                <a:alpha val="0"/>
              </a:srgbClr>
            </a:solidFill>
            <a:prstDash val="solid"/>
          </a:ln>
        </p:spPr>
      </p:sp>
      <p:sp>
        <p:nvSpPr>
          <p:cNvPr id="22" name="Text 20"/>
          <p:cNvSpPr/>
          <p:nvPr/>
        </p:nvSpPr>
        <p:spPr>
          <a:xfrm>
            <a:off x="996696" y="3904488"/>
            <a:ext cx="9902952" cy="22860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QuantConnect · Understanding Time / look-ahead prevention</a:t>
            </a:r>
            <a:endParaRPr lang="en-US" sz="1200" dirty="0"/>
          </a:p>
        </p:txBody>
      </p:sp>
      <p:sp>
        <p:nvSpPr>
          <p:cNvPr id="23" name="Text 21">
            <a:hlinkClick r:id="rId4" tooltip=""/>
          </p:cNvPr>
          <p:cNvSpPr/>
          <p:nvPr/>
        </p:nvSpPr>
        <p:spPr>
          <a:xfrm>
            <a:off x="996696" y="4160520"/>
            <a:ext cx="10341864" cy="164592"/>
          </a:xfrm>
          <a:prstGeom prst="rect">
            <a:avLst/>
          </a:prstGeom>
          <a:noFill/>
          <a:ln/>
        </p:spPr>
        <p:txBody>
          <a:bodyPr wrap="square" lIns="0" tIns="0" rIns="0" bIns="0" rtlCol="0" anchor="ctr">
            <a:normAutofit/>
          </a:bodyPr>
          <a:lstStyle/>
          <a:p>
            <a:pPr indent="0" marL="0">
              <a:buNone/>
            </a:pPr>
            <a:r>
              <a:rPr lang="en-US" sz="800" u="sng" dirty="0">
                <a:solidFill>
                  <a:srgbClr val="607584"/>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https://www.quantconnect.com/docs/v1/key-concepts/understanding-time</a:t>
            </a:r>
            <a:endParaRPr lang="en-US" sz="800" dirty="0"/>
          </a:p>
        </p:txBody>
      </p:sp>
      <p:sp>
        <p:nvSpPr>
          <p:cNvPr id="24" name="Shape 22"/>
          <p:cNvSpPr/>
          <p:nvPr/>
        </p:nvSpPr>
        <p:spPr>
          <a:xfrm>
            <a:off x="795528" y="4535424"/>
            <a:ext cx="73152" cy="73152"/>
          </a:xfrm>
          <a:prstGeom prst="ellipse">
            <a:avLst/>
          </a:prstGeom>
          <a:solidFill>
            <a:srgbClr val="69DDCF"/>
          </a:solidFill>
          <a:ln w="12700">
            <a:solidFill>
              <a:srgbClr val="69DDCF">
                <a:alpha val="0"/>
              </a:srgbClr>
            </a:solidFill>
            <a:prstDash val="solid"/>
          </a:ln>
        </p:spPr>
      </p:sp>
      <p:sp>
        <p:nvSpPr>
          <p:cNvPr id="25" name="Text 23"/>
          <p:cNvSpPr/>
          <p:nvPr/>
        </p:nvSpPr>
        <p:spPr>
          <a:xfrm>
            <a:off x="996696" y="4434840"/>
            <a:ext cx="9902952" cy="22860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DuckDB · Reading and Writing Parquet</a:t>
            </a:r>
            <a:endParaRPr lang="en-US" sz="1200" dirty="0"/>
          </a:p>
        </p:txBody>
      </p:sp>
      <p:sp>
        <p:nvSpPr>
          <p:cNvPr id="26" name="Text 24">
            <a:hlinkClick r:id="rId5" tooltip=""/>
          </p:cNvPr>
          <p:cNvSpPr/>
          <p:nvPr/>
        </p:nvSpPr>
        <p:spPr>
          <a:xfrm>
            <a:off x="996696" y="4690872"/>
            <a:ext cx="10341864" cy="164592"/>
          </a:xfrm>
          <a:prstGeom prst="rect">
            <a:avLst/>
          </a:prstGeom>
          <a:noFill/>
          <a:ln/>
        </p:spPr>
        <p:txBody>
          <a:bodyPr wrap="square" lIns="0" tIns="0" rIns="0" bIns="0" rtlCol="0" anchor="ctr">
            <a:normAutofit/>
          </a:bodyPr>
          <a:lstStyle/>
          <a:p>
            <a:pPr indent="0" marL="0">
              <a:buNone/>
            </a:pPr>
            <a:r>
              <a:rPr lang="en-US" sz="800" u="sng" dirty="0">
                <a:solidFill>
                  <a:srgbClr val="607584"/>
                </a:solid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https://duckdb.org/docs/current/data/parquet/overview</a:t>
            </a:r>
            <a:endParaRPr lang="en-US" sz="800" dirty="0"/>
          </a:p>
        </p:txBody>
      </p:sp>
      <p:sp>
        <p:nvSpPr>
          <p:cNvPr id="27" name="Shape 25"/>
          <p:cNvSpPr/>
          <p:nvPr/>
        </p:nvSpPr>
        <p:spPr>
          <a:xfrm>
            <a:off x="795528" y="5065776"/>
            <a:ext cx="73152" cy="73152"/>
          </a:xfrm>
          <a:prstGeom prst="ellipse">
            <a:avLst/>
          </a:prstGeom>
          <a:solidFill>
            <a:srgbClr val="69DDCF"/>
          </a:solidFill>
          <a:ln w="12700">
            <a:solidFill>
              <a:srgbClr val="69DDCF">
                <a:alpha val="0"/>
              </a:srgbClr>
            </a:solidFill>
            <a:prstDash val="solid"/>
          </a:ln>
        </p:spPr>
      </p:sp>
      <p:sp>
        <p:nvSpPr>
          <p:cNvPr id="28" name="Text 26"/>
          <p:cNvSpPr/>
          <p:nvPr/>
        </p:nvSpPr>
        <p:spPr>
          <a:xfrm>
            <a:off x="996696" y="4965192"/>
            <a:ext cx="9902952" cy="22860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Bailey et al. · Probability of Backtest Overfitting (2015)</a:t>
            </a:r>
            <a:endParaRPr lang="en-US" sz="1200" dirty="0"/>
          </a:p>
        </p:txBody>
      </p:sp>
      <p:sp>
        <p:nvSpPr>
          <p:cNvPr id="29" name="Text 27">
            <a:hlinkClick r:id="rId6" tooltip=""/>
          </p:cNvPr>
          <p:cNvSpPr/>
          <p:nvPr/>
        </p:nvSpPr>
        <p:spPr>
          <a:xfrm>
            <a:off x="996696" y="5221224"/>
            <a:ext cx="10341864" cy="164592"/>
          </a:xfrm>
          <a:prstGeom prst="rect">
            <a:avLst/>
          </a:prstGeom>
          <a:noFill/>
          <a:ln/>
        </p:spPr>
        <p:txBody>
          <a:bodyPr wrap="square" lIns="0" tIns="0" rIns="0" bIns="0" rtlCol="0" anchor="ctr">
            <a:normAutofit/>
          </a:bodyPr>
          <a:lstStyle/>
          <a:p>
            <a:pPr indent="0" marL="0">
              <a:buNone/>
            </a:pPr>
            <a:r>
              <a:rPr lang="en-US" sz="800" u="sng" dirty="0">
                <a:solidFill>
                  <a:srgbClr val="607584"/>
                </a:solid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https://papers.ssrn.com/sol3/papers.cfm?abstract_id=2326253</a:t>
            </a:r>
            <a:endParaRPr lang="en-US" sz="800" dirty="0"/>
          </a:p>
        </p:txBody>
      </p:sp>
      <p:sp>
        <p:nvSpPr>
          <p:cNvPr id="30" name="Shape 28"/>
          <p:cNvSpPr/>
          <p:nvPr/>
        </p:nvSpPr>
        <p:spPr>
          <a:xfrm>
            <a:off x="795528" y="5596128"/>
            <a:ext cx="73152" cy="73152"/>
          </a:xfrm>
          <a:prstGeom prst="ellipse">
            <a:avLst/>
          </a:prstGeom>
          <a:solidFill>
            <a:srgbClr val="69DDCF"/>
          </a:solidFill>
          <a:ln w="12700">
            <a:solidFill>
              <a:srgbClr val="69DDCF">
                <a:alpha val="0"/>
              </a:srgbClr>
            </a:solidFill>
            <a:prstDash val="solid"/>
          </a:ln>
        </p:spPr>
      </p:sp>
      <p:sp>
        <p:nvSpPr>
          <p:cNvPr id="31" name="Text 29"/>
          <p:cNvSpPr/>
          <p:nvPr/>
        </p:nvSpPr>
        <p:spPr>
          <a:xfrm>
            <a:off x="996696" y="5495544"/>
            <a:ext cx="9902952" cy="228600"/>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Bailey &amp; López de Prado · Deflated Sharpe Ratio (2014)</a:t>
            </a:r>
            <a:endParaRPr lang="en-US" sz="1200" dirty="0"/>
          </a:p>
        </p:txBody>
      </p:sp>
      <p:sp>
        <p:nvSpPr>
          <p:cNvPr id="32" name="Text 30">
            <a:hlinkClick r:id="rId7" tooltip=""/>
          </p:cNvPr>
          <p:cNvSpPr/>
          <p:nvPr/>
        </p:nvSpPr>
        <p:spPr>
          <a:xfrm>
            <a:off x="996696" y="5751576"/>
            <a:ext cx="10341864" cy="164592"/>
          </a:xfrm>
          <a:prstGeom prst="rect">
            <a:avLst/>
          </a:prstGeom>
          <a:noFill/>
          <a:ln/>
        </p:spPr>
        <p:txBody>
          <a:bodyPr wrap="square" lIns="0" tIns="0" rIns="0" bIns="0" rtlCol="0" anchor="ctr">
            <a:normAutofit/>
          </a:bodyPr>
          <a:lstStyle/>
          <a:p>
            <a:pPr indent="0" marL="0">
              <a:buNone/>
            </a:pPr>
            <a:r>
              <a:rPr lang="en-US" sz="800" u="sng" dirty="0">
                <a:solidFill>
                  <a:srgbClr val="607584"/>
                </a:solidFill>
                <a:latin typeface="Inter" pitchFamily="34" charset="0"/>
                <a:ea typeface="Inter" pitchFamily="34" charset="-122"/>
                <a:cs typeface="Inter"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https://doi.org/10.2139/ssrn.2460551</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ACCEPTANCE CRITERIA</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33</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APPENDIX / QUALITY</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Definition of Done: harte Abnahmekriterien.</a:t>
            </a:r>
            <a:endParaRPr lang="en-US" sz="2900" dirty="0"/>
          </a:p>
        </p:txBody>
      </p:sp>
      <p:sp>
        <p:nvSpPr>
          <p:cNvPr id="11" name="Shape 9"/>
          <p:cNvSpPr/>
          <p:nvPr/>
        </p:nvSpPr>
        <p:spPr>
          <a:xfrm>
            <a:off x="676656" y="2295144"/>
            <a:ext cx="10890504" cy="457200"/>
          </a:xfrm>
          <a:prstGeom prst="roundRect">
            <a:avLst>
              <a:gd name="adj" fmla="val 28000"/>
            </a:avLst>
          </a:prstGeom>
          <a:solidFill>
            <a:srgbClr val="121A24"/>
          </a:solidFill>
          <a:ln w="8890">
            <a:solidFill>
              <a:srgbClr val="263442"/>
            </a:solidFill>
            <a:prstDash val="solid"/>
          </a:ln>
        </p:spPr>
      </p:sp>
      <p:sp>
        <p:nvSpPr>
          <p:cNvPr id="12" name="Text 10"/>
          <p:cNvSpPr/>
          <p:nvPr/>
        </p:nvSpPr>
        <p:spPr>
          <a:xfrm>
            <a:off x="923544" y="2423160"/>
            <a:ext cx="1828800" cy="16459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LOOK-AHEAD</a:t>
            </a:r>
            <a:endParaRPr lang="en-US" sz="1000" dirty="0"/>
          </a:p>
        </p:txBody>
      </p:sp>
      <p:sp>
        <p:nvSpPr>
          <p:cNvPr id="13" name="Text 11"/>
          <p:cNvSpPr/>
          <p:nvPr/>
        </p:nvSpPr>
        <p:spPr>
          <a:xfrm>
            <a:off x="2825496" y="2386584"/>
            <a:ext cx="8211312" cy="265176"/>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Shifted-future features dürfen keinen Test bestehen.</a:t>
            </a:r>
            <a:endParaRPr lang="en-US" sz="1200" dirty="0"/>
          </a:p>
        </p:txBody>
      </p:sp>
      <p:sp>
        <p:nvSpPr>
          <p:cNvPr id="14" name="Shape 12"/>
          <p:cNvSpPr/>
          <p:nvPr/>
        </p:nvSpPr>
        <p:spPr>
          <a:xfrm>
            <a:off x="676656" y="2816352"/>
            <a:ext cx="10890504" cy="457200"/>
          </a:xfrm>
          <a:prstGeom prst="roundRect">
            <a:avLst>
              <a:gd name="adj" fmla="val 28000"/>
            </a:avLst>
          </a:prstGeom>
          <a:solidFill>
            <a:srgbClr val="121A24"/>
          </a:solidFill>
          <a:ln w="8890">
            <a:solidFill>
              <a:srgbClr val="263442"/>
            </a:solidFill>
            <a:prstDash val="solid"/>
          </a:ln>
        </p:spPr>
      </p:sp>
      <p:sp>
        <p:nvSpPr>
          <p:cNvPr id="15" name="Text 13"/>
          <p:cNvSpPr/>
          <p:nvPr/>
        </p:nvSpPr>
        <p:spPr>
          <a:xfrm>
            <a:off x="923544" y="2944368"/>
            <a:ext cx="1828800" cy="16459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ACCOUNTING</a:t>
            </a:r>
            <a:endParaRPr lang="en-US" sz="1000" dirty="0"/>
          </a:p>
        </p:txBody>
      </p:sp>
      <p:sp>
        <p:nvSpPr>
          <p:cNvPr id="16" name="Text 14"/>
          <p:cNvSpPr/>
          <p:nvPr/>
        </p:nvSpPr>
        <p:spPr>
          <a:xfrm>
            <a:off x="2825496" y="2907792"/>
            <a:ext cx="8211312" cy="265176"/>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Cash, exposure, fees, PnL, tick value gegen Referenzfälle.</a:t>
            </a:r>
            <a:endParaRPr lang="en-US" sz="1200" dirty="0"/>
          </a:p>
        </p:txBody>
      </p:sp>
      <p:sp>
        <p:nvSpPr>
          <p:cNvPr id="17" name="Shape 15"/>
          <p:cNvSpPr/>
          <p:nvPr/>
        </p:nvSpPr>
        <p:spPr>
          <a:xfrm>
            <a:off x="676656" y="3337560"/>
            <a:ext cx="10890504" cy="457200"/>
          </a:xfrm>
          <a:prstGeom prst="roundRect">
            <a:avLst>
              <a:gd name="adj" fmla="val 28000"/>
            </a:avLst>
          </a:prstGeom>
          <a:solidFill>
            <a:srgbClr val="121A24"/>
          </a:solidFill>
          <a:ln w="8890">
            <a:solidFill>
              <a:srgbClr val="263442"/>
            </a:solidFill>
            <a:prstDash val="solid"/>
          </a:ln>
        </p:spPr>
      </p:sp>
      <p:sp>
        <p:nvSpPr>
          <p:cNvPr id="18" name="Text 16"/>
          <p:cNvSpPr/>
          <p:nvPr/>
        </p:nvSpPr>
        <p:spPr>
          <a:xfrm>
            <a:off x="923544" y="3465576"/>
            <a:ext cx="1828800" cy="16459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FILLS</a:t>
            </a:r>
            <a:endParaRPr lang="en-US" sz="1000" dirty="0"/>
          </a:p>
        </p:txBody>
      </p:sp>
      <p:sp>
        <p:nvSpPr>
          <p:cNvPr id="19" name="Text 17"/>
          <p:cNvSpPr/>
          <p:nvPr/>
        </p:nvSpPr>
        <p:spPr>
          <a:xfrm>
            <a:off x="2825496" y="3429000"/>
            <a:ext cx="8211312" cy="265176"/>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Stop/Target-Ambiguitäten explizit markiert.</a:t>
            </a:r>
            <a:endParaRPr lang="en-US" sz="1200" dirty="0"/>
          </a:p>
        </p:txBody>
      </p:sp>
      <p:sp>
        <p:nvSpPr>
          <p:cNvPr id="20" name="Shape 18"/>
          <p:cNvSpPr/>
          <p:nvPr/>
        </p:nvSpPr>
        <p:spPr>
          <a:xfrm>
            <a:off x="676656" y="3858768"/>
            <a:ext cx="10890504" cy="457200"/>
          </a:xfrm>
          <a:prstGeom prst="roundRect">
            <a:avLst>
              <a:gd name="adj" fmla="val 28000"/>
            </a:avLst>
          </a:prstGeom>
          <a:solidFill>
            <a:srgbClr val="121A24"/>
          </a:solidFill>
          <a:ln w="8890">
            <a:solidFill>
              <a:srgbClr val="263442"/>
            </a:solidFill>
            <a:prstDash val="solid"/>
          </a:ln>
        </p:spPr>
      </p:sp>
      <p:sp>
        <p:nvSpPr>
          <p:cNvPr id="21" name="Text 19"/>
          <p:cNvSpPr/>
          <p:nvPr/>
        </p:nvSpPr>
        <p:spPr>
          <a:xfrm>
            <a:off x="923544" y="3986784"/>
            <a:ext cx="1828800" cy="16459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TIME</a:t>
            </a:r>
            <a:endParaRPr lang="en-US" sz="1000" dirty="0"/>
          </a:p>
        </p:txBody>
      </p:sp>
      <p:sp>
        <p:nvSpPr>
          <p:cNvPr id="22" name="Text 20"/>
          <p:cNvSpPr/>
          <p:nvPr/>
        </p:nvSpPr>
        <p:spPr>
          <a:xfrm>
            <a:off x="2825496" y="3950208"/>
            <a:ext cx="8211312" cy="265176"/>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Exchange-TZ, DST, Feiertage, Bar-Verfügbarkeit.</a:t>
            </a:r>
            <a:endParaRPr lang="en-US" sz="1200" dirty="0"/>
          </a:p>
        </p:txBody>
      </p:sp>
      <p:sp>
        <p:nvSpPr>
          <p:cNvPr id="23" name="Shape 21"/>
          <p:cNvSpPr/>
          <p:nvPr/>
        </p:nvSpPr>
        <p:spPr>
          <a:xfrm>
            <a:off x="676656" y="4379976"/>
            <a:ext cx="10890504" cy="457200"/>
          </a:xfrm>
          <a:prstGeom prst="roundRect">
            <a:avLst>
              <a:gd name="adj" fmla="val 28000"/>
            </a:avLst>
          </a:prstGeom>
          <a:solidFill>
            <a:srgbClr val="121A24"/>
          </a:solidFill>
          <a:ln w="8890">
            <a:solidFill>
              <a:srgbClr val="263442"/>
            </a:solidFill>
            <a:prstDash val="solid"/>
          </a:ln>
        </p:spPr>
      </p:sp>
      <p:sp>
        <p:nvSpPr>
          <p:cNvPr id="24" name="Text 22"/>
          <p:cNvSpPr/>
          <p:nvPr/>
        </p:nvSpPr>
        <p:spPr>
          <a:xfrm>
            <a:off x="923544" y="4507992"/>
            <a:ext cx="1828800" cy="16459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SPLITS</a:t>
            </a:r>
            <a:endParaRPr lang="en-US" sz="1000" dirty="0"/>
          </a:p>
        </p:txBody>
      </p:sp>
      <p:sp>
        <p:nvSpPr>
          <p:cNvPr id="25" name="Text 23"/>
          <p:cNvSpPr/>
          <p:nvPr/>
        </p:nvSpPr>
        <p:spPr>
          <a:xfrm>
            <a:off x="2825496" y="4471416"/>
            <a:ext cx="8211312" cy="265176"/>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Holdout bei Optimierung technisch unzugänglich.</a:t>
            </a:r>
            <a:endParaRPr lang="en-US" sz="1200" dirty="0"/>
          </a:p>
        </p:txBody>
      </p:sp>
      <p:sp>
        <p:nvSpPr>
          <p:cNvPr id="26" name="Shape 24"/>
          <p:cNvSpPr/>
          <p:nvPr/>
        </p:nvSpPr>
        <p:spPr>
          <a:xfrm>
            <a:off x="676656" y="4901184"/>
            <a:ext cx="10890504" cy="457200"/>
          </a:xfrm>
          <a:prstGeom prst="roundRect">
            <a:avLst>
              <a:gd name="adj" fmla="val 28000"/>
            </a:avLst>
          </a:prstGeom>
          <a:solidFill>
            <a:srgbClr val="121A24"/>
          </a:solidFill>
          <a:ln w="8890">
            <a:solidFill>
              <a:srgbClr val="263442"/>
            </a:solidFill>
            <a:prstDash val="solid"/>
          </a:ln>
        </p:spPr>
      </p:sp>
      <p:sp>
        <p:nvSpPr>
          <p:cNvPr id="27" name="Text 25"/>
          <p:cNvSpPr/>
          <p:nvPr/>
        </p:nvSpPr>
        <p:spPr>
          <a:xfrm>
            <a:off x="923544" y="5029200"/>
            <a:ext cx="1828800" cy="16459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REPRO</a:t>
            </a:r>
            <a:endParaRPr lang="en-US" sz="1000" dirty="0"/>
          </a:p>
        </p:txBody>
      </p:sp>
      <p:sp>
        <p:nvSpPr>
          <p:cNvPr id="28" name="Text 26"/>
          <p:cNvSpPr/>
          <p:nvPr/>
        </p:nvSpPr>
        <p:spPr>
          <a:xfrm>
            <a:off x="2825496" y="4992624"/>
            <a:ext cx="8211312" cy="265176"/>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Input+Hash+Version+Seed reproduzieren Resultate.</a:t>
            </a:r>
            <a:endParaRPr lang="en-US" sz="1200" dirty="0"/>
          </a:p>
        </p:txBody>
      </p:sp>
      <p:sp>
        <p:nvSpPr>
          <p:cNvPr id="29" name="Shape 27"/>
          <p:cNvSpPr/>
          <p:nvPr/>
        </p:nvSpPr>
        <p:spPr>
          <a:xfrm>
            <a:off x="676656" y="5422392"/>
            <a:ext cx="10890504" cy="457200"/>
          </a:xfrm>
          <a:prstGeom prst="roundRect">
            <a:avLst>
              <a:gd name="adj" fmla="val 28000"/>
            </a:avLst>
          </a:prstGeom>
          <a:solidFill>
            <a:srgbClr val="121A24"/>
          </a:solidFill>
          <a:ln w="8890">
            <a:solidFill>
              <a:srgbClr val="263442"/>
            </a:solidFill>
            <a:prstDash val="solid"/>
          </a:ln>
        </p:spPr>
      </p:sp>
      <p:sp>
        <p:nvSpPr>
          <p:cNvPr id="30" name="Text 28"/>
          <p:cNvSpPr/>
          <p:nvPr/>
        </p:nvSpPr>
        <p:spPr>
          <a:xfrm>
            <a:off x="923544" y="5550408"/>
            <a:ext cx="1828800" cy="164592"/>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TRUST</a:t>
            </a:r>
            <a:endParaRPr lang="en-US" sz="1000" dirty="0"/>
          </a:p>
        </p:txBody>
      </p:sp>
      <p:sp>
        <p:nvSpPr>
          <p:cNvPr id="31" name="Text 29"/>
          <p:cNvSpPr/>
          <p:nvPr/>
        </p:nvSpPr>
        <p:spPr>
          <a:xfrm>
            <a:off x="2825496" y="5513832"/>
            <a:ext cx="8211312" cy="265176"/>
          </a:xfrm>
          <a:prstGeom prst="rect">
            <a:avLst/>
          </a:prstGeom>
          <a:noFill/>
          <a:ln/>
        </p:spPr>
        <p:txBody>
          <a:bodyPr wrap="square" lIns="0" tIns="0" rIns="0" bIns="0" rtlCol="0" anchor="ctr">
            <a:normAutofit/>
          </a:bodyPr>
          <a:lstStyle/>
          <a:p>
            <a:pPr indent="0" marL="0">
              <a:buNone/>
            </a:pPr>
            <a:r>
              <a:rPr lang="en-US" sz="1200" dirty="0">
                <a:solidFill>
                  <a:srgbClr val="EDF5F7"/>
                </a:solidFill>
                <a:latin typeface="Inter" pitchFamily="34" charset="0"/>
                <a:ea typeface="Inter" pitchFamily="34" charset="-122"/>
                <a:cs typeface="Inter" pitchFamily="34" charset="-120"/>
              </a:rPr>
              <a:t>Fehlende Daten oder unbekannte Kosten =&gt; Warnung/Block.</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DATA MODEL</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34</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APPENDIX / SCHEMA</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Das minimale Datenmodell hinter der UX.</a:t>
            </a:r>
            <a:endParaRPr lang="en-US" sz="2900" dirty="0"/>
          </a:p>
        </p:txBody>
      </p:sp>
      <p:sp>
        <p:nvSpPr>
          <p:cNvPr id="11" name="Shape 9"/>
          <p:cNvSpPr/>
          <p:nvPr/>
        </p:nvSpPr>
        <p:spPr>
          <a:xfrm>
            <a:off x="694944" y="2221992"/>
            <a:ext cx="10835640" cy="475488"/>
          </a:xfrm>
          <a:prstGeom prst="roundRect">
            <a:avLst>
              <a:gd name="adj" fmla="val 26923"/>
            </a:avLst>
          </a:prstGeom>
          <a:solidFill>
            <a:srgbClr val="121A24"/>
          </a:solidFill>
          <a:ln w="8890">
            <a:solidFill>
              <a:srgbClr val="263442"/>
            </a:solidFill>
            <a:prstDash val="solid"/>
          </a:ln>
        </p:spPr>
      </p:sp>
      <p:sp>
        <p:nvSpPr>
          <p:cNvPr id="12" name="Text 10"/>
          <p:cNvSpPr/>
          <p:nvPr/>
        </p:nvSpPr>
        <p:spPr>
          <a:xfrm>
            <a:off x="914400" y="2340864"/>
            <a:ext cx="2103120" cy="219456"/>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Strategy</a:t>
            </a:r>
            <a:endParaRPr lang="en-US" sz="1200" dirty="0"/>
          </a:p>
        </p:txBody>
      </p:sp>
      <p:sp>
        <p:nvSpPr>
          <p:cNvPr id="13" name="Text 11"/>
          <p:cNvSpPr/>
          <p:nvPr/>
        </p:nvSpPr>
        <p:spPr>
          <a:xfrm>
            <a:off x="3081528" y="2331720"/>
            <a:ext cx="8046720" cy="228600"/>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id · user_id · name · hypothesis</a:t>
            </a:r>
            <a:endParaRPr lang="en-US" sz="1100" dirty="0"/>
          </a:p>
        </p:txBody>
      </p:sp>
      <p:sp>
        <p:nvSpPr>
          <p:cNvPr id="14" name="Shape 12"/>
          <p:cNvSpPr/>
          <p:nvPr/>
        </p:nvSpPr>
        <p:spPr>
          <a:xfrm>
            <a:off x="694944" y="2761488"/>
            <a:ext cx="10835640" cy="475488"/>
          </a:xfrm>
          <a:prstGeom prst="roundRect">
            <a:avLst>
              <a:gd name="adj" fmla="val 26923"/>
            </a:avLst>
          </a:prstGeom>
          <a:solidFill>
            <a:srgbClr val="0E141C"/>
          </a:solidFill>
          <a:ln w="8890">
            <a:solidFill>
              <a:srgbClr val="263442"/>
            </a:solidFill>
            <a:prstDash val="solid"/>
          </a:ln>
        </p:spPr>
      </p:sp>
      <p:sp>
        <p:nvSpPr>
          <p:cNvPr id="15" name="Text 13"/>
          <p:cNvSpPr/>
          <p:nvPr/>
        </p:nvSpPr>
        <p:spPr>
          <a:xfrm>
            <a:off x="914400" y="2880360"/>
            <a:ext cx="2103120" cy="219456"/>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StrategyVersion</a:t>
            </a:r>
            <a:endParaRPr lang="en-US" sz="1200" dirty="0"/>
          </a:p>
        </p:txBody>
      </p:sp>
      <p:sp>
        <p:nvSpPr>
          <p:cNvPr id="16" name="Text 14"/>
          <p:cNvSpPr/>
          <p:nvPr/>
        </p:nvSpPr>
        <p:spPr>
          <a:xfrm>
            <a:off x="3081528" y="2871216"/>
            <a:ext cx="8046720" cy="228600"/>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strategy_id · spec_json · hash · created_at</a:t>
            </a:r>
            <a:endParaRPr lang="en-US" sz="1100" dirty="0"/>
          </a:p>
        </p:txBody>
      </p:sp>
      <p:sp>
        <p:nvSpPr>
          <p:cNvPr id="17" name="Shape 15"/>
          <p:cNvSpPr/>
          <p:nvPr/>
        </p:nvSpPr>
        <p:spPr>
          <a:xfrm>
            <a:off x="694944" y="3300984"/>
            <a:ext cx="10835640" cy="475488"/>
          </a:xfrm>
          <a:prstGeom prst="roundRect">
            <a:avLst>
              <a:gd name="adj" fmla="val 26923"/>
            </a:avLst>
          </a:prstGeom>
          <a:solidFill>
            <a:srgbClr val="121A24"/>
          </a:solidFill>
          <a:ln w="8890">
            <a:solidFill>
              <a:srgbClr val="263442"/>
            </a:solidFill>
            <a:prstDash val="solid"/>
          </a:ln>
        </p:spPr>
      </p:sp>
      <p:sp>
        <p:nvSpPr>
          <p:cNvPr id="18" name="Text 16"/>
          <p:cNvSpPr/>
          <p:nvPr/>
        </p:nvSpPr>
        <p:spPr>
          <a:xfrm>
            <a:off x="914400" y="3419856"/>
            <a:ext cx="2103120" cy="219456"/>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DatasetSnapshot</a:t>
            </a:r>
            <a:endParaRPr lang="en-US" sz="1200" dirty="0"/>
          </a:p>
        </p:txBody>
      </p:sp>
      <p:sp>
        <p:nvSpPr>
          <p:cNvPr id="19" name="Text 17"/>
          <p:cNvSpPr/>
          <p:nvPr/>
        </p:nvSpPr>
        <p:spPr>
          <a:xfrm>
            <a:off x="3081528" y="3410712"/>
            <a:ext cx="8046720" cy="228600"/>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provider · instrument_id · coverage · checksum · qa_report</a:t>
            </a:r>
            <a:endParaRPr lang="en-US" sz="1100" dirty="0"/>
          </a:p>
        </p:txBody>
      </p:sp>
      <p:sp>
        <p:nvSpPr>
          <p:cNvPr id="20" name="Shape 18"/>
          <p:cNvSpPr/>
          <p:nvPr/>
        </p:nvSpPr>
        <p:spPr>
          <a:xfrm>
            <a:off x="694944" y="3840480"/>
            <a:ext cx="10835640" cy="475488"/>
          </a:xfrm>
          <a:prstGeom prst="roundRect">
            <a:avLst>
              <a:gd name="adj" fmla="val 26923"/>
            </a:avLst>
          </a:prstGeom>
          <a:solidFill>
            <a:srgbClr val="0E141C"/>
          </a:solidFill>
          <a:ln w="8890">
            <a:solidFill>
              <a:srgbClr val="263442"/>
            </a:solidFill>
            <a:prstDash val="solid"/>
          </a:ln>
        </p:spPr>
      </p:sp>
      <p:sp>
        <p:nvSpPr>
          <p:cNvPr id="21" name="Text 19"/>
          <p:cNvSpPr/>
          <p:nvPr/>
        </p:nvSpPr>
        <p:spPr>
          <a:xfrm>
            <a:off x="914400" y="3959352"/>
            <a:ext cx="2103120" cy="219456"/>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Experiment</a:t>
            </a:r>
            <a:endParaRPr lang="en-US" sz="1200" dirty="0"/>
          </a:p>
        </p:txBody>
      </p:sp>
      <p:sp>
        <p:nvSpPr>
          <p:cNvPr id="22" name="Text 20"/>
          <p:cNvSpPr/>
          <p:nvPr/>
        </p:nvSpPr>
        <p:spPr>
          <a:xfrm>
            <a:off x="3081528" y="3950208"/>
            <a:ext cx="8046720" cy="228600"/>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strategy_version · dataset_snapshot · engine · seed</a:t>
            </a:r>
            <a:endParaRPr lang="en-US" sz="1100" dirty="0"/>
          </a:p>
        </p:txBody>
      </p:sp>
      <p:sp>
        <p:nvSpPr>
          <p:cNvPr id="23" name="Shape 21"/>
          <p:cNvSpPr/>
          <p:nvPr/>
        </p:nvSpPr>
        <p:spPr>
          <a:xfrm>
            <a:off x="694944" y="4379976"/>
            <a:ext cx="10835640" cy="475488"/>
          </a:xfrm>
          <a:prstGeom prst="roundRect">
            <a:avLst>
              <a:gd name="adj" fmla="val 26923"/>
            </a:avLst>
          </a:prstGeom>
          <a:solidFill>
            <a:srgbClr val="121A24"/>
          </a:solidFill>
          <a:ln w="8890">
            <a:solidFill>
              <a:srgbClr val="263442"/>
            </a:solidFill>
            <a:prstDash val="solid"/>
          </a:ln>
        </p:spPr>
      </p:sp>
      <p:sp>
        <p:nvSpPr>
          <p:cNvPr id="24" name="Text 22"/>
          <p:cNvSpPr/>
          <p:nvPr/>
        </p:nvSpPr>
        <p:spPr>
          <a:xfrm>
            <a:off x="914400" y="4498848"/>
            <a:ext cx="2103120" cy="219456"/>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RunArtifact</a:t>
            </a:r>
            <a:endParaRPr lang="en-US" sz="1200" dirty="0"/>
          </a:p>
        </p:txBody>
      </p:sp>
      <p:sp>
        <p:nvSpPr>
          <p:cNvPr id="25" name="Text 23"/>
          <p:cNvSpPr/>
          <p:nvPr/>
        </p:nvSpPr>
        <p:spPr>
          <a:xfrm>
            <a:off x="3081528" y="4489704"/>
            <a:ext cx="8046720" cy="228600"/>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ledger · equity · costs · logs · artifact_hash</a:t>
            </a:r>
            <a:endParaRPr lang="en-US" sz="1100" dirty="0"/>
          </a:p>
        </p:txBody>
      </p:sp>
      <p:sp>
        <p:nvSpPr>
          <p:cNvPr id="26" name="Shape 24"/>
          <p:cNvSpPr/>
          <p:nvPr/>
        </p:nvSpPr>
        <p:spPr>
          <a:xfrm>
            <a:off x="694944" y="4919472"/>
            <a:ext cx="10835640" cy="475488"/>
          </a:xfrm>
          <a:prstGeom prst="roundRect">
            <a:avLst>
              <a:gd name="adj" fmla="val 26923"/>
            </a:avLst>
          </a:prstGeom>
          <a:solidFill>
            <a:srgbClr val="0E141C"/>
          </a:solidFill>
          <a:ln w="8890">
            <a:solidFill>
              <a:srgbClr val="263442"/>
            </a:solidFill>
            <a:prstDash val="solid"/>
          </a:ln>
        </p:spPr>
      </p:sp>
      <p:sp>
        <p:nvSpPr>
          <p:cNvPr id="27" name="Text 25"/>
          <p:cNvSpPr/>
          <p:nvPr/>
        </p:nvSpPr>
        <p:spPr>
          <a:xfrm>
            <a:off x="914400" y="5038344"/>
            <a:ext cx="2103120" cy="219456"/>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ValidationResult</a:t>
            </a:r>
            <a:endParaRPr lang="en-US" sz="1200" dirty="0"/>
          </a:p>
        </p:txBody>
      </p:sp>
      <p:sp>
        <p:nvSpPr>
          <p:cNvPr id="28" name="Text 26"/>
          <p:cNvSpPr/>
          <p:nvPr/>
        </p:nvSpPr>
        <p:spPr>
          <a:xfrm>
            <a:off x="3081528" y="5029200"/>
            <a:ext cx="8046720" cy="228600"/>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test_type · split_id · metric · status · limitation</a:t>
            </a:r>
            <a:endParaRPr lang="en-US" sz="1100" dirty="0"/>
          </a:p>
        </p:txBody>
      </p:sp>
      <p:sp>
        <p:nvSpPr>
          <p:cNvPr id="29" name="Shape 27"/>
          <p:cNvSpPr/>
          <p:nvPr/>
        </p:nvSpPr>
        <p:spPr>
          <a:xfrm>
            <a:off x="694944" y="5458968"/>
            <a:ext cx="10835640" cy="475488"/>
          </a:xfrm>
          <a:prstGeom prst="roundRect">
            <a:avLst>
              <a:gd name="adj" fmla="val 26923"/>
            </a:avLst>
          </a:prstGeom>
          <a:solidFill>
            <a:srgbClr val="121A24"/>
          </a:solidFill>
          <a:ln w="8890">
            <a:solidFill>
              <a:srgbClr val="263442"/>
            </a:solidFill>
            <a:prstDash val="solid"/>
          </a:ln>
        </p:spPr>
      </p:sp>
      <p:sp>
        <p:nvSpPr>
          <p:cNvPr id="30" name="Text 28"/>
          <p:cNvSpPr/>
          <p:nvPr/>
        </p:nvSpPr>
        <p:spPr>
          <a:xfrm>
            <a:off x="914400" y="5577840"/>
            <a:ext cx="2103120" cy="219456"/>
          </a:xfrm>
          <a:prstGeom prst="rect">
            <a:avLst/>
          </a:prstGeom>
          <a:noFill/>
          <a:ln/>
        </p:spPr>
        <p:txBody>
          <a:bodyPr wrap="square" lIns="0" tIns="0" rIns="0" bIns="0" rtlCol="0" anchor="ctr">
            <a:normAutofit/>
          </a:bodyPr>
          <a:lstStyle/>
          <a:p>
            <a:pPr indent="0" marL="0">
              <a:buNone/>
            </a:pPr>
            <a:r>
              <a:rPr lang="en-US" sz="1200" b="1" dirty="0">
                <a:solidFill>
                  <a:srgbClr val="69DDCF"/>
                </a:solidFill>
                <a:latin typeface="Inter" pitchFamily="34" charset="0"/>
                <a:ea typeface="Inter" pitchFamily="34" charset="-122"/>
                <a:cs typeface="Inter" pitchFamily="34" charset="-120"/>
              </a:rPr>
              <a:t>ResearchDecision</a:t>
            </a:r>
            <a:endParaRPr lang="en-US" sz="1200" dirty="0"/>
          </a:p>
        </p:txBody>
      </p:sp>
      <p:sp>
        <p:nvSpPr>
          <p:cNvPr id="31" name="Text 29"/>
          <p:cNvSpPr/>
          <p:nvPr/>
        </p:nvSpPr>
        <p:spPr>
          <a:xfrm>
            <a:off x="3081528" y="5568696"/>
            <a:ext cx="8046720" cy="228600"/>
          </a:xfrm>
          <a:prstGeom prst="rect">
            <a:avLst/>
          </a:prstGeom>
          <a:noFill/>
          <a:ln/>
        </p:spPr>
        <p:txBody>
          <a:bodyPr wrap="square" lIns="0" tIns="0" rIns="0" bIns="0" rtlCol="0" anchor="ctr">
            <a:normAutofit/>
          </a:bodyPr>
          <a:lstStyle/>
          <a:p>
            <a:pPr indent="0" marL="0">
              <a:buNone/>
            </a:pPr>
            <a:r>
              <a:rPr lang="en-US" sz="1100" dirty="0">
                <a:solidFill>
                  <a:srgbClr val="EDF5F7"/>
                </a:solidFill>
                <a:latin typeface="Inter" pitchFamily="34" charset="0"/>
                <a:ea typeface="Inter" pitchFamily="34" charset="-122"/>
                <a:cs typeface="Inter" pitchFamily="34" charset="-120"/>
              </a:rPr>
              <a:t>evidence_refs · status · reviewer · timestamp</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90D12"/>
        </a:solidFill>
      </p:bgPr>
    </p:bg>
    <p:spTree>
      <p:nvGrpSpPr>
        <p:cNvPr id="1" name=""/>
        <p:cNvGrpSpPr/>
        <p:nvPr/>
      </p:nvGrpSpPr>
      <p:grpSpPr>
        <a:xfrm>
          <a:off x="0" y="0"/>
          <a:ext cx="0" cy="0"/>
          <a:chOff x="0" y="0"/>
          <a:chExt cx="0" cy="0"/>
        </a:xfrm>
      </p:grpSpPr>
      <p:sp>
        <p:nvSpPr>
          <p:cNvPr id="2" name="Shape 0"/>
          <p:cNvSpPr/>
          <p:nvPr/>
        </p:nvSpPr>
        <p:spPr>
          <a:xfrm>
            <a:off x="457200" y="475488"/>
            <a:ext cx="11274552" cy="0"/>
          </a:xfrm>
          <a:prstGeom prst="line">
            <a:avLst/>
          </a:prstGeom>
          <a:noFill/>
          <a:ln w="10160">
            <a:solidFill>
              <a:srgbClr val="263442"/>
            </a:solidFill>
            <a:prstDash val="solid"/>
          </a:ln>
        </p:spPr>
      </p:sp>
      <p:sp>
        <p:nvSpPr>
          <p:cNvPr id="3" name="Text 1"/>
          <p:cNvSpPr/>
          <p:nvPr/>
        </p:nvSpPr>
        <p:spPr>
          <a:xfrm>
            <a:off x="466344" y="173736"/>
            <a:ext cx="731520" cy="228600"/>
          </a:xfrm>
          <a:prstGeom prst="rect">
            <a:avLst/>
          </a:prstGeom>
          <a:noFill/>
          <a:ln/>
        </p:spPr>
        <p:txBody>
          <a:bodyPr wrap="square" lIns="0" tIns="0" rIns="0" bIns="0" rtlCol="0" anchor="ctr">
            <a:normAutofit/>
          </a:bodyPr>
          <a:lstStyle/>
          <a:p>
            <a:pPr indent="0" marL="0">
              <a:buNone/>
            </a:pPr>
            <a:r>
              <a:rPr lang="en-US" sz="1300" b="1" spc="200" kern="0" dirty="0">
                <a:solidFill>
                  <a:srgbClr val="69DDCF"/>
                </a:solidFill>
                <a:latin typeface="Inter" pitchFamily="34" charset="0"/>
                <a:ea typeface="Inter" pitchFamily="34" charset="-122"/>
                <a:cs typeface="Inter" pitchFamily="34" charset="-120"/>
              </a:rPr>
              <a:t>J / Q</a:t>
            </a:r>
            <a:endParaRPr lang="en-US" sz="1300" dirty="0"/>
          </a:p>
        </p:txBody>
      </p:sp>
      <p:sp>
        <p:nvSpPr>
          <p:cNvPr id="4" name="Text 2"/>
          <p:cNvSpPr/>
          <p:nvPr/>
        </p:nvSpPr>
        <p:spPr>
          <a:xfrm>
            <a:off x="1243584" y="201168"/>
            <a:ext cx="6400800" cy="182880"/>
          </a:xfrm>
          <a:prstGeom prst="rect">
            <a:avLst/>
          </a:prstGeom>
          <a:noFill/>
          <a:ln/>
        </p:spPr>
        <p:txBody>
          <a:bodyPr wrap="square" lIns="0" tIns="0" rIns="0" bIns="0" rtlCol="0" anchor="ctr">
            <a:normAutofit/>
          </a:bodyPr>
          <a:lstStyle/>
          <a:p>
            <a:pPr indent="0" marL="0">
              <a:buNone/>
            </a:pPr>
            <a:r>
              <a:rPr lang="en-US" sz="900" b="1" spc="160" kern="0" dirty="0">
                <a:solidFill>
                  <a:srgbClr val="94A6B3"/>
                </a:solidFill>
                <a:latin typeface="Inter" pitchFamily="34" charset="0"/>
                <a:ea typeface="Inter" pitchFamily="34" charset="-122"/>
                <a:cs typeface="Inter" pitchFamily="34" charset="-120"/>
              </a:rPr>
              <a:t>API CONTRACT</a:t>
            </a:r>
            <a:endParaRPr lang="en-US" sz="900" dirty="0"/>
          </a:p>
        </p:txBody>
      </p:sp>
      <p:sp>
        <p:nvSpPr>
          <p:cNvPr id="5" name="Text 3"/>
          <p:cNvSpPr/>
          <p:nvPr/>
        </p:nvSpPr>
        <p:spPr>
          <a:xfrm>
            <a:off x="11247120" y="182880"/>
            <a:ext cx="457200" cy="182880"/>
          </a:xfrm>
          <a:prstGeom prst="rect">
            <a:avLst/>
          </a:prstGeom>
          <a:noFill/>
          <a:ln/>
        </p:spPr>
        <p:txBody>
          <a:bodyPr wrap="square" lIns="0" tIns="0" rIns="0" bIns="0" rtlCol="0" anchor="ctr">
            <a:normAutofit/>
          </a:bodyPr>
          <a:lstStyle/>
          <a:p>
            <a:pPr algn="r" indent="0" marL="0">
              <a:buNone/>
            </a:pPr>
            <a:r>
              <a:rPr lang="en-US" sz="900" b="1" dirty="0">
                <a:solidFill>
                  <a:srgbClr val="607584"/>
                </a:solidFill>
                <a:latin typeface="Inter" pitchFamily="34" charset="0"/>
                <a:ea typeface="Inter" pitchFamily="34" charset="-122"/>
                <a:cs typeface="Inter" pitchFamily="34" charset="-120"/>
              </a:rPr>
              <a:t>35</a:t>
            </a:r>
            <a:endParaRPr lang="en-US" sz="900" dirty="0"/>
          </a:p>
        </p:txBody>
      </p:sp>
      <p:sp>
        <p:nvSpPr>
          <p:cNvPr id="6" name="Shape 4"/>
          <p:cNvSpPr/>
          <p:nvPr/>
        </p:nvSpPr>
        <p:spPr>
          <a:xfrm>
            <a:off x="457200" y="6510528"/>
            <a:ext cx="11274552" cy="0"/>
          </a:xfrm>
          <a:prstGeom prst="line">
            <a:avLst/>
          </a:prstGeom>
          <a:noFill/>
          <a:ln w="10160">
            <a:solidFill>
              <a:srgbClr val="263442"/>
            </a:solidFill>
            <a:prstDash val="solid"/>
          </a:ln>
        </p:spPr>
      </p:sp>
      <p:sp>
        <p:nvSpPr>
          <p:cNvPr id="7" name="Text 5"/>
          <p:cNvSpPr/>
          <p:nvPr/>
        </p:nvSpPr>
        <p:spPr>
          <a:xfrm>
            <a:off x="484632" y="6601968"/>
            <a:ext cx="4572000" cy="109728"/>
          </a:xfrm>
          <a:prstGeom prst="rect">
            <a:avLst/>
          </a:prstGeom>
          <a:noFill/>
          <a:ln/>
        </p:spPr>
        <p:txBody>
          <a:bodyPr wrap="square" lIns="0" tIns="0" rIns="0" bIns="0" rtlCol="0" anchor="ctr">
            <a:normAutofit/>
          </a:bodyPr>
          <a:lstStyle/>
          <a:p>
            <a:pPr indent="0" marL="0">
              <a:buNone/>
            </a:pPr>
            <a:r>
              <a:rPr lang="en-US" sz="700" b="1" spc="120" kern="0" dirty="0">
                <a:solidFill>
                  <a:srgbClr val="607584"/>
                </a:solidFill>
                <a:latin typeface="Inter" pitchFamily="34" charset="0"/>
                <a:ea typeface="Inter" pitchFamily="34" charset="-122"/>
                <a:cs typeface="Inter" pitchFamily="34" charset="-120"/>
              </a:rPr>
              <a:t>JARVIS  /  QUANTLAB</a:t>
            </a:r>
            <a:endParaRPr lang="en-US" sz="700" dirty="0"/>
          </a:p>
        </p:txBody>
      </p:sp>
      <p:sp>
        <p:nvSpPr>
          <p:cNvPr id="8" name="Text 6"/>
          <p:cNvSpPr/>
          <p:nvPr/>
        </p:nvSpPr>
        <p:spPr>
          <a:xfrm>
            <a:off x="8229600" y="6601968"/>
            <a:ext cx="3502152" cy="109728"/>
          </a:xfrm>
          <a:prstGeom prst="rect">
            <a:avLst/>
          </a:prstGeom>
          <a:noFill/>
          <a:ln/>
        </p:spPr>
        <p:txBody>
          <a:bodyPr wrap="square" lIns="0" tIns="0" rIns="0" bIns="0" rtlCol="0" anchor="ctr">
            <a:normAutofit/>
          </a:bodyPr>
          <a:lstStyle/>
          <a:p>
            <a:pPr algn="r" indent="0" marL="0">
              <a:buNone/>
            </a:pPr>
            <a:r>
              <a:rPr lang="en-US" sz="700" spc="120" kern="0" dirty="0">
                <a:solidFill>
                  <a:srgbClr val="607584"/>
                </a:solidFill>
                <a:latin typeface="Inter" pitchFamily="34" charset="0"/>
                <a:ea typeface="Inter" pitchFamily="34" charset="-122"/>
                <a:cs typeface="Inter" pitchFamily="34" charset="-120"/>
              </a:rPr>
              <a:t>PRODUCT VISION  •  OCT 2026</a:t>
            </a:r>
            <a:endParaRPr lang="en-US" sz="700" dirty="0"/>
          </a:p>
        </p:txBody>
      </p:sp>
      <p:sp>
        <p:nvSpPr>
          <p:cNvPr id="9" name="Text 7"/>
          <p:cNvSpPr/>
          <p:nvPr/>
        </p:nvSpPr>
        <p:spPr>
          <a:xfrm>
            <a:off x="530352" y="749808"/>
            <a:ext cx="7315200" cy="201168"/>
          </a:xfrm>
          <a:prstGeom prst="rect">
            <a:avLst/>
          </a:prstGeom>
          <a:noFill/>
          <a:ln/>
        </p:spPr>
        <p:txBody>
          <a:bodyPr wrap="square" lIns="0" tIns="0" rIns="0" bIns="0" rtlCol="0" anchor="ctr">
            <a:normAutofit/>
          </a:bodyPr>
          <a:lstStyle/>
          <a:p>
            <a:pPr indent="0" marL="0">
              <a:buNone/>
            </a:pPr>
            <a:r>
              <a:rPr lang="en-US" sz="1000" b="1" spc="130" kern="0" dirty="0">
                <a:solidFill>
                  <a:srgbClr val="69DDCF"/>
                </a:solidFill>
                <a:latin typeface="Inter" pitchFamily="34" charset="0"/>
                <a:ea typeface="Inter" pitchFamily="34" charset="-122"/>
                <a:cs typeface="Inter" pitchFamily="34" charset="-120"/>
              </a:rPr>
              <a:t>APPENDIX / API</a:t>
            </a:r>
            <a:endParaRPr lang="en-US" sz="1000" dirty="0"/>
          </a:p>
        </p:txBody>
      </p:sp>
      <p:sp>
        <p:nvSpPr>
          <p:cNvPr id="10" name="Text 8"/>
          <p:cNvSpPr/>
          <p:nvPr/>
        </p:nvSpPr>
        <p:spPr>
          <a:xfrm>
            <a:off x="502920" y="1078992"/>
            <a:ext cx="11155680" cy="640080"/>
          </a:xfrm>
          <a:prstGeom prst="rect">
            <a:avLst/>
          </a:prstGeom>
          <a:noFill/>
          <a:ln/>
        </p:spPr>
        <p:txBody>
          <a:bodyPr wrap="square" lIns="0" tIns="0" rIns="0" bIns="0" rtlCol="0" anchor="ctr">
            <a:normAutofit/>
          </a:bodyPr>
          <a:lstStyle/>
          <a:p>
            <a:pPr indent="0" marL="0">
              <a:buNone/>
            </a:pPr>
            <a:r>
              <a:rPr lang="en-US" sz="2900" b="1" dirty="0">
                <a:solidFill>
                  <a:srgbClr val="EDF5F7"/>
                </a:solidFill>
                <a:latin typeface="Inter Display" pitchFamily="34" charset="0"/>
                <a:ea typeface="Inter Display" pitchFamily="34" charset="-122"/>
                <a:cs typeface="Inter Display" pitchFamily="34" charset="-120"/>
              </a:rPr>
              <a:t>Wenige stabile Endpunkte – statt Microservices.</a:t>
            </a:r>
            <a:endParaRPr lang="en-US" sz="2900" dirty="0"/>
          </a:p>
        </p:txBody>
      </p:sp>
      <p:sp>
        <p:nvSpPr>
          <p:cNvPr id="11" name="Shape 9"/>
          <p:cNvSpPr/>
          <p:nvPr/>
        </p:nvSpPr>
        <p:spPr>
          <a:xfrm>
            <a:off x="676656" y="2249424"/>
            <a:ext cx="10917936" cy="448056"/>
          </a:xfrm>
          <a:prstGeom prst="roundRect">
            <a:avLst>
              <a:gd name="adj" fmla="val 28571"/>
            </a:avLst>
          </a:prstGeom>
          <a:solidFill>
            <a:srgbClr val="121A24"/>
          </a:solidFill>
          <a:ln w="8890">
            <a:solidFill>
              <a:srgbClr val="263442"/>
            </a:solidFill>
            <a:prstDash val="solid"/>
          </a:ln>
        </p:spPr>
      </p:sp>
      <p:sp>
        <p:nvSpPr>
          <p:cNvPr id="12" name="Text 10"/>
          <p:cNvSpPr/>
          <p:nvPr/>
        </p:nvSpPr>
        <p:spPr>
          <a:xfrm>
            <a:off x="896112" y="2359152"/>
            <a:ext cx="539496" cy="182880"/>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POST</a:t>
            </a:r>
            <a:endParaRPr lang="en-US" sz="1000" dirty="0"/>
          </a:p>
        </p:txBody>
      </p:sp>
      <p:sp>
        <p:nvSpPr>
          <p:cNvPr id="13" name="Text 11"/>
          <p:cNvSpPr/>
          <p:nvPr/>
        </p:nvSpPr>
        <p:spPr>
          <a:xfrm>
            <a:off x="1563624" y="2340864"/>
            <a:ext cx="5047488" cy="237744"/>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/quantlab/strategies/interpret</a:t>
            </a:r>
            <a:endParaRPr lang="en-US" sz="1200" dirty="0"/>
          </a:p>
        </p:txBody>
      </p:sp>
      <p:sp>
        <p:nvSpPr>
          <p:cNvPr id="14" name="Text 12"/>
          <p:cNvSpPr/>
          <p:nvPr/>
        </p:nvSpPr>
        <p:spPr>
          <a:xfrm>
            <a:off x="6748272" y="2331720"/>
            <a:ext cx="4498848" cy="27432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natural language → draft spec</a:t>
            </a:r>
            <a:endParaRPr lang="en-US" sz="1100" dirty="0"/>
          </a:p>
        </p:txBody>
      </p:sp>
      <p:sp>
        <p:nvSpPr>
          <p:cNvPr id="15" name="Shape 13"/>
          <p:cNvSpPr/>
          <p:nvPr/>
        </p:nvSpPr>
        <p:spPr>
          <a:xfrm>
            <a:off x="676656" y="2770632"/>
            <a:ext cx="10917936" cy="448056"/>
          </a:xfrm>
          <a:prstGeom prst="roundRect">
            <a:avLst>
              <a:gd name="adj" fmla="val 28571"/>
            </a:avLst>
          </a:prstGeom>
          <a:solidFill>
            <a:srgbClr val="121A24"/>
          </a:solidFill>
          <a:ln w="8890">
            <a:solidFill>
              <a:srgbClr val="263442"/>
            </a:solidFill>
            <a:prstDash val="solid"/>
          </a:ln>
        </p:spPr>
      </p:sp>
      <p:sp>
        <p:nvSpPr>
          <p:cNvPr id="16" name="Text 14"/>
          <p:cNvSpPr/>
          <p:nvPr/>
        </p:nvSpPr>
        <p:spPr>
          <a:xfrm>
            <a:off x="896112" y="2880360"/>
            <a:ext cx="539496" cy="182880"/>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POST</a:t>
            </a:r>
            <a:endParaRPr lang="en-US" sz="1000" dirty="0"/>
          </a:p>
        </p:txBody>
      </p:sp>
      <p:sp>
        <p:nvSpPr>
          <p:cNvPr id="17" name="Text 15"/>
          <p:cNvSpPr/>
          <p:nvPr/>
        </p:nvSpPr>
        <p:spPr>
          <a:xfrm>
            <a:off x="1563624" y="2862072"/>
            <a:ext cx="5047488" cy="237744"/>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/quantlab/datasets/import</a:t>
            </a:r>
            <a:endParaRPr lang="en-US" sz="1200" dirty="0"/>
          </a:p>
        </p:txBody>
      </p:sp>
      <p:sp>
        <p:nvSpPr>
          <p:cNvPr id="18" name="Text 16"/>
          <p:cNvSpPr/>
          <p:nvPr/>
        </p:nvSpPr>
        <p:spPr>
          <a:xfrm>
            <a:off x="6748272" y="2852928"/>
            <a:ext cx="4498848" cy="27432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upload → Data Passport</a:t>
            </a:r>
            <a:endParaRPr lang="en-US" sz="1100" dirty="0"/>
          </a:p>
        </p:txBody>
      </p:sp>
      <p:sp>
        <p:nvSpPr>
          <p:cNvPr id="19" name="Shape 17"/>
          <p:cNvSpPr/>
          <p:nvPr/>
        </p:nvSpPr>
        <p:spPr>
          <a:xfrm>
            <a:off x="676656" y="3291840"/>
            <a:ext cx="10917936" cy="448056"/>
          </a:xfrm>
          <a:prstGeom prst="roundRect">
            <a:avLst>
              <a:gd name="adj" fmla="val 28571"/>
            </a:avLst>
          </a:prstGeom>
          <a:solidFill>
            <a:srgbClr val="121A24"/>
          </a:solidFill>
          <a:ln w="8890">
            <a:solidFill>
              <a:srgbClr val="263442"/>
            </a:solidFill>
            <a:prstDash val="solid"/>
          </a:ln>
        </p:spPr>
      </p:sp>
      <p:sp>
        <p:nvSpPr>
          <p:cNvPr id="20" name="Text 18"/>
          <p:cNvSpPr/>
          <p:nvPr/>
        </p:nvSpPr>
        <p:spPr>
          <a:xfrm>
            <a:off x="896112" y="3401568"/>
            <a:ext cx="539496" cy="182880"/>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POST</a:t>
            </a:r>
            <a:endParaRPr lang="en-US" sz="1000" dirty="0"/>
          </a:p>
        </p:txBody>
      </p:sp>
      <p:sp>
        <p:nvSpPr>
          <p:cNvPr id="21" name="Text 19"/>
          <p:cNvSpPr/>
          <p:nvPr/>
        </p:nvSpPr>
        <p:spPr>
          <a:xfrm>
            <a:off x="1563624" y="3383280"/>
            <a:ext cx="5047488" cy="237744"/>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/quantlab/experiments</a:t>
            </a:r>
            <a:endParaRPr lang="en-US" sz="1200" dirty="0"/>
          </a:p>
        </p:txBody>
      </p:sp>
      <p:sp>
        <p:nvSpPr>
          <p:cNvPr id="22" name="Text 20"/>
          <p:cNvSpPr/>
          <p:nvPr/>
        </p:nvSpPr>
        <p:spPr>
          <a:xfrm>
            <a:off x="6748272" y="3374136"/>
            <a:ext cx="4498848" cy="27432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run manifest + queue</a:t>
            </a:r>
            <a:endParaRPr lang="en-US" sz="1100" dirty="0"/>
          </a:p>
        </p:txBody>
      </p:sp>
      <p:sp>
        <p:nvSpPr>
          <p:cNvPr id="23" name="Shape 21"/>
          <p:cNvSpPr/>
          <p:nvPr/>
        </p:nvSpPr>
        <p:spPr>
          <a:xfrm>
            <a:off x="676656" y="3813048"/>
            <a:ext cx="10917936" cy="448056"/>
          </a:xfrm>
          <a:prstGeom prst="roundRect">
            <a:avLst>
              <a:gd name="adj" fmla="val 28571"/>
            </a:avLst>
          </a:prstGeom>
          <a:solidFill>
            <a:srgbClr val="121A24"/>
          </a:solidFill>
          <a:ln w="8890">
            <a:solidFill>
              <a:srgbClr val="263442"/>
            </a:solidFill>
            <a:prstDash val="solid"/>
          </a:ln>
        </p:spPr>
      </p:sp>
      <p:sp>
        <p:nvSpPr>
          <p:cNvPr id="24" name="Text 22"/>
          <p:cNvSpPr/>
          <p:nvPr/>
        </p:nvSpPr>
        <p:spPr>
          <a:xfrm>
            <a:off x="896112" y="3922776"/>
            <a:ext cx="539496" cy="182880"/>
          </a:xfrm>
          <a:prstGeom prst="rect">
            <a:avLst/>
          </a:prstGeom>
          <a:noFill/>
          <a:ln/>
        </p:spPr>
        <p:txBody>
          <a:bodyPr wrap="square" lIns="0" tIns="0" rIns="0" bIns="0" rtlCol="0" anchor="ctr">
            <a:normAutofit/>
          </a:bodyPr>
          <a:lstStyle/>
          <a:p>
            <a:pPr indent="0" marL="0">
              <a:buNone/>
            </a:pPr>
            <a:r>
              <a:rPr lang="en-US" sz="1000" b="1" dirty="0">
                <a:solidFill>
                  <a:srgbClr val="7EA9DF"/>
                </a:solidFill>
                <a:latin typeface="Inter" pitchFamily="34" charset="0"/>
                <a:ea typeface="Inter" pitchFamily="34" charset="-122"/>
                <a:cs typeface="Inter" pitchFamily="34" charset="-120"/>
              </a:rPr>
              <a:t>GET</a:t>
            </a:r>
            <a:endParaRPr lang="en-US" sz="1000" dirty="0"/>
          </a:p>
        </p:txBody>
      </p:sp>
      <p:sp>
        <p:nvSpPr>
          <p:cNvPr id="25" name="Text 23"/>
          <p:cNvSpPr/>
          <p:nvPr/>
        </p:nvSpPr>
        <p:spPr>
          <a:xfrm>
            <a:off x="1563624" y="3904488"/>
            <a:ext cx="5047488" cy="237744"/>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/quantlab/experiments/:id</a:t>
            </a:r>
            <a:endParaRPr lang="en-US" sz="1200" dirty="0"/>
          </a:p>
        </p:txBody>
      </p:sp>
      <p:sp>
        <p:nvSpPr>
          <p:cNvPr id="26" name="Text 24"/>
          <p:cNvSpPr/>
          <p:nvPr/>
        </p:nvSpPr>
        <p:spPr>
          <a:xfrm>
            <a:off x="6748272" y="3895344"/>
            <a:ext cx="4498848" cy="27432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status, trades, validation</a:t>
            </a:r>
            <a:endParaRPr lang="en-US" sz="1100" dirty="0"/>
          </a:p>
        </p:txBody>
      </p:sp>
      <p:sp>
        <p:nvSpPr>
          <p:cNvPr id="27" name="Shape 25"/>
          <p:cNvSpPr/>
          <p:nvPr/>
        </p:nvSpPr>
        <p:spPr>
          <a:xfrm>
            <a:off x="676656" y="4334256"/>
            <a:ext cx="10917936" cy="448056"/>
          </a:xfrm>
          <a:prstGeom prst="roundRect">
            <a:avLst>
              <a:gd name="adj" fmla="val 28571"/>
            </a:avLst>
          </a:prstGeom>
          <a:solidFill>
            <a:srgbClr val="121A24"/>
          </a:solidFill>
          <a:ln w="8890">
            <a:solidFill>
              <a:srgbClr val="263442"/>
            </a:solidFill>
            <a:prstDash val="solid"/>
          </a:ln>
        </p:spPr>
      </p:sp>
      <p:sp>
        <p:nvSpPr>
          <p:cNvPr id="28" name="Text 26"/>
          <p:cNvSpPr/>
          <p:nvPr/>
        </p:nvSpPr>
        <p:spPr>
          <a:xfrm>
            <a:off x="896112" y="4443984"/>
            <a:ext cx="539496" cy="182880"/>
          </a:xfrm>
          <a:prstGeom prst="rect">
            <a:avLst/>
          </a:prstGeom>
          <a:noFill/>
          <a:ln/>
        </p:spPr>
        <p:txBody>
          <a:bodyPr wrap="square" lIns="0" tIns="0" rIns="0" bIns="0" rtlCol="0" anchor="ctr">
            <a:normAutofit/>
          </a:bodyPr>
          <a:lstStyle/>
          <a:p>
            <a:pPr indent="0" marL="0">
              <a:buNone/>
            </a:pPr>
            <a:r>
              <a:rPr lang="en-US" sz="1000" b="1" dirty="0">
                <a:solidFill>
                  <a:srgbClr val="7EA9DF"/>
                </a:solidFill>
                <a:latin typeface="Inter" pitchFamily="34" charset="0"/>
                <a:ea typeface="Inter" pitchFamily="34" charset="-122"/>
                <a:cs typeface="Inter" pitchFamily="34" charset="-120"/>
              </a:rPr>
              <a:t>GET</a:t>
            </a:r>
            <a:endParaRPr lang="en-US" sz="1000" dirty="0"/>
          </a:p>
        </p:txBody>
      </p:sp>
      <p:sp>
        <p:nvSpPr>
          <p:cNvPr id="29" name="Text 27"/>
          <p:cNvSpPr/>
          <p:nvPr/>
        </p:nvSpPr>
        <p:spPr>
          <a:xfrm>
            <a:off x="1563624" y="4425696"/>
            <a:ext cx="5047488" cy="237744"/>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/quantlab/strategies/:id/versions</a:t>
            </a:r>
            <a:endParaRPr lang="en-US" sz="1200" dirty="0"/>
          </a:p>
        </p:txBody>
      </p:sp>
      <p:sp>
        <p:nvSpPr>
          <p:cNvPr id="30" name="Text 28"/>
          <p:cNvSpPr/>
          <p:nvPr/>
        </p:nvSpPr>
        <p:spPr>
          <a:xfrm>
            <a:off x="6748272" y="4416552"/>
            <a:ext cx="4498848" cy="27432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immutable versions</a:t>
            </a:r>
            <a:endParaRPr lang="en-US" sz="1100" dirty="0"/>
          </a:p>
        </p:txBody>
      </p:sp>
      <p:sp>
        <p:nvSpPr>
          <p:cNvPr id="31" name="Shape 29"/>
          <p:cNvSpPr/>
          <p:nvPr/>
        </p:nvSpPr>
        <p:spPr>
          <a:xfrm>
            <a:off x="676656" y="4855464"/>
            <a:ext cx="10917936" cy="448056"/>
          </a:xfrm>
          <a:prstGeom prst="roundRect">
            <a:avLst>
              <a:gd name="adj" fmla="val 28571"/>
            </a:avLst>
          </a:prstGeom>
          <a:solidFill>
            <a:srgbClr val="121A24"/>
          </a:solidFill>
          <a:ln w="8890">
            <a:solidFill>
              <a:srgbClr val="263442"/>
            </a:solidFill>
            <a:prstDash val="solid"/>
          </a:ln>
        </p:spPr>
      </p:sp>
      <p:sp>
        <p:nvSpPr>
          <p:cNvPr id="32" name="Text 30"/>
          <p:cNvSpPr/>
          <p:nvPr/>
        </p:nvSpPr>
        <p:spPr>
          <a:xfrm>
            <a:off x="896112" y="4965192"/>
            <a:ext cx="539496" cy="182880"/>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POST</a:t>
            </a:r>
            <a:endParaRPr lang="en-US" sz="1000" dirty="0"/>
          </a:p>
        </p:txBody>
      </p:sp>
      <p:sp>
        <p:nvSpPr>
          <p:cNvPr id="33" name="Text 31"/>
          <p:cNvSpPr/>
          <p:nvPr/>
        </p:nvSpPr>
        <p:spPr>
          <a:xfrm>
            <a:off x="1563624" y="4946904"/>
            <a:ext cx="5047488" cy="237744"/>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/quantlab/experiments/:id/validate</a:t>
            </a:r>
            <a:endParaRPr lang="en-US" sz="1200" dirty="0"/>
          </a:p>
        </p:txBody>
      </p:sp>
      <p:sp>
        <p:nvSpPr>
          <p:cNvPr id="34" name="Text 32"/>
          <p:cNvSpPr/>
          <p:nvPr/>
        </p:nvSpPr>
        <p:spPr>
          <a:xfrm>
            <a:off x="6748272" y="4937760"/>
            <a:ext cx="4498848" cy="27432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selected test suite</a:t>
            </a:r>
            <a:endParaRPr lang="en-US" sz="1100" dirty="0"/>
          </a:p>
        </p:txBody>
      </p:sp>
      <p:sp>
        <p:nvSpPr>
          <p:cNvPr id="35" name="Shape 33"/>
          <p:cNvSpPr/>
          <p:nvPr/>
        </p:nvSpPr>
        <p:spPr>
          <a:xfrm>
            <a:off x="676656" y="5376672"/>
            <a:ext cx="10917936" cy="448056"/>
          </a:xfrm>
          <a:prstGeom prst="roundRect">
            <a:avLst>
              <a:gd name="adj" fmla="val 28571"/>
            </a:avLst>
          </a:prstGeom>
          <a:solidFill>
            <a:srgbClr val="121A24"/>
          </a:solidFill>
          <a:ln w="8890">
            <a:solidFill>
              <a:srgbClr val="263442"/>
            </a:solidFill>
            <a:prstDash val="solid"/>
          </a:ln>
        </p:spPr>
      </p:sp>
      <p:sp>
        <p:nvSpPr>
          <p:cNvPr id="36" name="Text 34"/>
          <p:cNvSpPr/>
          <p:nvPr/>
        </p:nvSpPr>
        <p:spPr>
          <a:xfrm>
            <a:off x="896112" y="5486400"/>
            <a:ext cx="539496" cy="182880"/>
          </a:xfrm>
          <a:prstGeom prst="rect">
            <a:avLst/>
          </a:prstGeom>
          <a:noFill/>
          <a:ln/>
        </p:spPr>
        <p:txBody>
          <a:bodyPr wrap="square" lIns="0" tIns="0" rIns="0" bIns="0" rtlCol="0" anchor="ctr">
            <a:normAutofit/>
          </a:bodyPr>
          <a:lstStyle/>
          <a:p>
            <a:pPr indent="0" marL="0">
              <a:buNone/>
            </a:pPr>
            <a:r>
              <a:rPr lang="en-US" sz="1000" b="1" dirty="0">
                <a:solidFill>
                  <a:srgbClr val="69DDCF"/>
                </a:solidFill>
                <a:latin typeface="Inter" pitchFamily="34" charset="0"/>
                <a:ea typeface="Inter" pitchFamily="34" charset="-122"/>
                <a:cs typeface="Inter" pitchFamily="34" charset="-120"/>
              </a:rPr>
              <a:t>WS</a:t>
            </a:r>
            <a:endParaRPr lang="en-US" sz="1000" dirty="0"/>
          </a:p>
        </p:txBody>
      </p:sp>
      <p:sp>
        <p:nvSpPr>
          <p:cNvPr id="37" name="Text 35"/>
          <p:cNvSpPr/>
          <p:nvPr/>
        </p:nvSpPr>
        <p:spPr>
          <a:xfrm>
            <a:off x="1563624" y="5468112"/>
            <a:ext cx="5047488" cy="237744"/>
          </a:xfrm>
          <a:prstGeom prst="rect">
            <a:avLst/>
          </a:prstGeom>
          <a:noFill/>
          <a:ln/>
        </p:spPr>
        <p:txBody>
          <a:bodyPr wrap="square" lIns="0" tIns="0" rIns="0" bIns="0" rtlCol="0" anchor="ctr">
            <a:normAutofit/>
          </a:bodyPr>
          <a:lstStyle/>
          <a:p>
            <a:pPr indent="0" marL="0">
              <a:buNone/>
            </a:pPr>
            <a:r>
              <a:rPr lang="en-US" sz="1200" b="1" dirty="0">
                <a:solidFill>
                  <a:srgbClr val="EDF5F7"/>
                </a:solidFill>
                <a:latin typeface="Inter" pitchFamily="34" charset="0"/>
                <a:ea typeface="Inter" pitchFamily="34" charset="-122"/>
                <a:cs typeface="Inter" pitchFamily="34" charset="-120"/>
              </a:rPr>
              <a:t>/events</a:t>
            </a:r>
            <a:endParaRPr lang="en-US" sz="1200" dirty="0"/>
          </a:p>
        </p:txBody>
      </p:sp>
      <p:sp>
        <p:nvSpPr>
          <p:cNvPr id="38" name="Text 36"/>
          <p:cNvSpPr/>
          <p:nvPr/>
        </p:nvSpPr>
        <p:spPr>
          <a:xfrm>
            <a:off x="6748272" y="5458968"/>
            <a:ext cx="4498848" cy="274320"/>
          </a:xfrm>
          <a:prstGeom prst="rect">
            <a:avLst/>
          </a:prstGeom>
          <a:noFill/>
          <a:ln/>
        </p:spPr>
        <p:txBody>
          <a:bodyPr wrap="square" lIns="0" tIns="0" rIns="0" bIns="0" rtlCol="0" anchor="ctr">
            <a:normAutofit/>
          </a:bodyPr>
          <a:lstStyle/>
          <a:p>
            <a:pPr indent="0" marL="0">
              <a:buNone/>
            </a:pPr>
            <a:r>
              <a:rPr lang="en-US" sz="1100" dirty="0">
                <a:solidFill>
                  <a:srgbClr val="94A6B3"/>
                </a:solidFill>
                <a:latin typeface="Inter" pitchFamily="34" charset="0"/>
                <a:ea typeface="Inter" pitchFamily="34" charset="-122"/>
                <a:cs typeface="Inter" pitchFamily="34" charset="-120"/>
              </a:rPr>
              <a:t>progress + warnings + completion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JARVIS – concept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JARVIS QuantLab | Strategy Research Engine</dc:title>
  <dc:subject>JARVIS QuantLab – Produktkonzept und Entwicklungs-Blueprint</dc:subject>
  <dc:creator>OpenAI</dc:creator>
  <cp:lastModifiedBy>OpenAI</cp:lastModifiedBy>
  <cp:revision>1</cp:revision>
  <dcterms:created xsi:type="dcterms:W3CDTF">2026-10-09T19:48:22Z</dcterms:created>
  <dcterms:modified xsi:type="dcterms:W3CDTF">2026-10-09T19:48:22Z</dcterms:modified>
</cp:coreProperties>
</file>